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8FA6B5"/>
                </a:solidFill>
                <a:latin typeface="Montserrat" pitchFamily="34" charset="0"/>
                <a:ea typeface="Montserrat" pitchFamily="34" charset="-122"/>
                <a:cs typeface="Montserrat" pitchFamily="34" charset="-120"/>
              </a:rPr>
              <a:t>1</a:t>
            </a:r>
            <a:endParaRPr lang="en-US" sz="950" dirty="0"/>
          </a:p>
        </p:txBody>
      </p:sp>
      <p:sp>
        <p:nvSpPr>
          <p:cNvPr id="3" name="Shape 1"/>
          <p:cNvSpPr/>
          <p:nvPr/>
        </p:nvSpPr>
        <p:spPr>
          <a:xfrm>
            <a:off x="9509760" y="-1828800"/>
            <a:ext cx="5669280" cy="5669280"/>
          </a:xfrm>
          <a:prstGeom prst="ellipse">
            <a:avLst/>
          </a:prstGeom>
          <a:solidFill>
            <a:srgbClr val="1B3B57"/>
          </a:solidFill>
          <a:ln/>
        </p:spPr>
      </p:sp>
      <p:sp>
        <p:nvSpPr>
          <p:cNvPr id="4" name="Shape 2"/>
          <p:cNvSpPr/>
          <p:nvPr/>
        </p:nvSpPr>
        <p:spPr>
          <a:xfrm>
            <a:off x="10698480" y="3383280"/>
            <a:ext cx="4206240" cy="4206240"/>
          </a:xfrm>
          <a:prstGeom prst="ellipse">
            <a:avLst/>
          </a:prstGeom>
          <a:solidFill>
            <a:srgbClr val="15324B"/>
          </a:solidFill>
          <a:ln/>
        </p:spPr>
      </p:sp>
      <p:sp>
        <p:nvSpPr>
          <p:cNvPr id="5" name="Text 3"/>
          <p:cNvSpPr/>
          <p:nvPr/>
        </p:nvSpPr>
        <p:spPr>
          <a:xfrm>
            <a:off x="566928" y="1051560"/>
            <a:ext cx="7315200" cy="292608"/>
          </a:xfrm>
          <a:prstGeom prst="rect">
            <a:avLst/>
          </a:prstGeom>
          <a:noFill/>
          <a:ln/>
        </p:spPr>
        <p:txBody>
          <a:bodyPr wrap="square" lIns="0" tIns="0" rIns="0" bIns="0" rtlCol="0" anchor="ctr"/>
          <a:lstStyle/>
          <a:p>
            <a:pPr algn="l" indent="0" marL="0">
              <a:buNone/>
            </a:pPr>
            <a:r>
              <a:rPr lang="en-US" sz="1250" b="1" spc="300" kern="0" dirty="0">
                <a:solidFill>
                  <a:srgbClr val="2DB7C3"/>
                </a:solidFill>
                <a:latin typeface="Montserrat" pitchFamily="34" charset="0"/>
                <a:ea typeface="Montserrat" pitchFamily="34" charset="-122"/>
                <a:cs typeface="Montserrat" pitchFamily="34" charset="-120"/>
              </a:rPr>
              <a:t>INFRASURE  ·  RISK PLATFORM  ·  VULNERABILITY LAYER</a:t>
            </a:r>
            <a:endParaRPr lang="en-US" sz="1250" dirty="0"/>
          </a:p>
        </p:txBody>
      </p:sp>
      <p:sp>
        <p:nvSpPr>
          <p:cNvPr id="6" name="Text 4"/>
          <p:cNvSpPr/>
          <p:nvPr/>
        </p:nvSpPr>
        <p:spPr>
          <a:xfrm>
            <a:off x="566928" y="1554480"/>
            <a:ext cx="10058400" cy="1188720"/>
          </a:xfrm>
          <a:prstGeom prst="rect">
            <a:avLst/>
          </a:prstGeom>
          <a:noFill/>
          <a:ln/>
        </p:spPr>
        <p:txBody>
          <a:bodyPr wrap="square" lIns="0" tIns="0" rIns="0" bIns="0" rtlCol="0" anchor="ctr"/>
          <a:lstStyle/>
          <a:p>
            <a:pPr indent="0" marL="0">
              <a:buNone/>
            </a:pPr>
            <a:r>
              <a:rPr lang="en-US" sz="5800" b="1" dirty="0">
                <a:solidFill>
                  <a:srgbClr val="FFFFFF"/>
                </a:solidFill>
                <a:latin typeface="Montserrat" pitchFamily="34" charset="0"/>
                <a:ea typeface="Montserrat" pitchFamily="34" charset="-122"/>
                <a:cs typeface="Montserrat" pitchFamily="34" charset="-120"/>
              </a:rPr>
              <a:t>Damage Modeling</a:t>
            </a:r>
            <a:endParaRPr lang="en-US" sz="5800" dirty="0"/>
          </a:p>
        </p:txBody>
      </p:sp>
      <p:sp>
        <p:nvSpPr>
          <p:cNvPr id="7" name="Text 5"/>
          <p:cNvSpPr/>
          <p:nvPr/>
        </p:nvSpPr>
        <p:spPr>
          <a:xfrm>
            <a:off x="566928" y="2788920"/>
            <a:ext cx="10515600" cy="731520"/>
          </a:xfrm>
          <a:prstGeom prst="rect">
            <a:avLst/>
          </a:prstGeom>
          <a:noFill/>
          <a:ln/>
        </p:spPr>
        <p:txBody>
          <a:bodyPr wrap="square" lIns="0" tIns="0" rIns="0" bIns="0" rtlCol="0" anchor="ctr"/>
          <a:lstStyle/>
          <a:p>
            <a:pPr indent="0" marL="0">
              <a:buNone/>
            </a:pPr>
            <a:r>
              <a:rPr lang="en-US" sz="2700" b="1" dirty="0">
                <a:solidFill>
                  <a:srgbClr val="2DB7C3"/>
                </a:solidFill>
                <a:latin typeface="Montserrat" pitchFamily="34" charset="0"/>
                <a:ea typeface="Montserrat" pitchFamily="34" charset="-122"/>
                <a:cs typeface="Montserrat" pitchFamily="34" charset="-120"/>
              </a:rPr>
              <a:t>From hazard intensity to a damage ratio</a:t>
            </a:r>
            <a:endParaRPr lang="en-US" sz="2700" dirty="0"/>
          </a:p>
        </p:txBody>
      </p:sp>
      <p:sp>
        <p:nvSpPr>
          <p:cNvPr id="8" name="Text 6"/>
          <p:cNvSpPr/>
          <p:nvPr/>
        </p:nvSpPr>
        <p:spPr>
          <a:xfrm>
            <a:off x="566928" y="3657600"/>
            <a:ext cx="8869680" cy="1005840"/>
          </a:xfrm>
          <a:prstGeom prst="rect">
            <a:avLst/>
          </a:prstGeom>
          <a:noFill/>
          <a:ln/>
        </p:spPr>
        <p:txBody>
          <a:bodyPr wrap="square" lIns="0" tIns="0" rIns="0" bIns="0" rtlCol="0" anchor="ctr"/>
          <a:lstStyle/>
          <a:p>
            <a:pPr indent="0" marL="0">
              <a:lnSpc>
                <a:spcPct val="118000"/>
              </a:lnSpc>
              <a:buNone/>
            </a:pPr>
            <a:r>
              <a:rPr lang="en-US" sz="1550" dirty="0">
                <a:solidFill>
                  <a:srgbClr val="C7D6E0"/>
                </a:solidFill>
                <a:latin typeface="Montserrat" pitchFamily="34" charset="0"/>
                <a:ea typeface="Montserrat" pitchFamily="34" charset="-122"/>
                <a:cs typeface="Montserrat" pitchFamily="34" charset="-120"/>
              </a:rPr>
              <a:t>A from-the-basics walkthrough of the curve layer: what it is, why it earns its own home, the seven-stage build pipeline, and how it plugs cleanly into hazard modeling.</a:t>
            </a:r>
            <a:endParaRPr lang="en-US" sz="1550" dirty="0"/>
          </a:p>
        </p:txBody>
      </p:sp>
      <p:sp>
        <p:nvSpPr>
          <p:cNvPr id="9" name="Shape 7"/>
          <p:cNvSpPr/>
          <p:nvPr/>
        </p:nvSpPr>
        <p:spPr>
          <a:xfrm>
            <a:off x="566928" y="5074920"/>
            <a:ext cx="1488643" cy="420624"/>
          </a:xfrm>
          <a:prstGeom prst="roundRect">
            <a:avLst>
              <a:gd name="adj" fmla="val 50000"/>
            </a:avLst>
          </a:prstGeom>
          <a:solidFill>
            <a:srgbClr val="15324B"/>
          </a:solidFill>
          <a:ln w="12700">
            <a:solidFill>
              <a:srgbClr val="14919B"/>
            </a:solidFill>
            <a:prstDash val="solid"/>
          </a:ln>
        </p:spPr>
      </p:sp>
      <p:sp>
        <p:nvSpPr>
          <p:cNvPr id="10" name="Text 8"/>
          <p:cNvSpPr/>
          <p:nvPr/>
        </p:nvSpPr>
        <p:spPr>
          <a:xfrm>
            <a:off x="566928" y="5074920"/>
            <a:ext cx="1488643" cy="420624"/>
          </a:xfrm>
          <a:prstGeom prst="rect">
            <a:avLst/>
          </a:prstGeom>
          <a:noFill/>
          <a:ln/>
        </p:spPr>
        <p:txBody>
          <a:bodyPr wrap="square" lIns="0" tIns="0" rIns="0" bIns="0" rtlCol="0" anchor="ctr"/>
          <a:lstStyle/>
          <a:p>
            <a:pPr algn="ctr" indent="0" marL="0">
              <a:buNone/>
            </a:pPr>
            <a:r>
              <a:rPr lang="en-US" sz="1200" dirty="0">
                <a:solidFill>
                  <a:srgbClr val="D7EEF1"/>
                </a:solidFill>
                <a:latin typeface="Montserrat" pitchFamily="34" charset="0"/>
                <a:ea typeface="Montserrat" pitchFamily="34" charset="-122"/>
                <a:cs typeface="Montserrat" pitchFamily="34" charset="-120"/>
              </a:rPr>
              <a:t>intensity → DR</a:t>
            </a:r>
            <a:endParaRPr lang="en-US" sz="1200" dirty="0"/>
          </a:p>
        </p:txBody>
      </p:sp>
      <p:sp>
        <p:nvSpPr>
          <p:cNvPr id="11" name="Shape 9"/>
          <p:cNvSpPr/>
          <p:nvPr/>
        </p:nvSpPr>
        <p:spPr>
          <a:xfrm>
            <a:off x="2256739" y="5074920"/>
            <a:ext cx="1656893" cy="420624"/>
          </a:xfrm>
          <a:prstGeom prst="roundRect">
            <a:avLst>
              <a:gd name="adj" fmla="val 50000"/>
            </a:avLst>
          </a:prstGeom>
          <a:solidFill>
            <a:srgbClr val="15324B"/>
          </a:solidFill>
          <a:ln w="12700">
            <a:solidFill>
              <a:srgbClr val="14919B"/>
            </a:solidFill>
            <a:prstDash val="solid"/>
          </a:ln>
        </p:spPr>
      </p:sp>
      <p:sp>
        <p:nvSpPr>
          <p:cNvPr id="12" name="Text 10"/>
          <p:cNvSpPr/>
          <p:nvPr/>
        </p:nvSpPr>
        <p:spPr>
          <a:xfrm>
            <a:off x="2256739" y="5074920"/>
            <a:ext cx="1656893" cy="420624"/>
          </a:xfrm>
          <a:prstGeom prst="rect">
            <a:avLst/>
          </a:prstGeom>
          <a:noFill/>
          <a:ln/>
        </p:spPr>
        <p:txBody>
          <a:bodyPr wrap="square" lIns="0" tIns="0" rIns="0" bIns="0" rtlCol="0" anchor="ctr"/>
          <a:lstStyle/>
          <a:p>
            <a:pPr algn="ctr" indent="0" marL="0">
              <a:buNone/>
            </a:pPr>
            <a:r>
              <a:rPr lang="en-US" sz="1200" dirty="0">
                <a:solidFill>
                  <a:srgbClr val="D7EEF1"/>
                </a:solidFill>
                <a:latin typeface="Montserrat" pitchFamily="34" charset="0"/>
                <a:ea typeface="Montserrat" pitchFamily="34" charset="-122"/>
                <a:cs typeface="Montserrat" pitchFamily="34" charset="-120"/>
              </a:rPr>
              <a:t>per failure-unit</a:t>
            </a:r>
            <a:endParaRPr lang="en-US" sz="1200" dirty="0"/>
          </a:p>
        </p:txBody>
      </p:sp>
      <p:sp>
        <p:nvSpPr>
          <p:cNvPr id="13" name="Shape 11"/>
          <p:cNvSpPr/>
          <p:nvPr/>
        </p:nvSpPr>
        <p:spPr>
          <a:xfrm>
            <a:off x="4114800" y="5074920"/>
            <a:ext cx="1825142" cy="420624"/>
          </a:xfrm>
          <a:prstGeom prst="roundRect">
            <a:avLst>
              <a:gd name="adj" fmla="val 50000"/>
            </a:avLst>
          </a:prstGeom>
          <a:solidFill>
            <a:srgbClr val="15324B"/>
          </a:solidFill>
          <a:ln w="12700">
            <a:solidFill>
              <a:srgbClr val="14919B"/>
            </a:solidFill>
            <a:prstDash val="solid"/>
          </a:ln>
        </p:spPr>
      </p:sp>
      <p:sp>
        <p:nvSpPr>
          <p:cNvPr id="14" name="Text 12"/>
          <p:cNvSpPr/>
          <p:nvPr/>
        </p:nvSpPr>
        <p:spPr>
          <a:xfrm>
            <a:off x="4114800" y="5074920"/>
            <a:ext cx="1825142" cy="420624"/>
          </a:xfrm>
          <a:prstGeom prst="rect">
            <a:avLst/>
          </a:prstGeom>
          <a:noFill/>
          <a:ln/>
        </p:spPr>
        <p:txBody>
          <a:bodyPr wrap="square" lIns="0" tIns="0" rIns="0" bIns="0" rtlCol="0" anchor="ctr"/>
          <a:lstStyle/>
          <a:p>
            <a:pPr algn="ctr" indent="0" marL="0">
              <a:buNone/>
            </a:pPr>
            <a:r>
              <a:rPr lang="en-US" sz="1200" dirty="0">
                <a:solidFill>
                  <a:srgbClr val="D7EEF1"/>
                </a:solidFill>
                <a:latin typeface="Montserrat" pitchFamily="34" charset="0"/>
                <a:ea typeface="Montserrat" pitchFamily="34" charset="-122"/>
                <a:cs typeface="Montserrat" pitchFamily="34" charset="-120"/>
              </a:rPr>
              <a:t>provenance-carried</a:t>
            </a:r>
            <a:endParaRPr lang="en-US" sz="1200" dirty="0"/>
          </a:p>
        </p:txBody>
      </p:sp>
      <p:sp>
        <p:nvSpPr>
          <p:cNvPr id="15" name="Shape 13"/>
          <p:cNvSpPr/>
          <p:nvPr/>
        </p:nvSpPr>
        <p:spPr>
          <a:xfrm>
            <a:off x="6141110" y="5074920"/>
            <a:ext cx="1825142" cy="420624"/>
          </a:xfrm>
          <a:prstGeom prst="roundRect">
            <a:avLst>
              <a:gd name="adj" fmla="val 50000"/>
            </a:avLst>
          </a:prstGeom>
          <a:solidFill>
            <a:srgbClr val="15324B"/>
          </a:solidFill>
          <a:ln w="12700">
            <a:solidFill>
              <a:srgbClr val="14919B"/>
            </a:solidFill>
            <a:prstDash val="solid"/>
          </a:ln>
        </p:spPr>
      </p:sp>
      <p:sp>
        <p:nvSpPr>
          <p:cNvPr id="16" name="Text 14"/>
          <p:cNvSpPr/>
          <p:nvPr/>
        </p:nvSpPr>
        <p:spPr>
          <a:xfrm>
            <a:off x="6141110" y="5074920"/>
            <a:ext cx="1825142" cy="420624"/>
          </a:xfrm>
          <a:prstGeom prst="rect">
            <a:avLst/>
          </a:prstGeom>
          <a:noFill/>
          <a:ln/>
        </p:spPr>
        <p:txBody>
          <a:bodyPr wrap="square" lIns="0" tIns="0" rIns="0" bIns="0" rtlCol="0" anchor="ctr"/>
          <a:lstStyle/>
          <a:p>
            <a:pPr algn="ctr" indent="0" marL="0">
              <a:buNone/>
            </a:pPr>
            <a:r>
              <a:rPr lang="en-US" sz="1200" dirty="0">
                <a:solidFill>
                  <a:srgbClr val="D7EEF1"/>
                </a:solidFill>
                <a:latin typeface="Montserrat" pitchFamily="34" charset="0"/>
                <a:ea typeface="Montserrat" pitchFamily="34" charset="-122"/>
                <a:cs typeface="Montserrat" pitchFamily="34" charset="-120"/>
              </a:rPr>
              <a:t>versioned contract</a:t>
            </a:r>
            <a:endParaRPr lang="en-US" sz="1200" dirty="0"/>
          </a:p>
        </p:txBody>
      </p:sp>
      <p:sp>
        <p:nvSpPr>
          <p:cNvPr id="17" name="Text 15"/>
          <p:cNvSpPr/>
          <p:nvPr/>
        </p:nvSpPr>
        <p:spPr>
          <a:xfrm>
            <a:off x="566928" y="6172200"/>
            <a:ext cx="5486400" cy="274320"/>
          </a:xfrm>
          <a:prstGeom prst="rect">
            <a:avLst/>
          </a:prstGeom>
          <a:noFill/>
          <a:ln/>
        </p:spPr>
        <p:txBody>
          <a:bodyPr wrap="square" lIns="0" tIns="0" rIns="0" bIns="0" rtlCol="0" anchor="ctr"/>
          <a:lstStyle/>
          <a:p>
            <a:pPr indent="0" marL="0">
              <a:buNone/>
            </a:pPr>
            <a:r>
              <a:rPr lang="en-US" sz="1100" dirty="0">
                <a:solidFill>
                  <a:srgbClr val="8FA6B5"/>
                </a:solidFill>
                <a:latin typeface="Montserrat" pitchFamily="34" charset="0"/>
                <a:ea typeface="Montserrat" pitchFamily="34" charset="-122"/>
                <a:cs typeface="Montserrat" pitchFamily="34" charset="-120"/>
              </a:rPr>
              <a:t>Internal — modeling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2</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14919B"/>
                </a:solidFill>
                <a:latin typeface="Montserrat" pitchFamily="34" charset="0"/>
                <a:ea typeface="Montserrat" pitchFamily="34" charset="-122"/>
                <a:cs typeface="Montserrat" pitchFamily="34" charset="-120"/>
              </a:rPr>
              <a:t>THE ONE JOB</a:t>
            </a:r>
            <a:endParaRPr lang="en-US" sz="1250" dirty="0"/>
          </a:p>
        </p:txBody>
      </p:sp>
      <p:sp>
        <p:nvSpPr>
          <p:cNvPr id="4" name="Text 2"/>
          <p:cNvSpPr/>
          <p:nvPr/>
        </p:nvSpPr>
        <p:spPr>
          <a:xfrm>
            <a:off x="566928" y="786384"/>
            <a:ext cx="10972800" cy="914400"/>
          </a:xfrm>
          <a:prstGeom prst="rect">
            <a:avLst/>
          </a:prstGeom>
          <a:noFill/>
          <a:ln/>
        </p:spPr>
        <p:txBody>
          <a:bodyPr wrap="square" lIns="0" tIns="0" rIns="0" bIns="0" rtlCol="0" anchor="t"/>
          <a:lstStyle/>
          <a:p>
            <a:pPr algn="l" indent="0" marL="0">
              <a:lnSpc>
                <a:spcPct val="98000"/>
              </a:lnSpc>
              <a:buNone/>
            </a:pPr>
            <a:r>
              <a:rPr lang="en-US" sz="3000" b="1" dirty="0">
                <a:solidFill>
                  <a:srgbClr val="0F2A43"/>
                </a:solidFill>
                <a:latin typeface="Montserrat" pitchFamily="34" charset="0"/>
                <a:ea typeface="Montserrat" pitchFamily="34" charset="-122"/>
                <a:cs typeface="Montserrat" pitchFamily="34" charset="-120"/>
              </a:rPr>
              <a:t>Turn a hazard intensity into a damage ratio</a:t>
            </a:r>
            <a:endParaRPr lang="en-US" sz="3000" dirty="0"/>
          </a:p>
        </p:txBody>
      </p:sp>
      <p:sp>
        <p:nvSpPr>
          <p:cNvPr id="5" name="Shape 3"/>
          <p:cNvSpPr/>
          <p:nvPr/>
        </p:nvSpPr>
        <p:spPr>
          <a:xfrm>
            <a:off x="566928" y="1874520"/>
            <a:ext cx="11064240" cy="1417320"/>
          </a:xfrm>
          <a:prstGeom prst="roundRect">
            <a:avLst>
              <a:gd name="adj" fmla="val 5806"/>
            </a:avLst>
          </a:prstGeom>
          <a:solidFill>
            <a:srgbClr val="0F2A43"/>
          </a:solidFill>
          <a:ln w="12700">
            <a:solidFill>
              <a:srgbClr val="0F2A43"/>
            </a:solidFill>
            <a:prstDash val="solid"/>
          </a:ln>
          <a:effectLst>
            <a:outerShdw sx="100000" sy="100000" kx="0" ky="0" algn="bl" rotWithShape="0" blurRad="114300" dist="38100" dir="5400000">
              <a:srgbClr val="0F2A43">
                <a:alpha val="13000"/>
              </a:srgbClr>
            </a:outerShdw>
          </a:effectLst>
        </p:spPr>
      </p:sp>
      <p:sp>
        <p:nvSpPr>
          <p:cNvPr id="6" name="Text 4"/>
          <p:cNvSpPr/>
          <p:nvPr/>
        </p:nvSpPr>
        <p:spPr>
          <a:xfrm>
            <a:off x="841248" y="1874520"/>
            <a:ext cx="10515600" cy="868680"/>
          </a:xfrm>
          <a:prstGeom prst="rect">
            <a:avLst/>
          </a:prstGeom>
          <a:noFill/>
          <a:ln/>
        </p:spPr>
        <p:txBody>
          <a:bodyPr wrap="square" lIns="0" tIns="0" rIns="0" bIns="0" rtlCol="0" anchor="ctr"/>
          <a:lstStyle/>
          <a:p>
            <a:pPr algn="ctr" indent="0" marL="0">
              <a:buNone/>
            </a:pPr>
            <a:r>
              <a:rPr lang="en-US" sz="2100" b="1" dirty="0">
                <a:solidFill>
                  <a:srgbClr val="D7EEF1"/>
                </a:solidFill>
                <a:latin typeface="Montserrat" pitchFamily="34" charset="0"/>
                <a:ea typeface="Montserrat" pitchFamily="34" charset="-122"/>
                <a:cs typeface="Montserrat" pitchFamily="34" charset="-120"/>
              </a:rPr>
              <a:t>intensity </a:t>
            </a:r>
            <a:pPr algn="ctr" indent="0" marL="0">
              <a:buNone/>
            </a:pPr>
            <a:r>
              <a:rPr lang="en-US" sz="2100" dirty="0">
                <a:solidFill>
                  <a:srgbClr val="8FA6B5"/>
                </a:solidFill>
                <a:latin typeface="Montserrat" pitchFamily="34" charset="0"/>
                <a:ea typeface="Montserrat" pitchFamily="34" charset="-122"/>
                <a:cs typeface="Montserrat" pitchFamily="34" charset="-120"/>
              </a:rPr>
              <a:t> x </a:t>
            </a:r>
            <a:pPr algn="ctr" indent="0" marL="0">
              <a:buNone/>
            </a:pPr>
            <a:r>
              <a:rPr lang="en-US" sz="2100" dirty="0">
                <a:solidFill>
                  <a:srgbClr val="C7D6E0"/>
                </a:solidFill>
                <a:latin typeface="Montserrat" pitchFamily="34" charset="0"/>
                <a:ea typeface="Montserrat" pitchFamily="34" charset="-122"/>
                <a:cs typeface="Montserrat" pitchFamily="34" charset="-120"/>
              </a:rPr>
              <a:t> the asset's vulnerability </a:t>
            </a:r>
            <a:pPr algn="ctr" indent="0" marL="0">
              <a:buNone/>
            </a:pPr>
            <a:r>
              <a:rPr lang="en-US" sz="2100" b="1" dirty="0">
                <a:solidFill>
                  <a:srgbClr val="E0A458"/>
                </a:solidFill>
                <a:latin typeface="Montserrat" pitchFamily="34" charset="0"/>
                <a:ea typeface="Montserrat" pitchFamily="34" charset="-122"/>
                <a:cs typeface="Montserrat" pitchFamily="34" charset="-120"/>
              </a:rPr>
              <a:t>  →  </a:t>
            </a:r>
            <a:pPr algn="ctr" indent="0" marL="0">
              <a:buNone/>
            </a:pPr>
            <a:r>
              <a:rPr lang="en-US" sz="2100" b="1" dirty="0">
                <a:solidFill>
                  <a:srgbClr val="FFFFFF"/>
                </a:solidFill>
                <a:latin typeface="Montserrat" pitchFamily="34" charset="0"/>
                <a:ea typeface="Montserrat" pitchFamily="34" charset="-122"/>
                <a:cs typeface="Montserrat" pitchFamily="34" charset="-120"/>
              </a:rPr>
              <a:t>damage ratio  DR ∈ [0, 1]</a:t>
            </a:r>
            <a:endParaRPr lang="en-US" sz="2100" dirty="0"/>
          </a:p>
        </p:txBody>
      </p:sp>
      <p:sp>
        <p:nvSpPr>
          <p:cNvPr id="7" name="Text 5"/>
          <p:cNvSpPr/>
          <p:nvPr/>
        </p:nvSpPr>
        <p:spPr>
          <a:xfrm>
            <a:off x="841248" y="2697480"/>
            <a:ext cx="10515600" cy="457200"/>
          </a:xfrm>
          <a:prstGeom prst="rect">
            <a:avLst/>
          </a:prstGeom>
          <a:noFill/>
          <a:ln/>
        </p:spPr>
        <p:txBody>
          <a:bodyPr wrap="square" lIns="0" tIns="0" rIns="0" bIns="0" rtlCol="0" anchor="ctr"/>
          <a:lstStyle/>
          <a:p>
            <a:pPr algn="ctr" indent="0" marL="0">
              <a:buNone/>
            </a:pPr>
            <a:r>
              <a:rPr lang="en-US" sz="1300" i="1" dirty="0">
                <a:solidFill>
                  <a:srgbClr val="D7EEF1"/>
                </a:solidFill>
                <a:latin typeface="Consolas" pitchFamily="34" charset="0"/>
                <a:ea typeface="Consolas" pitchFamily="34" charset="-122"/>
                <a:cs typeface="Consolas" pitchFamily="34" charset="-120"/>
              </a:rPr>
              <a:t>DR = repair cost ÷ replacement value   —   physical destruction only, per thing-that-fails.</a:t>
            </a:r>
            <a:endParaRPr lang="en-US" sz="1300" dirty="0"/>
          </a:p>
        </p:txBody>
      </p:sp>
      <p:sp>
        <p:nvSpPr>
          <p:cNvPr id="8" name="Shape 6"/>
          <p:cNvSpPr/>
          <p:nvPr/>
        </p:nvSpPr>
        <p:spPr>
          <a:xfrm>
            <a:off x="566928" y="3611880"/>
            <a:ext cx="3529584" cy="2240280"/>
          </a:xfrm>
          <a:prstGeom prst="roundRect">
            <a:avLst>
              <a:gd name="adj" fmla="val 3673"/>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9" name="Shape 7"/>
          <p:cNvSpPr/>
          <p:nvPr/>
        </p:nvSpPr>
        <p:spPr>
          <a:xfrm>
            <a:off x="859536" y="3895344"/>
            <a:ext cx="365760" cy="54864"/>
          </a:xfrm>
          <a:prstGeom prst="rect">
            <a:avLst/>
          </a:prstGeom>
          <a:solidFill>
            <a:srgbClr val="14919B"/>
          </a:solidFill>
          <a:ln/>
        </p:spPr>
      </p:sp>
      <p:sp>
        <p:nvSpPr>
          <p:cNvPr id="10" name="Text 8"/>
          <p:cNvSpPr/>
          <p:nvPr/>
        </p:nvSpPr>
        <p:spPr>
          <a:xfrm>
            <a:off x="841248" y="4041648"/>
            <a:ext cx="2980944" cy="457200"/>
          </a:xfrm>
          <a:prstGeom prst="rect">
            <a:avLst/>
          </a:prstGeom>
          <a:noFill/>
          <a:ln/>
        </p:spPr>
        <p:txBody>
          <a:bodyPr wrap="square" lIns="0" tIns="0" rIns="0" bIns="0" rtlCol="0" anchor="ctr"/>
          <a:lstStyle/>
          <a:p>
            <a:pPr indent="0" marL="0">
              <a:buNone/>
            </a:pPr>
            <a:r>
              <a:rPr lang="en-US" sz="1600" b="1" dirty="0">
                <a:solidFill>
                  <a:srgbClr val="0F2A43"/>
                </a:solidFill>
                <a:latin typeface="Montserrat" pitchFamily="34" charset="0"/>
                <a:ea typeface="Montserrat" pitchFamily="34" charset="-122"/>
                <a:cs typeface="Montserrat" pitchFamily="34" charset="-120"/>
              </a:rPr>
              <a:t>What it is NOT</a:t>
            </a:r>
            <a:endParaRPr lang="en-US" sz="1600" dirty="0"/>
          </a:p>
        </p:txBody>
      </p:sp>
      <p:sp>
        <p:nvSpPr>
          <p:cNvPr id="11" name="Text 9"/>
          <p:cNvSpPr/>
          <p:nvPr/>
        </p:nvSpPr>
        <p:spPr>
          <a:xfrm>
            <a:off x="841248" y="4526280"/>
            <a:ext cx="2980944" cy="1234440"/>
          </a:xfrm>
          <a:prstGeom prst="rect">
            <a:avLst/>
          </a:prstGeom>
          <a:noFill/>
          <a:ln/>
        </p:spPr>
        <p:txBody>
          <a:bodyPr wrap="square" lIns="0" tIns="0" rIns="0" bIns="0" rtlCol="0" anchor="ctr"/>
          <a:lstStyle/>
          <a:p>
            <a:pPr indent="0" marL="0">
              <a:lnSpc>
                <a:spcPct val="118000"/>
              </a:lnSpc>
              <a:buNone/>
            </a:pPr>
            <a:r>
              <a:rPr lang="en-US" sz="1250" dirty="0">
                <a:solidFill>
                  <a:srgbClr val="1B2733"/>
                </a:solidFill>
                <a:latin typeface="Montserrat" pitchFamily="34" charset="0"/>
                <a:ea typeface="Montserrat" pitchFamily="34" charset="-122"/>
                <a:cs typeface="Montserrat" pitchFamily="34" charset="-120"/>
              </a:rPr>
              <a:t>A whole-plant guess, a single literature curve, or a chart in a slide. It is a parameterized, callable function with a contract.</a:t>
            </a:r>
            <a:endParaRPr lang="en-US" sz="1250" dirty="0"/>
          </a:p>
        </p:txBody>
      </p:sp>
      <p:sp>
        <p:nvSpPr>
          <p:cNvPr id="12" name="Shape 10"/>
          <p:cNvSpPr/>
          <p:nvPr/>
        </p:nvSpPr>
        <p:spPr>
          <a:xfrm>
            <a:off x="4334256" y="3611880"/>
            <a:ext cx="3529584" cy="2240280"/>
          </a:xfrm>
          <a:prstGeom prst="roundRect">
            <a:avLst>
              <a:gd name="adj" fmla="val 3673"/>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13" name="Shape 11"/>
          <p:cNvSpPr/>
          <p:nvPr/>
        </p:nvSpPr>
        <p:spPr>
          <a:xfrm>
            <a:off x="4626864" y="3895344"/>
            <a:ext cx="365760" cy="54864"/>
          </a:xfrm>
          <a:prstGeom prst="rect">
            <a:avLst/>
          </a:prstGeom>
          <a:solidFill>
            <a:srgbClr val="14919B"/>
          </a:solidFill>
          <a:ln/>
        </p:spPr>
      </p:sp>
      <p:sp>
        <p:nvSpPr>
          <p:cNvPr id="14" name="Text 12"/>
          <p:cNvSpPr/>
          <p:nvPr/>
        </p:nvSpPr>
        <p:spPr>
          <a:xfrm>
            <a:off x="4608576" y="4041648"/>
            <a:ext cx="2980944" cy="457200"/>
          </a:xfrm>
          <a:prstGeom prst="rect">
            <a:avLst/>
          </a:prstGeom>
          <a:noFill/>
          <a:ln/>
        </p:spPr>
        <p:txBody>
          <a:bodyPr wrap="square" lIns="0" tIns="0" rIns="0" bIns="0" rtlCol="0" anchor="ctr"/>
          <a:lstStyle/>
          <a:p>
            <a:pPr indent="0" marL="0">
              <a:buNone/>
            </a:pPr>
            <a:r>
              <a:rPr lang="en-US" sz="1600" b="1" dirty="0">
                <a:solidFill>
                  <a:srgbClr val="0F2A43"/>
                </a:solidFill>
                <a:latin typeface="Montserrat" pitchFamily="34" charset="0"/>
                <a:ea typeface="Montserrat" pitchFamily="34" charset="-122"/>
                <a:cs typeface="Montserrat" pitchFamily="34" charset="-120"/>
              </a:rPr>
              <a:t>What rides with it</a:t>
            </a:r>
            <a:endParaRPr lang="en-US" sz="1600" dirty="0"/>
          </a:p>
        </p:txBody>
      </p:sp>
      <p:sp>
        <p:nvSpPr>
          <p:cNvPr id="15" name="Text 13"/>
          <p:cNvSpPr/>
          <p:nvPr/>
        </p:nvSpPr>
        <p:spPr>
          <a:xfrm>
            <a:off x="4608576" y="4526280"/>
            <a:ext cx="2980944" cy="1234440"/>
          </a:xfrm>
          <a:prstGeom prst="rect">
            <a:avLst/>
          </a:prstGeom>
          <a:noFill/>
          <a:ln/>
        </p:spPr>
        <p:txBody>
          <a:bodyPr wrap="square" lIns="0" tIns="0" rIns="0" bIns="0" rtlCol="0" anchor="ctr"/>
          <a:lstStyle/>
          <a:p>
            <a:pPr indent="0" marL="0">
              <a:lnSpc>
                <a:spcPct val="118000"/>
              </a:lnSpc>
              <a:buNone/>
            </a:pPr>
            <a:r>
              <a:rPr lang="en-US" sz="1250" dirty="0">
                <a:solidFill>
                  <a:srgbClr val="1B2733"/>
                </a:solidFill>
                <a:latin typeface="Montserrat" pitchFamily="34" charset="0"/>
                <a:ea typeface="Montserrat" pitchFamily="34" charset="-122"/>
                <a:cs typeface="Montserrat" pitchFamily="34" charset="-120"/>
              </a:rPr>
              <a:t>Every parameter maps to a source or a named assumption. Provenance is the deliverable, not an afterthought.</a:t>
            </a:r>
            <a:endParaRPr lang="en-US" sz="1250" dirty="0"/>
          </a:p>
        </p:txBody>
      </p:sp>
      <p:sp>
        <p:nvSpPr>
          <p:cNvPr id="16" name="Shape 14"/>
          <p:cNvSpPr/>
          <p:nvPr/>
        </p:nvSpPr>
        <p:spPr>
          <a:xfrm>
            <a:off x="8101584" y="3611880"/>
            <a:ext cx="3529584" cy="2240280"/>
          </a:xfrm>
          <a:prstGeom prst="roundRect">
            <a:avLst>
              <a:gd name="adj" fmla="val 3673"/>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17" name="Shape 15"/>
          <p:cNvSpPr/>
          <p:nvPr/>
        </p:nvSpPr>
        <p:spPr>
          <a:xfrm>
            <a:off x="8394192" y="3895344"/>
            <a:ext cx="365760" cy="54864"/>
          </a:xfrm>
          <a:prstGeom prst="rect">
            <a:avLst/>
          </a:prstGeom>
          <a:solidFill>
            <a:srgbClr val="14919B"/>
          </a:solidFill>
          <a:ln/>
        </p:spPr>
      </p:sp>
      <p:sp>
        <p:nvSpPr>
          <p:cNvPr id="18" name="Text 16"/>
          <p:cNvSpPr/>
          <p:nvPr/>
        </p:nvSpPr>
        <p:spPr>
          <a:xfrm>
            <a:off x="8375904" y="4041648"/>
            <a:ext cx="2980944" cy="457200"/>
          </a:xfrm>
          <a:prstGeom prst="rect">
            <a:avLst/>
          </a:prstGeom>
          <a:noFill/>
          <a:ln/>
        </p:spPr>
        <p:txBody>
          <a:bodyPr wrap="square" lIns="0" tIns="0" rIns="0" bIns="0" rtlCol="0" anchor="ctr"/>
          <a:lstStyle/>
          <a:p>
            <a:pPr indent="0" marL="0">
              <a:buNone/>
            </a:pPr>
            <a:r>
              <a:rPr lang="en-US" sz="1600" b="1" dirty="0">
                <a:solidFill>
                  <a:srgbClr val="0F2A43"/>
                </a:solidFill>
                <a:latin typeface="Montserrat" pitchFamily="34" charset="0"/>
                <a:ea typeface="Montserrat" pitchFamily="34" charset="-122"/>
                <a:cs typeface="Montserrat" pitchFamily="34" charset="-120"/>
              </a:rPr>
              <a:t>Where it stops</a:t>
            </a:r>
            <a:endParaRPr lang="en-US" sz="1600" dirty="0"/>
          </a:p>
        </p:txBody>
      </p:sp>
      <p:sp>
        <p:nvSpPr>
          <p:cNvPr id="19" name="Text 17"/>
          <p:cNvSpPr/>
          <p:nvPr/>
        </p:nvSpPr>
        <p:spPr>
          <a:xfrm>
            <a:off x="8375904" y="4526280"/>
            <a:ext cx="2980944" cy="1234440"/>
          </a:xfrm>
          <a:prstGeom prst="rect">
            <a:avLst/>
          </a:prstGeom>
          <a:noFill/>
          <a:ln/>
        </p:spPr>
        <p:txBody>
          <a:bodyPr wrap="square" lIns="0" tIns="0" rIns="0" bIns="0" rtlCol="0" anchor="ctr"/>
          <a:lstStyle/>
          <a:p>
            <a:pPr indent="0" marL="0">
              <a:lnSpc>
                <a:spcPct val="118000"/>
              </a:lnSpc>
              <a:buNone/>
            </a:pPr>
            <a:r>
              <a:rPr lang="en-US" sz="1250" dirty="0">
                <a:solidFill>
                  <a:srgbClr val="1B2733"/>
                </a:solidFill>
                <a:latin typeface="Montserrat" pitchFamily="34" charset="0"/>
                <a:ea typeface="Montserrat" pitchFamily="34" charset="-122"/>
                <a:cs typeface="Montserrat" pitchFamily="34" charset="-120"/>
              </a:rPr>
              <a:t>It emits a DR (and a capability declaration). It does not compute EAL, PML, or portfolio loss — that is the consumer's job.</a:t>
            </a:r>
            <a:endParaRPr lang="en-US" sz="1250" dirty="0"/>
          </a:p>
        </p:txBody>
      </p:sp>
      <p:sp>
        <p:nvSpPr>
          <p:cNvPr id="20" name="Text 18"/>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21" name="Text 19"/>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docs/damage_curves/SCOPE_AND_STORY.md §1, §5 · AGENTS.md</a:t>
            </a:r>
            <a:endParaRPr lang="en-US" sz="7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3</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14919B"/>
                </a:solidFill>
                <a:latin typeface="Montserrat" pitchFamily="34" charset="0"/>
                <a:ea typeface="Montserrat" pitchFamily="34" charset="-122"/>
                <a:cs typeface="Montserrat" pitchFamily="34" charset="-120"/>
              </a:rPr>
              <a:t>WHERE IT SITS IN THE PLATFORM</a:t>
            </a:r>
            <a:endParaRPr lang="en-US" sz="1250" dirty="0"/>
          </a:p>
        </p:txBody>
      </p:sp>
      <p:sp>
        <p:nvSpPr>
          <p:cNvPr id="4" name="Text 2"/>
          <p:cNvSpPr/>
          <p:nvPr/>
        </p:nvSpPr>
        <p:spPr>
          <a:xfrm>
            <a:off x="566928" y="786384"/>
            <a:ext cx="10972800" cy="914400"/>
          </a:xfrm>
          <a:prstGeom prst="rect">
            <a:avLst/>
          </a:prstGeom>
          <a:noFill/>
          <a:ln/>
        </p:spPr>
        <p:txBody>
          <a:bodyPr wrap="square" lIns="0" tIns="0" rIns="0" bIns="0" rtlCol="0" anchor="t"/>
          <a:lstStyle/>
          <a:p>
            <a:pPr algn="l" indent="0" marL="0">
              <a:lnSpc>
                <a:spcPct val="98000"/>
              </a:lnSpc>
              <a:buNone/>
            </a:pPr>
            <a:r>
              <a:rPr lang="en-US" sz="2800" b="1" dirty="0">
                <a:solidFill>
                  <a:srgbClr val="0F2A43"/>
                </a:solidFill>
                <a:latin typeface="Montserrat" pitchFamily="34" charset="0"/>
                <a:ea typeface="Montserrat" pitchFamily="34" charset="-122"/>
                <a:cs typeface="Montserrat" pitchFamily="34" charset="-120"/>
              </a:rPr>
              <a:t>A shared substrate that feeds Hazard's M3 stage</a:t>
            </a:r>
            <a:endParaRPr lang="en-US" sz="2800" dirty="0"/>
          </a:p>
        </p:txBody>
      </p:sp>
      <p:sp>
        <p:nvSpPr>
          <p:cNvPr id="5" name="Text 3"/>
          <p:cNvSpPr/>
          <p:nvPr/>
        </p:nvSpPr>
        <p:spPr>
          <a:xfrm>
            <a:off x="566928" y="1463040"/>
            <a:ext cx="10972800" cy="457200"/>
          </a:xfrm>
          <a:prstGeom prst="rect">
            <a:avLst/>
          </a:prstGeom>
          <a:noFill/>
          <a:ln/>
        </p:spPr>
        <p:txBody>
          <a:bodyPr wrap="square" lIns="0" tIns="0" rIns="0" bIns="0" rtlCol="0" anchor="ctr"/>
          <a:lstStyle/>
          <a:p>
            <a:pPr indent="0" marL="0">
              <a:buNone/>
            </a:pPr>
            <a:r>
              <a:rPr lang="en-US" sz="1350" dirty="0">
                <a:solidFill>
                  <a:srgbClr val="5B7184"/>
                </a:solidFill>
                <a:latin typeface="Montserrat" pitchFamily="34" charset="0"/>
                <a:ea typeface="Montserrat" pitchFamily="34" charset="-122"/>
                <a:cs typeface="Montserrat" pitchFamily="34" charset="-120"/>
              </a:rPr>
              <a:t>Damage modeling is not a fourth risk tier. It is a substrate the Hazard tier consumes at one point — the M3 (damage) stage.</a:t>
            </a:r>
            <a:endParaRPr lang="en-US" sz="1350" dirty="0"/>
          </a:p>
        </p:txBody>
      </p:sp>
      <p:sp>
        <p:nvSpPr>
          <p:cNvPr id="6" name="Shape 4"/>
          <p:cNvSpPr/>
          <p:nvPr/>
        </p:nvSpPr>
        <p:spPr>
          <a:xfrm>
            <a:off x="566928" y="2194560"/>
            <a:ext cx="6126480" cy="1078992"/>
          </a:xfrm>
          <a:prstGeom prst="roundRect">
            <a:avLst>
              <a:gd name="adj" fmla="val 7627"/>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7" name="Text 5"/>
          <p:cNvSpPr/>
          <p:nvPr/>
        </p:nvSpPr>
        <p:spPr>
          <a:xfrm>
            <a:off x="841248" y="2340864"/>
            <a:ext cx="5486400" cy="365760"/>
          </a:xfrm>
          <a:prstGeom prst="rect">
            <a:avLst/>
          </a:prstGeom>
          <a:noFill/>
          <a:ln/>
        </p:spPr>
        <p:txBody>
          <a:bodyPr wrap="square" lIns="0" tIns="0" rIns="0" bIns="0" rtlCol="0" anchor="ctr"/>
          <a:lstStyle/>
          <a:p>
            <a:pPr indent="0" marL="0">
              <a:buNone/>
            </a:pPr>
            <a:r>
              <a:rPr lang="en-US" sz="1500" b="1" dirty="0">
                <a:solidFill>
                  <a:srgbClr val="0F2A43"/>
                </a:solidFill>
                <a:latin typeface="Montserrat" pitchFamily="34" charset="0"/>
                <a:ea typeface="Montserrat" pitchFamily="34" charset="-122"/>
                <a:cs typeface="Montserrat" pitchFamily="34" charset="-120"/>
              </a:rPr>
              <a:t>1 · PERFORMANCE</a:t>
            </a:r>
            <a:endParaRPr lang="en-US" sz="1500" dirty="0"/>
          </a:p>
        </p:txBody>
      </p:sp>
      <p:sp>
        <p:nvSpPr>
          <p:cNvPr id="8" name="Text 6"/>
          <p:cNvSpPr/>
          <p:nvPr/>
        </p:nvSpPr>
        <p:spPr>
          <a:xfrm>
            <a:off x="841248" y="2724912"/>
            <a:ext cx="5577840" cy="457200"/>
          </a:xfrm>
          <a:prstGeom prst="rect">
            <a:avLst/>
          </a:prstGeom>
          <a:noFill/>
          <a:ln/>
        </p:spPr>
        <p:txBody>
          <a:bodyPr wrap="square" lIns="0" tIns="0" rIns="0" bIns="0" rtlCol="0" anchor="ctr"/>
          <a:lstStyle/>
          <a:p>
            <a:pPr indent="0" marL="0">
              <a:buNone/>
            </a:pPr>
            <a:r>
              <a:rPr lang="en-US" sz="1150" dirty="0">
                <a:solidFill>
                  <a:srgbClr val="5B7184"/>
                </a:solidFill>
                <a:latin typeface="Montserrat" pitchFamily="34" charset="0"/>
                <a:ea typeface="Montserrat" pitchFamily="34" charset="-122"/>
                <a:cs typeface="Montserrat" pitchFamily="34" charset="-120"/>
              </a:rPr>
              <a:t>model-gpr — normal ops → P50 / P90 / P99</a:t>
            </a:r>
            <a:endParaRPr lang="en-US" sz="1150" dirty="0"/>
          </a:p>
        </p:txBody>
      </p:sp>
      <p:sp>
        <p:nvSpPr>
          <p:cNvPr id="9" name="Shape 7"/>
          <p:cNvSpPr/>
          <p:nvPr/>
        </p:nvSpPr>
        <p:spPr>
          <a:xfrm>
            <a:off x="566928" y="3419856"/>
            <a:ext cx="6126480" cy="1078992"/>
          </a:xfrm>
          <a:prstGeom prst="roundRect">
            <a:avLst>
              <a:gd name="adj" fmla="val 7627"/>
            </a:avLst>
          </a:prstGeom>
          <a:solidFill>
            <a:srgbClr val="D7EEF1"/>
          </a:solidFill>
          <a:ln w="19050">
            <a:solidFill>
              <a:srgbClr val="14919B"/>
            </a:solidFill>
            <a:prstDash val="solid"/>
          </a:ln>
          <a:effectLst>
            <a:outerShdw sx="100000" sy="100000" kx="0" ky="0" algn="bl" rotWithShape="0" blurRad="114300" dist="38100" dir="5400000">
              <a:srgbClr val="0F2A43">
                <a:alpha val="13000"/>
              </a:srgbClr>
            </a:outerShdw>
          </a:effectLst>
        </p:spPr>
      </p:sp>
      <p:sp>
        <p:nvSpPr>
          <p:cNvPr id="10" name="Text 8"/>
          <p:cNvSpPr/>
          <p:nvPr/>
        </p:nvSpPr>
        <p:spPr>
          <a:xfrm>
            <a:off x="841248" y="3566160"/>
            <a:ext cx="5486400" cy="365760"/>
          </a:xfrm>
          <a:prstGeom prst="rect">
            <a:avLst/>
          </a:prstGeom>
          <a:noFill/>
          <a:ln/>
        </p:spPr>
        <p:txBody>
          <a:bodyPr wrap="square" lIns="0" tIns="0" rIns="0" bIns="0" rtlCol="0" anchor="ctr"/>
          <a:lstStyle/>
          <a:p>
            <a:pPr indent="0" marL="0">
              <a:buNone/>
            </a:pPr>
            <a:r>
              <a:rPr lang="en-US" sz="1500" b="1" dirty="0">
                <a:solidFill>
                  <a:srgbClr val="0F2A43"/>
                </a:solidFill>
                <a:latin typeface="Montserrat" pitchFamily="34" charset="0"/>
                <a:ea typeface="Montserrat" pitchFamily="34" charset="-122"/>
                <a:cs typeface="Montserrat" pitchFamily="34" charset="-120"/>
              </a:rPr>
              <a:t>2 · HAZARD</a:t>
            </a:r>
            <a:endParaRPr lang="en-US" sz="1500" dirty="0"/>
          </a:p>
        </p:txBody>
      </p:sp>
      <p:sp>
        <p:nvSpPr>
          <p:cNvPr id="11" name="Text 9"/>
          <p:cNvSpPr/>
          <p:nvPr/>
        </p:nvSpPr>
        <p:spPr>
          <a:xfrm>
            <a:off x="841248" y="3950208"/>
            <a:ext cx="5577840" cy="457200"/>
          </a:xfrm>
          <a:prstGeom prst="rect">
            <a:avLst/>
          </a:prstGeom>
          <a:noFill/>
          <a:ln/>
        </p:spPr>
        <p:txBody>
          <a:bodyPr wrap="square" lIns="0" tIns="0" rIns="0" bIns="0" rtlCol="0" anchor="ctr"/>
          <a:lstStyle/>
          <a:p>
            <a:pPr indent="0" marL="0">
              <a:buNone/>
            </a:pPr>
            <a:r>
              <a:rPr lang="en-US" sz="1150" dirty="0">
                <a:solidFill>
                  <a:srgbClr val="1B3B57"/>
                </a:solidFill>
                <a:latin typeface="Montserrat" pitchFamily="34" charset="0"/>
                <a:ea typeface="Montserrat" pitchFamily="34" charset="-122"/>
                <a:cs typeface="Montserrat" pitchFamily="34" charset="-120"/>
              </a:rPr>
              <a:t>M0 → M1 → M2 → [ M3 ] → M4 → asset loss · EAL · PML · VaR</a:t>
            </a:r>
            <a:endParaRPr lang="en-US" sz="1150" dirty="0"/>
          </a:p>
        </p:txBody>
      </p:sp>
      <p:sp>
        <p:nvSpPr>
          <p:cNvPr id="12" name="Shape 10"/>
          <p:cNvSpPr/>
          <p:nvPr/>
        </p:nvSpPr>
        <p:spPr>
          <a:xfrm>
            <a:off x="566928" y="4645152"/>
            <a:ext cx="6126480" cy="1078992"/>
          </a:xfrm>
          <a:prstGeom prst="roundRect">
            <a:avLst>
              <a:gd name="adj" fmla="val 7627"/>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13" name="Text 11"/>
          <p:cNvSpPr/>
          <p:nvPr/>
        </p:nvSpPr>
        <p:spPr>
          <a:xfrm>
            <a:off x="841248" y="4791456"/>
            <a:ext cx="5486400" cy="365760"/>
          </a:xfrm>
          <a:prstGeom prst="rect">
            <a:avLst/>
          </a:prstGeom>
          <a:noFill/>
          <a:ln/>
        </p:spPr>
        <p:txBody>
          <a:bodyPr wrap="square" lIns="0" tIns="0" rIns="0" bIns="0" rtlCol="0" anchor="ctr"/>
          <a:lstStyle/>
          <a:p>
            <a:pPr indent="0" marL="0">
              <a:buNone/>
            </a:pPr>
            <a:r>
              <a:rPr lang="en-US" sz="1500" b="1" dirty="0">
                <a:solidFill>
                  <a:srgbClr val="0F2A43"/>
                </a:solidFill>
                <a:latin typeface="Montserrat" pitchFamily="34" charset="0"/>
                <a:ea typeface="Montserrat" pitchFamily="34" charset="-122"/>
                <a:cs typeface="Montserrat" pitchFamily="34" charset="-120"/>
              </a:rPr>
              <a:t>3 · OVERALL</a:t>
            </a:r>
            <a:endParaRPr lang="en-US" sz="1500" dirty="0"/>
          </a:p>
        </p:txBody>
      </p:sp>
      <p:sp>
        <p:nvSpPr>
          <p:cNvPr id="14" name="Text 12"/>
          <p:cNvSpPr/>
          <p:nvPr/>
        </p:nvSpPr>
        <p:spPr>
          <a:xfrm>
            <a:off x="841248" y="5175504"/>
            <a:ext cx="5577840" cy="457200"/>
          </a:xfrm>
          <a:prstGeom prst="rect">
            <a:avLst/>
          </a:prstGeom>
          <a:noFill/>
          <a:ln/>
        </p:spPr>
        <p:txBody>
          <a:bodyPr wrap="square" lIns="0" tIns="0" rIns="0" bIns="0" rtlCol="0" anchor="ctr"/>
          <a:lstStyle/>
          <a:p>
            <a:pPr indent="0" marL="0">
              <a:buNone/>
            </a:pPr>
            <a:r>
              <a:rPr lang="en-US" sz="1150" dirty="0">
                <a:solidFill>
                  <a:srgbClr val="5B7184"/>
                </a:solidFill>
                <a:latin typeface="Montserrat" pitchFamily="34" charset="0"/>
                <a:ea typeface="Montserrat" pitchFamily="34" charset="-122"/>
                <a:cs typeface="Montserrat" pitchFamily="34" charset="-120"/>
              </a:rPr>
              <a:t>performance + hazard → Total Loss</a:t>
            </a:r>
            <a:endParaRPr lang="en-US" sz="1150" dirty="0"/>
          </a:p>
        </p:txBody>
      </p:sp>
      <p:sp>
        <p:nvSpPr>
          <p:cNvPr id="15" name="Text 13"/>
          <p:cNvSpPr/>
          <p:nvPr/>
        </p:nvSpPr>
        <p:spPr>
          <a:xfrm>
            <a:off x="566928" y="5943600"/>
            <a:ext cx="6126480" cy="365760"/>
          </a:xfrm>
          <a:prstGeom prst="rect">
            <a:avLst/>
          </a:prstGeom>
          <a:noFill/>
          <a:ln/>
        </p:spPr>
        <p:txBody>
          <a:bodyPr wrap="square" lIns="0" tIns="0" rIns="0" bIns="0" rtlCol="0" anchor="ctr"/>
          <a:lstStyle/>
          <a:p>
            <a:pPr indent="0" marL="0">
              <a:buNone/>
            </a:pPr>
            <a:r>
              <a:rPr lang="en-US" sz="1200" b="1" i="1" dirty="0">
                <a:solidFill>
                  <a:srgbClr val="14919B"/>
                </a:solidFill>
                <a:latin typeface="Montserrat" pitchFamily="34" charset="0"/>
                <a:ea typeface="Montserrat" pitchFamily="34" charset="-122"/>
                <a:cs typeface="Montserrat" pitchFamily="34" charset="-120"/>
              </a:rPr>
              <a:t>M3 stops CONTAINING the curve and starts CONSUMING it.</a:t>
            </a:r>
            <a:endParaRPr lang="en-US" sz="1200" dirty="0"/>
          </a:p>
        </p:txBody>
      </p:sp>
      <p:sp>
        <p:nvSpPr>
          <p:cNvPr id="16" name="Shape 14"/>
          <p:cNvSpPr/>
          <p:nvPr/>
        </p:nvSpPr>
        <p:spPr>
          <a:xfrm>
            <a:off x="6812280" y="3246120"/>
            <a:ext cx="868680" cy="0"/>
          </a:xfrm>
          <a:prstGeom prst="line">
            <a:avLst/>
          </a:prstGeom>
          <a:noFill/>
          <a:ln w="38100">
            <a:solidFill>
              <a:srgbClr val="E0A458"/>
            </a:solidFill>
            <a:prstDash val="solid"/>
            <a:tailEnd type="triangle"/>
          </a:ln>
        </p:spPr>
      </p:sp>
      <p:sp>
        <p:nvSpPr>
          <p:cNvPr id="17" name="Shape 15"/>
          <p:cNvSpPr/>
          <p:nvPr/>
        </p:nvSpPr>
        <p:spPr>
          <a:xfrm>
            <a:off x="7772400" y="2194560"/>
            <a:ext cx="3840480" cy="3712464"/>
          </a:xfrm>
          <a:prstGeom prst="roundRect">
            <a:avLst>
              <a:gd name="adj" fmla="val 2217"/>
            </a:avLst>
          </a:prstGeom>
          <a:solidFill>
            <a:srgbClr val="0F2A43"/>
          </a:solidFill>
          <a:ln w="12700">
            <a:solidFill>
              <a:srgbClr val="0F2A43"/>
            </a:solidFill>
            <a:prstDash val="solid"/>
          </a:ln>
          <a:effectLst>
            <a:outerShdw sx="100000" sy="100000" kx="0" ky="0" algn="bl" rotWithShape="0" blurRad="114300" dist="38100" dir="5400000">
              <a:srgbClr val="0F2A43">
                <a:alpha val="13000"/>
              </a:srgbClr>
            </a:outerShdw>
          </a:effectLst>
        </p:spPr>
      </p:sp>
      <p:sp>
        <p:nvSpPr>
          <p:cNvPr id="18" name="Text 16"/>
          <p:cNvSpPr/>
          <p:nvPr/>
        </p:nvSpPr>
        <p:spPr>
          <a:xfrm>
            <a:off x="7772400" y="2395728"/>
            <a:ext cx="384048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Montserrat" pitchFamily="34" charset="0"/>
                <a:ea typeface="Montserrat" pitchFamily="34" charset="-122"/>
                <a:cs typeface="Montserrat" pitchFamily="34" charset="-120"/>
              </a:rPr>
              <a:t>DAMAGE MODELING</a:t>
            </a:r>
            <a:endParaRPr lang="en-US" sz="1500" dirty="0"/>
          </a:p>
        </p:txBody>
      </p:sp>
      <p:sp>
        <p:nvSpPr>
          <p:cNvPr id="19" name="Text 17"/>
          <p:cNvSpPr/>
          <p:nvPr/>
        </p:nvSpPr>
        <p:spPr>
          <a:xfrm>
            <a:off x="7772400" y="2743200"/>
            <a:ext cx="3840480" cy="256032"/>
          </a:xfrm>
          <a:prstGeom prst="rect">
            <a:avLst/>
          </a:prstGeom>
          <a:noFill/>
          <a:ln/>
        </p:spPr>
        <p:txBody>
          <a:bodyPr wrap="square" lIns="0" tIns="0" rIns="0" bIns="0" rtlCol="0" anchor="ctr"/>
          <a:lstStyle/>
          <a:p>
            <a:pPr algn="ctr" indent="0" marL="0">
              <a:buNone/>
            </a:pPr>
            <a:r>
              <a:rPr lang="en-US" sz="1100" i="1" dirty="0">
                <a:solidFill>
                  <a:srgbClr val="2DB7C3"/>
                </a:solidFill>
                <a:latin typeface="Montserrat" pitchFamily="34" charset="0"/>
                <a:ea typeface="Montserrat" pitchFamily="34" charset="-122"/>
                <a:cs typeface="Montserrat" pitchFamily="34" charset="-120"/>
              </a:rPr>
              <a:t>this repo</a:t>
            </a:r>
            <a:endParaRPr lang="en-US" sz="1100" dirty="0"/>
          </a:p>
        </p:txBody>
      </p:sp>
      <p:sp>
        <p:nvSpPr>
          <p:cNvPr id="20" name="Text 18"/>
          <p:cNvSpPr/>
          <p:nvPr/>
        </p:nvSpPr>
        <p:spPr>
          <a:xfrm>
            <a:off x="8092440" y="3154680"/>
            <a:ext cx="3291840" cy="2103120"/>
          </a:xfrm>
          <a:prstGeom prst="rect">
            <a:avLst/>
          </a:prstGeom>
          <a:noFill/>
          <a:ln/>
        </p:spPr>
        <p:txBody>
          <a:bodyPr wrap="square" lIns="0" tIns="0" rIns="0" bIns="0" rtlCol="0" anchor="ctr"/>
          <a:lstStyle/>
          <a:p>
            <a:pPr marL="152400" indent="-152400">
              <a:spcAft>
                <a:spcPts val="600"/>
              </a:spcAft>
              <a:buSzPct val="100000"/>
              <a:buChar char="•"/>
            </a:pPr>
            <a:r>
              <a:rPr lang="en-US" sz="1300" dirty="0">
                <a:solidFill>
                  <a:srgbClr val="D7EEF1"/>
                </a:solidFill>
                <a:latin typeface="Montserrat" pitchFamily="34" charset="0"/>
                <a:ea typeface="Montserrat" pitchFamily="34" charset="-122"/>
                <a:cs typeface="Montserrat" pitchFamily="34" charset="-120"/>
              </a:rPr>
              <a:t>intensity → damage ratio</a:t>
            </a:r>
            <a:endParaRPr lang="en-US" sz="1300" dirty="0"/>
          </a:p>
          <a:p>
            <a:pPr marL="152400" indent="-152400">
              <a:spcAft>
                <a:spcPts val="600"/>
              </a:spcAft>
              <a:buSzPct val="100000"/>
              <a:buChar char="•"/>
            </a:pPr>
            <a:r>
              <a:rPr lang="en-US" sz="1300" dirty="0">
                <a:solidFill>
                  <a:srgbClr val="D7EEF1"/>
                </a:solidFill>
                <a:latin typeface="Montserrat" pitchFamily="34" charset="0"/>
                <a:ea typeface="Montserrat" pitchFamily="34" charset="-122"/>
                <a:cs typeface="Montserrat" pitchFamily="34" charset="-120"/>
              </a:rPr>
              <a:t>per failure-unit</a:t>
            </a:r>
            <a:endParaRPr lang="en-US" sz="1300" dirty="0"/>
          </a:p>
          <a:p>
            <a:pPr marL="152400" indent="-152400">
              <a:spcAft>
                <a:spcPts val="600"/>
              </a:spcAft>
              <a:buSzPct val="100000"/>
              <a:buChar char="•"/>
            </a:pPr>
            <a:r>
              <a:rPr lang="en-US" sz="1300" dirty="0">
                <a:solidFill>
                  <a:srgbClr val="D7EEF1"/>
                </a:solidFill>
                <a:latin typeface="Montserrat" pitchFamily="34" charset="0"/>
                <a:ea typeface="Montserrat" pitchFamily="34" charset="-122"/>
                <a:cs typeface="Montserrat" pitchFamily="34" charset="-120"/>
              </a:rPr>
              <a:t>provenance-carried</a:t>
            </a:r>
            <a:endParaRPr lang="en-US" sz="1300" dirty="0"/>
          </a:p>
          <a:p>
            <a:pPr marL="152400" indent="-152400">
              <a:spcAft>
                <a:spcPts val="600"/>
              </a:spcAft>
              <a:buSzPct val="100000"/>
              <a:buChar char="•"/>
            </a:pPr>
            <a:r>
              <a:rPr lang="en-US" sz="1300" dirty="0">
                <a:solidFill>
                  <a:srgbClr val="D7EEF1"/>
                </a:solidFill>
                <a:latin typeface="Montserrat" pitchFamily="34" charset="0"/>
                <a:ea typeface="Montserrat" pitchFamily="34" charset="-122"/>
                <a:cs typeface="Montserrat" pitchFamily="34" charset="-120"/>
              </a:rPr>
              <a:t>versioned curve packages</a:t>
            </a:r>
            <a:endParaRPr lang="en-US" sz="1300" dirty="0"/>
          </a:p>
          <a:p>
            <a:pPr marL="152400" indent="-152400">
              <a:spcAft>
                <a:spcPts val="600"/>
              </a:spcAft>
              <a:buSzPct val="100000"/>
              <a:buChar char="•"/>
            </a:pPr>
            <a:r>
              <a:rPr lang="en-US" sz="1300" dirty="0">
                <a:solidFill>
                  <a:srgbClr val="D7EEF1"/>
                </a:solidFill>
                <a:latin typeface="Montserrat" pitchFamily="34" charset="0"/>
                <a:ea typeface="Montserrat" pitchFamily="34" charset="-122"/>
                <a:cs typeface="Montserrat" pitchFamily="34" charset="-120"/>
              </a:rPr>
              <a:t>+ a damage_code() API</a:t>
            </a:r>
            <a:endParaRPr lang="en-US" sz="1300" dirty="0"/>
          </a:p>
        </p:txBody>
      </p:sp>
      <p:sp>
        <p:nvSpPr>
          <p:cNvPr id="21" name="Text 19"/>
          <p:cNvSpPr/>
          <p:nvPr/>
        </p:nvSpPr>
        <p:spPr>
          <a:xfrm>
            <a:off x="7772400" y="5532120"/>
            <a:ext cx="3840480" cy="274320"/>
          </a:xfrm>
          <a:prstGeom prst="rect">
            <a:avLst/>
          </a:prstGeom>
          <a:noFill/>
          <a:ln/>
        </p:spPr>
        <p:txBody>
          <a:bodyPr wrap="square" lIns="0" tIns="0" rIns="0" bIns="0" rtlCol="0" anchor="ctr"/>
          <a:lstStyle/>
          <a:p>
            <a:pPr algn="ctr" indent="0" marL="0">
              <a:buNone/>
            </a:pPr>
            <a:r>
              <a:rPr lang="en-US" sz="1050" i="1" dirty="0">
                <a:solidFill>
                  <a:srgbClr val="8FA6B5"/>
                </a:solidFill>
                <a:latin typeface="Montserrat" pitchFamily="34" charset="0"/>
                <a:ea typeface="Montserrat" pitchFamily="34" charset="-122"/>
                <a:cs typeface="Montserrat" pitchFamily="34" charset="-120"/>
              </a:rPr>
              <a:t>consumed at M3 only</a:t>
            </a:r>
            <a:endParaRPr lang="en-US" sz="1050" dirty="0"/>
          </a:p>
        </p:txBody>
      </p:sp>
      <p:sp>
        <p:nvSpPr>
          <p:cNvPr id="22" name="Text 20"/>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23" name="Text 21"/>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docs/damage_curves/SCOPE_AND_STORY.md §3</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4</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14919B"/>
                </a:solidFill>
                <a:latin typeface="Montserrat" pitchFamily="34" charset="0"/>
                <a:ea typeface="Montserrat" pitchFamily="34" charset="-122"/>
                <a:cs typeface="Montserrat" pitchFamily="34" charset="-120"/>
              </a:rPr>
              <a:t>THE THREE-PHASE ARC</a:t>
            </a:r>
            <a:endParaRPr lang="en-US" sz="1250" dirty="0"/>
          </a:p>
        </p:txBody>
      </p:sp>
      <p:sp>
        <p:nvSpPr>
          <p:cNvPr id="4" name="Text 2"/>
          <p:cNvSpPr/>
          <p:nvPr/>
        </p:nvSpPr>
        <p:spPr>
          <a:xfrm>
            <a:off x="566928" y="786384"/>
            <a:ext cx="11155680" cy="914400"/>
          </a:xfrm>
          <a:prstGeom prst="rect">
            <a:avLst/>
          </a:prstGeom>
          <a:noFill/>
          <a:ln/>
        </p:spPr>
        <p:txBody>
          <a:bodyPr wrap="square" lIns="0" tIns="0" rIns="0" bIns="0" rtlCol="0" anchor="t"/>
          <a:lstStyle/>
          <a:p>
            <a:pPr algn="l" indent="0" marL="0">
              <a:lnSpc>
                <a:spcPct val="98000"/>
              </a:lnSpc>
              <a:buNone/>
            </a:pPr>
            <a:r>
              <a:rPr lang="en-US" sz="2600" b="1" dirty="0">
                <a:solidFill>
                  <a:srgbClr val="0F2A43"/>
                </a:solidFill>
                <a:latin typeface="Montserrat" pitchFamily="34" charset="0"/>
                <a:ea typeface="Montserrat" pitchFamily="34" charset="-122"/>
                <a:cs typeface="Montserrat" pitchFamily="34" charset="-120"/>
              </a:rPr>
              <a:t>Damage was assumed → now it is built → then it is adjusted</a:t>
            </a:r>
            <a:endParaRPr lang="en-US" sz="2600" dirty="0"/>
          </a:p>
        </p:txBody>
      </p:sp>
      <p:sp>
        <p:nvSpPr>
          <p:cNvPr id="5" name="Shape 3"/>
          <p:cNvSpPr/>
          <p:nvPr/>
        </p:nvSpPr>
        <p:spPr>
          <a:xfrm>
            <a:off x="566928" y="2057400"/>
            <a:ext cx="3529584" cy="3657600"/>
          </a:xfrm>
          <a:prstGeom prst="roundRect">
            <a:avLst>
              <a:gd name="adj" fmla="val 2332"/>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6" name="Text 4"/>
          <p:cNvSpPr/>
          <p:nvPr/>
        </p:nvSpPr>
        <p:spPr>
          <a:xfrm>
            <a:off x="841248" y="2286000"/>
            <a:ext cx="2980944" cy="320040"/>
          </a:xfrm>
          <a:prstGeom prst="rect">
            <a:avLst/>
          </a:prstGeom>
          <a:noFill/>
          <a:ln/>
        </p:spPr>
        <p:txBody>
          <a:bodyPr wrap="square" lIns="0" tIns="0" rIns="0" bIns="0" rtlCol="0" anchor="ctr"/>
          <a:lstStyle/>
          <a:p>
            <a:pPr indent="0" marL="0">
              <a:buNone/>
            </a:pPr>
            <a:r>
              <a:rPr lang="en-US" sz="1250" b="1" spc="200" kern="0" dirty="0">
                <a:solidFill>
                  <a:srgbClr val="5B7184"/>
                </a:solidFill>
                <a:latin typeface="Montserrat" pitchFamily="34" charset="0"/>
                <a:ea typeface="Montserrat" pitchFamily="34" charset="-122"/>
                <a:cs typeface="Montserrat" pitchFamily="34" charset="-120"/>
              </a:rPr>
              <a:t>PHASE 1</a:t>
            </a:r>
            <a:endParaRPr lang="en-US" sz="1250" dirty="0"/>
          </a:p>
        </p:txBody>
      </p:sp>
      <p:sp>
        <p:nvSpPr>
          <p:cNvPr id="7" name="Text 5"/>
          <p:cNvSpPr/>
          <p:nvPr/>
        </p:nvSpPr>
        <p:spPr>
          <a:xfrm>
            <a:off x="841248" y="2615184"/>
            <a:ext cx="2980944" cy="640080"/>
          </a:xfrm>
          <a:prstGeom prst="rect">
            <a:avLst/>
          </a:prstGeom>
          <a:noFill/>
          <a:ln/>
        </p:spPr>
        <p:txBody>
          <a:bodyPr wrap="square" lIns="0" tIns="0" rIns="0" bIns="0" rtlCol="0" anchor="ctr"/>
          <a:lstStyle/>
          <a:p>
            <a:pPr indent="0" marL="0">
              <a:lnSpc>
                <a:spcPct val="98000"/>
              </a:lnSpc>
              <a:buNone/>
            </a:pPr>
            <a:r>
              <a:rPr lang="en-US" sz="1700" b="1" dirty="0">
                <a:solidFill>
                  <a:srgbClr val="0F2A43"/>
                </a:solidFill>
                <a:latin typeface="Montserrat" pitchFamily="34" charset="0"/>
                <a:ea typeface="Montserrat" pitchFamily="34" charset="-122"/>
                <a:cs typeface="Montserrat" pitchFamily="34" charset="-120"/>
              </a:rPr>
              <a:t>Hazard-first ("IDF")</a:t>
            </a:r>
            <a:endParaRPr lang="en-US" sz="1700" dirty="0"/>
          </a:p>
        </p:txBody>
      </p:sp>
      <p:sp>
        <p:nvSpPr>
          <p:cNvPr id="8" name="Text 6"/>
          <p:cNvSpPr/>
          <p:nvPr/>
        </p:nvSpPr>
        <p:spPr>
          <a:xfrm>
            <a:off x="841248" y="3310128"/>
            <a:ext cx="2980944" cy="1371600"/>
          </a:xfrm>
          <a:prstGeom prst="rect">
            <a:avLst/>
          </a:prstGeom>
          <a:noFill/>
          <a:ln/>
        </p:spPr>
        <p:txBody>
          <a:bodyPr wrap="square" lIns="0" tIns="0" rIns="0" bIns="0" rtlCol="0" anchor="ctr"/>
          <a:lstStyle/>
          <a:p>
            <a:pPr indent="0" marL="0">
              <a:lnSpc>
                <a:spcPct val="118000"/>
              </a:lnSpc>
              <a:buNone/>
            </a:pPr>
            <a:r>
              <a:rPr lang="en-US" sz="1250" dirty="0">
                <a:solidFill>
                  <a:srgbClr val="1B2733"/>
                </a:solidFill>
                <a:latin typeface="Montserrat" pitchFamily="34" charset="0"/>
                <a:ea typeface="Montserrat" pitchFamily="34" charset="-122"/>
                <a:cs typeface="Montserrat" pitchFamily="34" charset="-120"/>
              </a:rPr>
              <a:t>M0→M4 engine stood up end-to-end using a few generic / borrowed damage curves.</a:t>
            </a:r>
            <a:endParaRPr lang="en-US" sz="1250" dirty="0"/>
          </a:p>
        </p:txBody>
      </p:sp>
      <p:sp>
        <p:nvSpPr>
          <p:cNvPr id="9" name="Shape 7"/>
          <p:cNvSpPr/>
          <p:nvPr/>
        </p:nvSpPr>
        <p:spPr>
          <a:xfrm>
            <a:off x="841248" y="4846320"/>
            <a:ext cx="2980944" cy="384048"/>
          </a:xfrm>
          <a:prstGeom prst="roundRect">
            <a:avLst>
              <a:gd name="adj" fmla="val 50000"/>
            </a:avLst>
          </a:prstGeom>
          <a:solidFill>
            <a:srgbClr val="EEF2F5"/>
          </a:solidFill>
          <a:ln/>
        </p:spPr>
      </p:sp>
      <p:sp>
        <p:nvSpPr>
          <p:cNvPr id="10" name="Text 8"/>
          <p:cNvSpPr/>
          <p:nvPr/>
        </p:nvSpPr>
        <p:spPr>
          <a:xfrm>
            <a:off x="841248" y="4846320"/>
            <a:ext cx="2980944" cy="384048"/>
          </a:xfrm>
          <a:prstGeom prst="rect">
            <a:avLst/>
          </a:prstGeom>
          <a:noFill/>
          <a:ln/>
        </p:spPr>
        <p:txBody>
          <a:bodyPr wrap="square" lIns="0" tIns="0" rIns="0" bIns="0" rtlCol="0" anchor="ctr"/>
          <a:lstStyle/>
          <a:p>
            <a:pPr algn="ctr" indent="0" marL="0">
              <a:buNone/>
            </a:pPr>
            <a:r>
              <a:rPr lang="en-US" sz="1200" b="1" dirty="0">
                <a:solidFill>
                  <a:srgbClr val="1B3B57"/>
                </a:solidFill>
                <a:latin typeface="Consolas" pitchFamily="34" charset="0"/>
                <a:ea typeface="Consolas" pitchFamily="34" charset="-122"/>
                <a:cs typeface="Consolas" pitchFamily="34" charset="-120"/>
              </a:rPr>
              <a:t>damage = assumed</a:t>
            </a:r>
            <a:endParaRPr lang="en-US" sz="1200" dirty="0"/>
          </a:p>
        </p:txBody>
      </p:sp>
      <p:sp>
        <p:nvSpPr>
          <p:cNvPr id="11" name="Text 9"/>
          <p:cNvSpPr/>
          <p:nvPr/>
        </p:nvSpPr>
        <p:spPr>
          <a:xfrm>
            <a:off x="841248" y="5340096"/>
            <a:ext cx="2980944" cy="274320"/>
          </a:xfrm>
          <a:prstGeom prst="rect">
            <a:avLst/>
          </a:prstGeom>
          <a:noFill/>
          <a:ln/>
        </p:spPr>
        <p:txBody>
          <a:bodyPr wrap="square" lIns="0" tIns="0" rIns="0" bIns="0" rtlCol="0" anchor="ctr"/>
          <a:lstStyle/>
          <a:p>
            <a:pPr algn="ctr" indent="0" marL="0">
              <a:buNone/>
            </a:pPr>
            <a:r>
              <a:rPr lang="en-US" sz="1100" i="1" dirty="0">
                <a:solidFill>
                  <a:srgbClr val="5B7184"/>
                </a:solidFill>
                <a:latin typeface="Montserrat" pitchFamily="34" charset="0"/>
                <a:ea typeface="Montserrat" pitchFamily="34" charset="-122"/>
                <a:cs typeface="Montserrat" pitchFamily="34" charset="-120"/>
              </a:rPr>
              <a:t>done</a:t>
            </a:r>
            <a:endParaRPr lang="en-US" sz="1100" dirty="0"/>
          </a:p>
        </p:txBody>
      </p:sp>
      <p:sp>
        <p:nvSpPr>
          <p:cNvPr id="12" name="Shape 10"/>
          <p:cNvSpPr/>
          <p:nvPr/>
        </p:nvSpPr>
        <p:spPr>
          <a:xfrm>
            <a:off x="4334256" y="2057400"/>
            <a:ext cx="3529584" cy="3657600"/>
          </a:xfrm>
          <a:prstGeom prst="roundRect">
            <a:avLst>
              <a:gd name="adj" fmla="val 2332"/>
            </a:avLst>
          </a:prstGeom>
          <a:solidFill>
            <a:srgbClr val="D7EEF1"/>
          </a:solidFill>
          <a:ln w="25400">
            <a:solidFill>
              <a:srgbClr val="14919B"/>
            </a:solidFill>
            <a:prstDash val="solid"/>
          </a:ln>
          <a:effectLst>
            <a:outerShdw sx="100000" sy="100000" kx="0" ky="0" algn="bl" rotWithShape="0" blurRad="114300" dist="38100" dir="5400000">
              <a:srgbClr val="0F2A43">
                <a:alpha val="13000"/>
              </a:srgbClr>
            </a:outerShdw>
          </a:effectLst>
        </p:spPr>
      </p:sp>
      <p:sp>
        <p:nvSpPr>
          <p:cNvPr id="13" name="Text 11"/>
          <p:cNvSpPr/>
          <p:nvPr/>
        </p:nvSpPr>
        <p:spPr>
          <a:xfrm>
            <a:off x="4608576" y="2286000"/>
            <a:ext cx="2980944" cy="320040"/>
          </a:xfrm>
          <a:prstGeom prst="rect">
            <a:avLst/>
          </a:prstGeom>
          <a:noFill/>
          <a:ln/>
        </p:spPr>
        <p:txBody>
          <a:bodyPr wrap="square" lIns="0" tIns="0" rIns="0" bIns="0" rtlCol="0" anchor="ctr"/>
          <a:lstStyle/>
          <a:p>
            <a:pPr indent="0" marL="0">
              <a:buNone/>
            </a:pPr>
            <a:r>
              <a:rPr lang="en-US" sz="1250" b="1" spc="200" kern="0" dirty="0">
                <a:solidFill>
                  <a:srgbClr val="14919B"/>
                </a:solidFill>
                <a:latin typeface="Montserrat" pitchFamily="34" charset="0"/>
                <a:ea typeface="Montserrat" pitchFamily="34" charset="-122"/>
                <a:cs typeface="Montserrat" pitchFamily="34" charset="-120"/>
              </a:rPr>
              <a:t>PHASE 2</a:t>
            </a:r>
            <a:endParaRPr lang="en-US" sz="1250" dirty="0"/>
          </a:p>
        </p:txBody>
      </p:sp>
      <p:sp>
        <p:nvSpPr>
          <p:cNvPr id="14" name="Text 12"/>
          <p:cNvSpPr/>
          <p:nvPr/>
        </p:nvSpPr>
        <p:spPr>
          <a:xfrm>
            <a:off x="4608576" y="2615184"/>
            <a:ext cx="2980944" cy="640080"/>
          </a:xfrm>
          <a:prstGeom prst="rect">
            <a:avLst/>
          </a:prstGeom>
          <a:noFill/>
          <a:ln/>
        </p:spPr>
        <p:txBody>
          <a:bodyPr wrap="square" lIns="0" tIns="0" rIns="0" bIns="0" rtlCol="0" anchor="ctr"/>
          <a:lstStyle/>
          <a:p>
            <a:pPr indent="0" marL="0">
              <a:lnSpc>
                <a:spcPct val="98000"/>
              </a:lnSpc>
              <a:buNone/>
            </a:pPr>
            <a:r>
              <a:rPr lang="en-US" sz="1700" b="1" dirty="0">
                <a:solidFill>
                  <a:srgbClr val="0F2A43"/>
                </a:solidFill>
                <a:latin typeface="Montserrat" pitchFamily="34" charset="0"/>
                <a:ea typeface="Montserrat" pitchFamily="34" charset="-122"/>
                <a:cs typeface="Montserrat" pitchFamily="34" charset="-120"/>
              </a:rPr>
              <a:t>Damage from the ground up</a:t>
            </a:r>
            <a:endParaRPr lang="en-US" sz="1700" dirty="0"/>
          </a:p>
        </p:txBody>
      </p:sp>
      <p:sp>
        <p:nvSpPr>
          <p:cNvPr id="15" name="Text 13"/>
          <p:cNvSpPr/>
          <p:nvPr/>
        </p:nvSpPr>
        <p:spPr>
          <a:xfrm>
            <a:off x="4608576" y="3310128"/>
            <a:ext cx="2980944" cy="1371600"/>
          </a:xfrm>
          <a:prstGeom prst="rect">
            <a:avLst/>
          </a:prstGeom>
          <a:noFill/>
          <a:ln/>
        </p:spPr>
        <p:txBody>
          <a:bodyPr wrap="square" lIns="0" tIns="0" rIns="0" bIns="0" rtlCol="0" anchor="ctr"/>
          <a:lstStyle/>
          <a:p>
            <a:pPr indent="0" marL="0">
              <a:lnSpc>
                <a:spcPct val="118000"/>
              </a:lnSpc>
              <a:buNone/>
            </a:pPr>
            <a:r>
              <a:rPr lang="en-US" sz="1250" dirty="0">
                <a:solidFill>
                  <a:srgbClr val="1B2733"/>
                </a:solidFill>
                <a:latin typeface="Montserrat" pitchFamily="34" charset="0"/>
                <a:ea typeface="Montserrat" pitchFamily="34" charset="-122"/>
                <a:cs typeface="Montserrat" pitchFamily="34" charset="-120"/>
              </a:rPr>
              <a:t>Build the curve properly: grain · axis · form · coverage · provenance · value-link · emit object.</a:t>
            </a:r>
            <a:endParaRPr lang="en-US" sz="1250" dirty="0"/>
          </a:p>
        </p:txBody>
      </p:sp>
      <p:sp>
        <p:nvSpPr>
          <p:cNvPr id="16" name="Shape 14"/>
          <p:cNvSpPr/>
          <p:nvPr/>
        </p:nvSpPr>
        <p:spPr>
          <a:xfrm>
            <a:off x="4608576" y="4846320"/>
            <a:ext cx="2980944" cy="384048"/>
          </a:xfrm>
          <a:prstGeom prst="roundRect">
            <a:avLst>
              <a:gd name="adj" fmla="val 50000"/>
            </a:avLst>
          </a:prstGeom>
          <a:solidFill>
            <a:srgbClr val="14919B"/>
          </a:solidFill>
          <a:ln/>
        </p:spPr>
      </p:sp>
      <p:sp>
        <p:nvSpPr>
          <p:cNvPr id="17" name="Text 15"/>
          <p:cNvSpPr/>
          <p:nvPr/>
        </p:nvSpPr>
        <p:spPr>
          <a:xfrm>
            <a:off x="4608576" y="4846320"/>
            <a:ext cx="298094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damage = built</a:t>
            </a:r>
            <a:endParaRPr lang="en-US" sz="1200" dirty="0"/>
          </a:p>
        </p:txBody>
      </p:sp>
      <p:sp>
        <p:nvSpPr>
          <p:cNvPr id="18" name="Text 16"/>
          <p:cNvSpPr/>
          <p:nvPr/>
        </p:nvSpPr>
        <p:spPr>
          <a:xfrm>
            <a:off x="4608576" y="5340096"/>
            <a:ext cx="2980944" cy="274320"/>
          </a:xfrm>
          <a:prstGeom prst="rect">
            <a:avLst/>
          </a:prstGeom>
          <a:noFill/>
          <a:ln/>
        </p:spPr>
        <p:txBody>
          <a:bodyPr wrap="square" lIns="0" tIns="0" rIns="0" bIns="0" rtlCol="0" anchor="ctr"/>
          <a:lstStyle/>
          <a:p>
            <a:pPr algn="ctr" indent="0" marL="0">
              <a:buNone/>
            </a:pPr>
            <a:r>
              <a:rPr lang="en-US" sz="1100" b="1" i="1" dirty="0">
                <a:solidFill>
                  <a:srgbClr val="14919B"/>
                </a:solidFill>
                <a:latin typeface="Montserrat" pitchFamily="34" charset="0"/>
                <a:ea typeface="Montserrat" pitchFamily="34" charset="-122"/>
                <a:cs typeface="Montserrat" pitchFamily="34" charset="-120"/>
              </a:rPr>
              <a:t>we are here</a:t>
            </a:r>
            <a:endParaRPr lang="en-US" sz="1100" dirty="0"/>
          </a:p>
        </p:txBody>
      </p:sp>
      <p:sp>
        <p:nvSpPr>
          <p:cNvPr id="19" name="Shape 17"/>
          <p:cNvSpPr/>
          <p:nvPr/>
        </p:nvSpPr>
        <p:spPr>
          <a:xfrm>
            <a:off x="8101584" y="2057400"/>
            <a:ext cx="3529584" cy="3657600"/>
          </a:xfrm>
          <a:prstGeom prst="roundRect">
            <a:avLst>
              <a:gd name="adj" fmla="val 2332"/>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20" name="Text 18"/>
          <p:cNvSpPr/>
          <p:nvPr/>
        </p:nvSpPr>
        <p:spPr>
          <a:xfrm>
            <a:off x="8375904" y="2286000"/>
            <a:ext cx="2980944" cy="320040"/>
          </a:xfrm>
          <a:prstGeom prst="rect">
            <a:avLst/>
          </a:prstGeom>
          <a:noFill/>
          <a:ln/>
        </p:spPr>
        <p:txBody>
          <a:bodyPr wrap="square" lIns="0" tIns="0" rIns="0" bIns="0" rtlCol="0" anchor="ctr"/>
          <a:lstStyle/>
          <a:p>
            <a:pPr indent="0" marL="0">
              <a:buNone/>
            </a:pPr>
            <a:r>
              <a:rPr lang="en-US" sz="1250" b="1" spc="200" kern="0" dirty="0">
                <a:solidFill>
                  <a:srgbClr val="E0A458"/>
                </a:solidFill>
                <a:latin typeface="Montserrat" pitchFamily="34" charset="0"/>
                <a:ea typeface="Montserrat" pitchFamily="34" charset="-122"/>
                <a:cs typeface="Montserrat" pitchFamily="34" charset="-120"/>
              </a:rPr>
              <a:t>PHASE 3</a:t>
            </a:r>
            <a:endParaRPr lang="en-US" sz="1250" dirty="0"/>
          </a:p>
        </p:txBody>
      </p:sp>
      <p:sp>
        <p:nvSpPr>
          <p:cNvPr id="21" name="Text 19"/>
          <p:cNvSpPr/>
          <p:nvPr/>
        </p:nvSpPr>
        <p:spPr>
          <a:xfrm>
            <a:off x="8375904" y="2615184"/>
            <a:ext cx="2980944" cy="640080"/>
          </a:xfrm>
          <a:prstGeom prst="rect">
            <a:avLst/>
          </a:prstGeom>
          <a:noFill/>
          <a:ln/>
        </p:spPr>
        <p:txBody>
          <a:bodyPr wrap="square" lIns="0" tIns="0" rIns="0" bIns="0" rtlCol="0" anchor="ctr"/>
          <a:lstStyle/>
          <a:p>
            <a:pPr indent="0" marL="0">
              <a:lnSpc>
                <a:spcPct val="98000"/>
              </a:lnSpc>
              <a:buNone/>
            </a:pPr>
            <a:r>
              <a:rPr lang="en-US" sz="1700" b="1" dirty="0">
                <a:solidFill>
                  <a:srgbClr val="0F2A43"/>
                </a:solidFill>
                <a:latin typeface="Montserrat" pitchFamily="34" charset="0"/>
                <a:ea typeface="Montserrat" pitchFamily="34" charset="-122"/>
                <a:cs typeface="Montserrat" pitchFamily="34" charset="-120"/>
              </a:rPr>
              <a:t>Adaptation &amp; resiliency</a:t>
            </a:r>
            <a:endParaRPr lang="en-US" sz="1700" dirty="0"/>
          </a:p>
        </p:txBody>
      </p:sp>
      <p:sp>
        <p:nvSpPr>
          <p:cNvPr id="22" name="Text 20"/>
          <p:cNvSpPr/>
          <p:nvPr/>
        </p:nvSpPr>
        <p:spPr>
          <a:xfrm>
            <a:off x="8375904" y="3310128"/>
            <a:ext cx="2980944" cy="1371600"/>
          </a:xfrm>
          <a:prstGeom prst="rect">
            <a:avLst/>
          </a:prstGeom>
          <a:noFill/>
          <a:ln/>
        </p:spPr>
        <p:txBody>
          <a:bodyPr wrap="square" lIns="0" tIns="0" rIns="0" bIns="0" rtlCol="0" anchor="ctr"/>
          <a:lstStyle/>
          <a:p>
            <a:pPr indent="0" marL="0">
              <a:lnSpc>
                <a:spcPct val="118000"/>
              </a:lnSpc>
              <a:buNone/>
            </a:pPr>
            <a:r>
              <a:rPr lang="en-US" sz="1250" dirty="0">
                <a:solidFill>
                  <a:srgbClr val="1B2733"/>
                </a:solidFill>
                <a:latin typeface="Montserrat" pitchFamily="34" charset="0"/>
                <a:ea typeface="Montserrat" pitchFamily="34" charset="-122"/>
                <a:cs typeface="Montserrat" pitchFamily="34" charset="-120"/>
              </a:rPr>
              <a:t>Turn the knobs the curve already exposes — stow, feather, hardening, elevation — and price the trade-off.</a:t>
            </a:r>
            <a:endParaRPr lang="en-US" sz="1250" dirty="0"/>
          </a:p>
        </p:txBody>
      </p:sp>
      <p:sp>
        <p:nvSpPr>
          <p:cNvPr id="23" name="Shape 21"/>
          <p:cNvSpPr/>
          <p:nvPr/>
        </p:nvSpPr>
        <p:spPr>
          <a:xfrm>
            <a:off x="8375904" y="4846320"/>
            <a:ext cx="2980944" cy="384048"/>
          </a:xfrm>
          <a:prstGeom prst="roundRect">
            <a:avLst>
              <a:gd name="adj" fmla="val 50000"/>
            </a:avLst>
          </a:prstGeom>
          <a:solidFill>
            <a:srgbClr val="EEF2F5"/>
          </a:solidFill>
          <a:ln/>
        </p:spPr>
      </p:sp>
      <p:sp>
        <p:nvSpPr>
          <p:cNvPr id="24" name="Text 22"/>
          <p:cNvSpPr/>
          <p:nvPr/>
        </p:nvSpPr>
        <p:spPr>
          <a:xfrm>
            <a:off x="8375904" y="4846320"/>
            <a:ext cx="2980944" cy="384048"/>
          </a:xfrm>
          <a:prstGeom prst="rect">
            <a:avLst/>
          </a:prstGeom>
          <a:noFill/>
          <a:ln/>
        </p:spPr>
        <p:txBody>
          <a:bodyPr wrap="square" lIns="0" tIns="0" rIns="0" bIns="0" rtlCol="0" anchor="ctr"/>
          <a:lstStyle/>
          <a:p>
            <a:pPr algn="ctr" indent="0" marL="0">
              <a:buNone/>
            </a:pPr>
            <a:r>
              <a:rPr lang="en-US" sz="1200" b="1" dirty="0">
                <a:solidFill>
                  <a:srgbClr val="1B3B57"/>
                </a:solidFill>
                <a:latin typeface="Consolas" pitchFamily="34" charset="0"/>
                <a:ea typeface="Consolas" pitchFamily="34" charset="-122"/>
                <a:cs typeface="Consolas" pitchFamily="34" charset="-120"/>
              </a:rPr>
              <a:t>damage = adjusted</a:t>
            </a:r>
            <a:endParaRPr lang="en-US" sz="1200" dirty="0"/>
          </a:p>
        </p:txBody>
      </p:sp>
      <p:sp>
        <p:nvSpPr>
          <p:cNvPr id="25" name="Text 23"/>
          <p:cNvSpPr/>
          <p:nvPr/>
        </p:nvSpPr>
        <p:spPr>
          <a:xfrm>
            <a:off x="8375904" y="5340096"/>
            <a:ext cx="2980944" cy="274320"/>
          </a:xfrm>
          <a:prstGeom prst="rect">
            <a:avLst/>
          </a:prstGeom>
          <a:noFill/>
          <a:ln/>
        </p:spPr>
        <p:txBody>
          <a:bodyPr wrap="square" lIns="0" tIns="0" rIns="0" bIns="0" rtlCol="0" anchor="ctr"/>
          <a:lstStyle/>
          <a:p>
            <a:pPr algn="ctr" indent="0" marL="0">
              <a:buNone/>
            </a:pPr>
            <a:r>
              <a:rPr lang="en-US" sz="1100" i="1" dirty="0">
                <a:solidFill>
                  <a:srgbClr val="5B7184"/>
                </a:solidFill>
                <a:latin typeface="Montserrat" pitchFamily="34" charset="0"/>
                <a:ea typeface="Montserrat" pitchFamily="34" charset="-122"/>
                <a:cs typeface="Montserrat" pitchFamily="34" charset="-120"/>
              </a:rPr>
              <a:t>future</a:t>
            </a:r>
            <a:endParaRPr lang="en-US" sz="1100" dirty="0"/>
          </a:p>
        </p:txBody>
      </p:sp>
      <p:sp>
        <p:nvSpPr>
          <p:cNvPr id="26" name="Text 24"/>
          <p:cNvSpPr/>
          <p:nvPr/>
        </p:nvSpPr>
        <p:spPr>
          <a:xfrm>
            <a:off x="566928" y="5897880"/>
            <a:ext cx="11064240" cy="502920"/>
          </a:xfrm>
          <a:prstGeom prst="rect">
            <a:avLst/>
          </a:prstGeom>
          <a:noFill/>
          <a:ln/>
        </p:spPr>
        <p:txBody>
          <a:bodyPr wrap="square" lIns="0" tIns="0" rIns="0" bIns="0" rtlCol="0" anchor="ctr"/>
          <a:lstStyle/>
          <a:p>
            <a:pPr algn="ctr" indent="0" marL="0">
              <a:buNone/>
            </a:pPr>
            <a:r>
              <a:rPr lang="en-US" sz="1150" i="1" dirty="0">
                <a:solidFill>
                  <a:srgbClr val="5B7184"/>
                </a:solidFill>
                <a:latin typeface="Montserrat" pitchFamily="34" charset="0"/>
                <a:ea typeface="Montserrat" pitchFamily="34" charset="-122"/>
                <a:cs typeface="Montserrat" pitchFamily="34" charset="-120"/>
              </a:rPr>
              <a:t>Phase 2 ↔ 3 is deliberately blurry: the resiliency levers already live in Phase 2 as conditioners / selectors / exposure modifiers. Phase 3 is evidence + magnitude on knobs the curve already has.</a:t>
            </a:r>
            <a:endParaRPr lang="en-US" sz="1150" dirty="0"/>
          </a:p>
        </p:txBody>
      </p:sp>
      <p:sp>
        <p:nvSpPr>
          <p:cNvPr id="27" name="Text 25"/>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28" name="Text 26"/>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docs/damage_curves/SCOPE_AND_STORY.md §2, §8</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5</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14919B"/>
                </a:solidFill>
                <a:latin typeface="Montserrat" pitchFamily="34" charset="0"/>
                <a:ea typeface="Montserrat" pitchFamily="34" charset="-122"/>
                <a:cs typeface="Montserrat" pitchFamily="34" charset="-120"/>
              </a:rPr>
              <a:t>WHY WE MODEL AT THE FAILURE-UNIT</a:t>
            </a:r>
            <a:endParaRPr lang="en-US" sz="1250" dirty="0"/>
          </a:p>
        </p:txBody>
      </p:sp>
      <p:sp>
        <p:nvSpPr>
          <p:cNvPr id="4" name="Text 2"/>
          <p:cNvSpPr/>
          <p:nvPr/>
        </p:nvSpPr>
        <p:spPr>
          <a:xfrm>
            <a:off x="566928" y="786384"/>
            <a:ext cx="10972800" cy="914400"/>
          </a:xfrm>
          <a:prstGeom prst="rect">
            <a:avLst/>
          </a:prstGeom>
          <a:noFill/>
          <a:ln/>
        </p:spPr>
        <p:txBody>
          <a:bodyPr wrap="square" lIns="0" tIns="0" rIns="0" bIns="0" rtlCol="0" anchor="t"/>
          <a:lstStyle/>
          <a:p>
            <a:pPr algn="l" indent="0" marL="0">
              <a:lnSpc>
                <a:spcPct val="98000"/>
              </a:lnSpc>
              <a:buNone/>
            </a:pPr>
            <a:r>
              <a:rPr lang="en-US" sz="3000" b="1" dirty="0">
                <a:solidFill>
                  <a:srgbClr val="0F2A43"/>
                </a:solidFill>
                <a:latin typeface="Montserrat" pitchFamily="34" charset="0"/>
                <a:ea typeface="Montserrat" pitchFamily="34" charset="-122"/>
                <a:cs typeface="Montserrat" pitchFamily="34" charset="-120"/>
              </a:rPr>
              <a:t>One cell can be one curve — or many</a:t>
            </a:r>
            <a:endParaRPr lang="en-US" sz="3000" dirty="0"/>
          </a:p>
        </p:txBody>
      </p:sp>
      <p:sp>
        <p:nvSpPr>
          <p:cNvPr id="5" name="Text 3"/>
          <p:cNvSpPr/>
          <p:nvPr/>
        </p:nvSpPr>
        <p:spPr>
          <a:xfrm>
            <a:off x="566928" y="1481328"/>
            <a:ext cx="11064240" cy="457200"/>
          </a:xfrm>
          <a:prstGeom prst="rect">
            <a:avLst/>
          </a:prstGeom>
          <a:noFill/>
          <a:ln/>
        </p:spPr>
        <p:txBody>
          <a:bodyPr wrap="square" lIns="0" tIns="0" rIns="0" bIns="0" rtlCol="0" anchor="ctr"/>
          <a:lstStyle/>
          <a:p>
            <a:pPr indent="0" marL="0">
              <a:lnSpc>
                <a:spcPct val="112000"/>
              </a:lnSpc>
              <a:buNone/>
            </a:pPr>
            <a:r>
              <a:rPr lang="en-US" sz="1300" dirty="0">
                <a:solidFill>
                  <a:srgbClr val="5B7184"/>
                </a:solidFill>
                <a:latin typeface="Montserrat" pitchFamily="34" charset="0"/>
                <a:ea typeface="Montserrat" pitchFamily="34" charset="-122"/>
                <a:cs typeface="Montserrat" pitchFamily="34" charset="-120"/>
              </a:rPr>
              <a:t>The grain isn't a style choice. Different hazards concentrate damage differently, so the same asset needs a different number of curves depending on the hazard.</a:t>
            </a:r>
            <a:endParaRPr lang="en-US" sz="1300" dirty="0"/>
          </a:p>
        </p:txBody>
      </p:sp>
      <p:sp>
        <p:nvSpPr>
          <p:cNvPr id="6" name="Shape 4"/>
          <p:cNvSpPr/>
          <p:nvPr/>
        </p:nvSpPr>
        <p:spPr>
          <a:xfrm>
            <a:off x="566928" y="2103120"/>
            <a:ext cx="5486400" cy="3840480"/>
          </a:xfrm>
          <a:prstGeom prst="roundRect">
            <a:avLst>
              <a:gd name="adj" fmla="val 2143"/>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7" name="Text 5"/>
          <p:cNvSpPr/>
          <p:nvPr/>
        </p:nvSpPr>
        <p:spPr>
          <a:xfrm>
            <a:off x="841248" y="2286000"/>
            <a:ext cx="4937760" cy="365760"/>
          </a:xfrm>
          <a:prstGeom prst="rect">
            <a:avLst/>
          </a:prstGeom>
          <a:noFill/>
          <a:ln/>
        </p:spPr>
        <p:txBody>
          <a:bodyPr wrap="square" lIns="0" tIns="0" rIns="0" bIns="0" rtlCol="0" anchor="ctr"/>
          <a:lstStyle/>
          <a:p>
            <a:pPr indent="0" marL="0">
              <a:buNone/>
            </a:pPr>
            <a:r>
              <a:rPr lang="en-US" sz="1500" b="1" spc="100" kern="0" dirty="0">
                <a:solidFill>
                  <a:srgbClr val="14919B"/>
                </a:solidFill>
                <a:latin typeface="Montserrat" pitchFamily="34" charset="0"/>
                <a:ea typeface="Montserrat" pitchFamily="34" charset="-122"/>
                <a:cs typeface="Montserrat" pitchFamily="34" charset="-120"/>
              </a:rPr>
              <a:t>HAIL × SOLAR</a:t>
            </a:r>
            <a:endParaRPr lang="en-US" sz="1500" dirty="0"/>
          </a:p>
        </p:txBody>
      </p:sp>
      <p:sp>
        <p:nvSpPr>
          <p:cNvPr id="8" name="Text 6"/>
          <p:cNvSpPr/>
          <p:nvPr/>
        </p:nvSpPr>
        <p:spPr>
          <a:xfrm>
            <a:off x="841248" y="2651760"/>
            <a:ext cx="4937760" cy="365760"/>
          </a:xfrm>
          <a:prstGeom prst="rect">
            <a:avLst/>
          </a:prstGeom>
          <a:noFill/>
          <a:ln/>
        </p:spPr>
        <p:txBody>
          <a:bodyPr wrap="square" lIns="0" tIns="0" rIns="0" bIns="0" rtlCol="0" anchor="ctr"/>
          <a:lstStyle/>
          <a:p>
            <a:pPr indent="0" marL="0">
              <a:buNone/>
            </a:pPr>
            <a:r>
              <a:rPr lang="en-US" sz="1350" b="1" dirty="0">
                <a:solidFill>
                  <a:srgbClr val="0F2A43"/>
                </a:solidFill>
                <a:latin typeface="Montserrat" pitchFamily="34" charset="0"/>
                <a:ea typeface="Montserrat" pitchFamily="34" charset="-122"/>
                <a:cs typeface="Montserrat" pitchFamily="34" charset="-120"/>
              </a:rPr>
              <a:t>Damage collapses onto essentially one thing</a:t>
            </a:r>
            <a:endParaRPr lang="en-US" sz="1350" dirty="0"/>
          </a:p>
        </p:txBody>
      </p:sp>
      <p:sp>
        <p:nvSpPr>
          <p:cNvPr id="9" name="Text 7"/>
          <p:cNvSpPr/>
          <p:nvPr/>
        </p:nvSpPr>
        <p:spPr>
          <a:xfrm>
            <a:off x="841248" y="3108960"/>
            <a:ext cx="5029200" cy="1737360"/>
          </a:xfrm>
          <a:prstGeom prst="rect">
            <a:avLst/>
          </a:prstGeom>
          <a:noFill/>
          <a:ln/>
        </p:spPr>
        <p:txBody>
          <a:bodyPr wrap="square" lIns="0" tIns="0" rIns="0" bIns="0" rtlCol="0" anchor="ctr"/>
          <a:lstStyle/>
          <a:p>
            <a:pPr marL="165100" indent="-165100">
              <a:spcAft>
                <a:spcPts val="500"/>
              </a:spcAft>
              <a:buSzPct val="100000"/>
              <a:buChar char="•"/>
            </a:pPr>
            <a:r>
              <a:rPr lang="en-US" sz="1250" b="1" dirty="0">
                <a:solidFill>
                  <a:srgbClr val="0F2A43"/>
                </a:solidFill>
                <a:latin typeface="Montserrat" pitchFamily="34" charset="0"/>
                <a:ea typeface="Montserrat" pitchFamily="34" charset="-122"/>
                <a:cs typeface="Montserrat" pitchFamily="34" charset="-120"/>
              </a:rPr>
              <a:t>PV module glass / cell</a:t>
            </a:r>
            <a:endParaRPr lang="en-US" sz="1250" dirty="0"/>
          </a:p>
          <a:p>
            <a:pPr lvl="1" marL="330200" indent="-165100">
              <a:spcAft>
                <a:spcPts val="900"/>
              </a:spcAft>
              <a:buSzPct val="100000"/>
              <a:buChar char="•"/>
            </a:pPr>
            <a:r>
              <a:rPr lang="en-US" sz="1250" dirty="0">
                <a:solidFill>
                  <a:srgbClr val="5B7184"/>
                </a:solidFill>
                <a:latin typeface="Montserrat" pitchFamily="34" charset="0"/>
                <a:ea typeface="Montserrat" pitchFamily="34" charset="-122"/>
                <a:cs typeface="Montserrat" pitchFamily="34" charset="-120"/>
              </a:rPr>
              <a:t>primary-nonzero — carries the curve</a:t>
            </a:r>
            <a:endParaRPr lang="en-US" sz="1250" dirty="0"/>
          </a:p>
          <a:p>
            <a:pPr marL="165100" indent="-165100">
              <a:spcAft>
                <a:spcPts val="500"/>
              </a:spcAft>
              <a:buSzPct val="100000"/>
              <a:buChar char="•"/>
            </a:pPr>
            <a:r>
              <a:rPr lang="en-US" sz="1250" dirty="0">
                <a:solidFill>
                  <a:srgbClr val="1B2733"/>
                </a:solidFill>
                <a:latin typeface="Montserrat" pitchFamily="34" charset="0"/>
                <a:ea typeface="Montserrat" pitchFamily="34" charset="-122"/>
                <a:cs typeface="Montserrat" pitchFamily="34" charset="-120"/>
              </a:rPr>
              <a:t>mounting / inverter / racking / substation</a:t>
            </a:r>
            <a:endParaRPr lang="en-US" sz="1250" dirty="0"/>
          </a:p>
          <a:p>
            <a:pPr lvl="1" marL="330200" indent="-165100">
              <a:buSzPct val="100000"/>
              <a:buChar char="•"/>
            </a:pPr>
            <a:r>
              <a:rPr lang="en-US" sz="1250" dirty="0">
                <a:solidFill>
                  <a:srgbClr val="5B7184"/>
                </a:solidFill>
                <a:latin typeface="Montserrat" pitchFamily="34" charset="0"/>
                <a:ea typeface="Montserrat" pitchFamily="34" charset="-122"/>
                <a:cs typeface="Montserrat" pitchFamily="34" charset="-120"/>
              </a:rPr>
              <a:t>reviewed, tagged DR ≈ 0 for direct hail</a:t>
            </a:r>
            <a:endParaRPr lang="en-US" sz="1250" dirty="0"/>
          </a:p>
        </p:txBody>
      </p:sp>
      <p:sp>
        <p:nvSpPr>
          <p:cNvPr id="10" name="Shape 8"/>
          <p:cNvSpPr/>
          <p:nvPr/>
        </p:nvSpPr>
        <p:spPr>
          <a:xfrm>
            <a:off x="841248" y="5212080"/>
            <a:ext cx="4937760" cy="502920"/>
          </a:xfrm>
          <a:prstGeom prst="roundRect">
            <a:avLst>
              <a:gd name="adj" fmla="val 18182"/>
            </a:avLst>
          </a:prstGeom>
          <a:solidFill>
            <a:srgbClr val="F0F7F8"/>
          </a:solidFill>
          <a:ln/>
        </p:spPr>
      </p:sp>
      <p:sp>
        <p:nvSpPr>
          <p:cNvPr id="11" name="Text 9"/>
          <p:cNvSpPr/>
          <p:nvPr/>
        </p:nvSpPr>
        <p:spPr>
          <a:xfrm>
            <a:off x="841248" y="5212080"/>
            <a:ext cx="4937760" cy="502920"/>
          </a:xfrm>
          <a:prstGeom prst="rect">
            <a:avLst/>
          </a:prstGeom>
          <a:noFill/>
          <a:ln/>
        </p:spPr>
        <p:txBody>
          <a:bodyPr wrap="square" lIns="0" tIns="0" rIns="0" bIns="0" rtlCol="0" anchor="ctr"/>
          <a:lstStyle/>
          <a:p>
            <a:pPr algn="ctr" indent="0" marL="0">
              <a:buNone/>
            </a:pPr>
            <a:r>
              <a:rPr lang="en-US" sz="1250" b="1" dirty="0">
                <a:solidFill>
                  <a:srgbClr val="0F2A43"/>
                </a:solidFill>
                <a:latin typeface="Montserrat" pitchFamily="34" charset="0"/>
                <a:ea typeface="Montserrat" pitchFamily="34" charset="-122"/>
                <a:cs typeface="Montserrat" pitchFamily="34" charset="-120"/>
              </a:rPr>
              <a:t>⇒  one primary curve drives the cell</a:t>
            </a:r>
            <a:endParaRPr lang="en-US" sz="1250" dirty="0"/>
          </a:p>
        </p:txBody>
      </p:sp>
      <p:sp>
        <p:nvSpPr>
          <p:cNvPr id="12" name="Shape 10"/>
          <p:cNvSpPr/>
          <p:nvPr/>
        </p:nvSpPr>
        <p:spPr>
          <a:xfrm>
            <a:off x="6153912" y="2103120"/>
            <a:ext cx="5486400" cy="3840480"/>
          </a:xfrm>
          <a:prstGeom prst="roundRect">
            <a:avLst>
              <a:gd name="adj" fmla="val 2143"/>
            </a:avLst>
          </a:prstGeom>
          <a:solidFill>
            <a:srgbClr val="D7EEF1"/>
          </a:solidFill>
          <a:ln w="19050">
            <a:solidFill>
              <a:srgbClr val="14919B"/>
            </a:solidFill>
            <a:prstDash val="solid"/>
          </a:ln>
          <a:effectLst>
            <a:outerShdw sx="100000" sy="100000" kx="0" ky="0" algn="bl" rotWithShape="0" blurRad="114300" dist="38100" dir="5400000">
              <a:srgbClr val="0F2A43">
                <a:alpha val="13000"/>
              </a:srgbClr>
            </a:outerShdw>
          </a:effectLst>
        </p:spPr>
      </p:sp>
      <p:sp>
        <p:nvSpPr>
          <p:cNvPr id="13" name="Text 11"/>
          <p:cNvSpPr/>
          <p:nvPr/>
        </p:nvSpPr>
        <p:spPr>
          <a:xfrm>
            <a:off x="6428232" y="2286000"/>
            <a:ext cx="4937760" cy="365760"/>
          </a:xfrm>
          <a:prstGeom prst="rect">
            <a:avLst/>
          </a:prstGeom>
          <a:noFill/>
          <a:ln/>
        </p:spPr>
        <p:txBody>
          <a:bodyPr wrap="square" lIns="0" tIns="0" rIns="0" bIns="0" rtlCol="0" anchor="ctr"/>
          <a:lstStyle/>
          <a:p>
            <a:pPr indent="0" marL="0">
              <a:buNone/>
            </a:pPr>
            <a:r>
              <a:rPr lang="en-US" sz="1500" b="1" spc="100" kern="0" dirty="0">
                <a:solidFill>
                  <a:srgbClr val="0F2A43"/>
                </a:solidFill>
                <a:latin typeface="Montserrat" pitchFamily="34" charset="0"/>
                <a:ea typeface="Montserrat" pitchFamily="34" charset="-122"/>
                <a:cs typeface="Montserrat" pitchFamily="34" charset="-120"/>
              </a:rPr>
              <a:t>FLOOD × SOLAR</a:t>
            </a:r>
            <a:endParaRPr lang="en-US" sz="1500" dirty="0"/>
          </a:p>
        </p:txBody>
      </p:sp>
      <p:sp>
        <p:nvSpPr>
          <p:cNvPr id="14" name="Text 12"/>
          <p:cNvSpPr/>
          <p:nvPr/>
        </p:nvSpPr>
        <p:spPr>
          <a:xfrm>
            <a:off x="6428232" y="2651760"/>
            <a:ext cx="4937760" cy="365760"/>
          </a:xfrm>
          <a:prstGeom prst="rect">
            <a:avLst/>
          </a:prstGeom>
          <a:noFill/>
          <a:ln/>
        </p:spPr>
        <p:txBody>
          <a:bodyPr wrap="square" lIns="0" tIns="0" rIns="0" bIns="0" rtlCol="0" anchor="ctr"/>
          <a:lstStyle/>
          <a:p>
            <a:pPr indent="0" marL="0">
              <a:buNone/>
            </a:pPr>
            <a:r>
              <a:rPr lang="en-US" sz="1350" b="1" dirty="0">
                <a:solidFill>
                  <a:srgbClr val="0F2A43"/>
                </a:solidFill>
                <a:latin typeface="Montserrat" pitchFamily="34" charset="0"/>
                <a:ea typeface="Montserrat" pitchFamily="34" charset="-122"/>
                <a:cs typeface="Montserrat" pitchFamily="34" charset="-120"/>
              </a:rPr>
              <a:t>Damage spreads across many local-exposure units</a:t>
            </a:r>
            <a:endParaRPr lang="en-US" sz="1350" dirty="0"/>
          </a:p>
        </p:txBody>
      </p:sp>
      <p:sp>
        <p:nvSpPr>
          <p:cNvPr id="15" name="Text 13"/>
          <p:cNvSpPr/>
          <p:nvPr/>
        </p:nvSpPr>
        <p:spPr>
          <a:xfrm>
            <a:off x="6428232" y="3108960"/>
            <a:ext cx="5029200" cy="173736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1B3B57"/>
                </a:solidFill>
                <a:latin typeface="Montserrat" pitchFamily="34" charset="0"/>
                <a:ea typeface="Montserrat" pitchFamily="34" charset="-122"/>
                <a:cs typeface="Montserrat" pitchFamily="34" charset="-120"/>
              </a:rPr>
              <a:t>inverter · switchgear · transformer controls</a:t>
            </a:r>
            <a:endParaRPr lang="en-US" sz="1250" dirty="0"/>
          </a:p>
          <a:p>
            <a:pPr marL="165100" indent="-165100">
              <a:spcAft>
                <a:spcPts val="500"/>
              </a:spcAft>
              <a:buSzPct val="100000"/>
              <a:buChar char="•"/>
            </a:pPr>
            <a:r>
              <a:rPr lang="en-US" sz="1250" dirty="0">
                <a:solidFill>
                  <a:srgbClr val="1B3B57"/>
                </a:solidFill>
                <a:latin typeface="Montserrat" pitchFamily="34" charset="0"/>
                <a:ea typeface="Montserrat" pitchFamily="34" charset="-122"/>
                <a:cs typeface="Montserrat" pitchFamily="34" charset="-120"/>
              </a:rPr>
              <a:t>combiner / DC protection · SCADA cabinets</a:t>
            </a:r>
            <a:endParaRPr lang="en-US" sz="1250" dirty="0"/>
          </a:p>
          <a:p>
            <a:pPr marL="165100" indent="-165100">
              <a:spcAft>
                <a:spcPts val="500"/>
              </a:spcAft>
              <a:buSzPct val="100000"/>
              <a:buChar char="•"/>
            </a:pPr>
            <a:r>
              <a:rPr lang="en-US" sz="1250" dirty="0">
                <a:solidFill>
                  <a:srgbClr val="1B3B57"/>
                </a:solidFill>
                <a:latin typeface="Montserrat" pitchFamily="34" charset="0"/>
                <a:ea typeface="Montserrat" pitchFamily="34" charset="-122"/>
                <a:cs typeface="Montserrat" pitchFamily="34" charset="-120"/>
              </a:rPr>
              <a:t>cable / conduit · foundation scour · modules</a:t>
            </a:r>
            <a:endParaRPr lang="en-US" sz="1250" dirty="0"/>
          </a:p>
          <a:p>
            <a:pPr marL="165100" indent="-165100">
              <a:buSzPct val="100000"/>
              <a:buChar char="•"/>
            </a:pPr>
            <a:r>
              <a:rPr lang="en-US" sz="1250" i="1" dirty="0">
                <a:solidFill>
                  <a:srgbClr val="1B3B57"/>
                </a:solidFill>
                <a:latin typeface="Montserrat" pitchFamily="34" charset="0"/>
                <a:ea typeface="Montserrat" pitchFamily="34" charset="-122"/>
                <a:cs typeface="Montserrat" pitchFamily="34" charset="-120"/>
              </a:rPr>
              <a:t>each has its own datum &amp; replacement logic</a:t>
            </a:r>
            <a:endParaRPr lang="en-US" sz="1250" dirty="0"/>
          </a:p>
        </p:txBody>
      </p:sp>
      <p:sp>
        <p:nvSpPr>
          <p:cNvPr id="16" name="Shape 14"/>
          <p:cNvSpPr/>
          <p:nvPr/>
        </p:nvSpPr>
        <p:spPr>
          <a:xfrm>
            <a:off x="6428232" y="5212080"/>
            <a:ext cx="4937760" cy="502920"/>
          </a:xfrm>
          <a:prstGeom prst="roundRect">
            <a:avLst>
              <a:gd name="adj" fmla="val 18182"/>
            </a:avLst>
          </a:prstGeom>
          <a:solidFill>
            <a:srgbClr val="14919B"/>
          </a:solidFill>
          <a:ln/>
        </p:spPr>
      </p:sp>
      <p:sp>
        <p:nvSpPr>
          <p:cNvPr id="17" name="Text 15"/>
          <p:cNvSpPr/>
          <p:nvPr/>
        </p:nvSpPr>
        <p:spPr>
          <a:xfrm>
            <a:off x="6428232" y="5212080"/>
            <a:ext cx="493776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ontserrat" pitchFamily="34" charset="0"/>
                <a:ea typeface="Montserrat" pitchFamily="34" charset="-122"/>
                <a:cs typeface="Montserrat" pitchFamily="34" charset="-120"/>
              </a:rPr>
              <a:t>⇒  a family of curves, composed by summation</a:t>
            </a:r>
            <a:endParaRPr lang="en-US" sz="1250" dirty="0"/>
          </a:p>
        </p:txBody>
      </p:sp>
      <p:sp>
        <p:nvSpPr>
          <p:cNvPr id="18" name="Text 16"/>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19" name="Text 17"/>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01_cells/hail_solar · 01_cells/flood_solar (README v1)</a:t>
            </a:r>
            <a:endParaRPr lang="en-US" sz="7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A43"/>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8FA6B5"/>
                </a:solidFill>
                <a:latin typeface="Montserrat" pitchFamily="34" charset="0"/>
                <a:ea typeface="Montserrat" pitchFamily="34" charset="-122"/>
                <a:cs typeface="Montserrat" pitchFamily="34" charset="-120"/>
              </a:rPr>
              <a:t>6</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2DB7C3"/>
                </a:solidFill>
                <a:latin typeface="Montserrat" pitchFamily="34" charset="0"/>
                <a:ea typeface="Montserrat" pitchFamily="34" charset="-122"/>
                <a:cs typeface="Montserrat" pitchFamily="34" charset="-120"/>
              </a:rPr>
              <a:t>THE BUILD PIPELINE</a:t>
            </a:r>
            <a:endParaRPr lang="en-US" sz="1250" dirty="0"/>
          </a:p>
        </p:txBody>
      </p:sp>
      <p:sp>
        <p:nvSpPr>
          <p:cNvPr id="4" name="Text 2"/>
          <p:cNvSpPr/>
          <p:nvPr/>
        </p:nvSpPr>
        <p:spPr>
          <a:xfrm>
            <a:off x="566928" y="786384"/>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Seven stages, in strict order</a:t>
            </a:r>
            <a:endParaRPr lang="en-US" sz="3000" dirty="0"/>
          </a:p>
        </p:txBody>
      </p:sp>
      <p:sp>
        <p:nvSpPr>
          <p:cNvPr id="5" name="Text 3"/>
          <p:cNvSpPr/>
          <p:nvPr/>
        </p:nvSpPr>
        <p:spPr>
          <a:xfrm>
            <a:off x="566928" y="1481328"/>
            <a:ext cx="11064240" cy="457200"/>
          </a:xfrm>
          <a:prstGeom prst="rect">
            <a:avLst/>
          </a:prstGeom>
          <a:noFill/>
          <a:ln/>
        </p:spPr>
        <p:txBody>
          <a:bodyPr wrap="square" lIns="0" tIns="0" rIns="0" bIns="0" rtlCol="0" anchor="ctr"/>
          <a:lstStyle/>
          <a:p>
            <a:pPr indent="0" marL="0">
              <a:lnSpc>
                <a:spcPct val="112000"/>
              </a:lnSpc>
              <a:buNone/>
            </a:pPr>
            <a:r>
              <a:rPr lang="en-US" sz="1300" dirty="0">
                <a:solidFill>
                  <a:srgbClr val="C7D6E0"/>
                </a:solidFill>
                <a:latin typeface="Montserrat" pitchFamily="34" charset="0"/>
                <a:ea typeface="Montserrat" pitchFamily="34" charset="-122"/>
                <a:cs typeface="Montserrat" pitchFamily="34" charset="-120"/>
              </a:rPr>
              <a:t>Each stage has one decisive question, one input, one output. The order is forced: you can't choose the form before the axis, or the axis before the grain.</a:t>
            </a:r>
            <a:endParaRPr lang="en-US" sz="1300" dirty="0"/>
          </a:p>
        </p:txBody>
      </p:sp>
      <p:sp>
        <p:nvSpPr>
          <p:cNvPr id="6" name="Shape 4"/>
          <p:cNvSpPr/>
          <p:nvPr/>
        </p:nvSpPr>
        <p:spPr>
          <a:xfrm>
            <a:off x="566928" y="2286000"/>
            <a:ext cx="2670048" cy="1481328"/>
          </a:xfrm>
          <a:prstGeom prst="roundRect">
            <a:avLst>
              <a:gd name="adj" fmla="val 5556"/>
            </a:avLst>
          </a:prstGeom>
          <a:solidFill>
            <a:srgbClr val="1B3B57"/>
          </a:solidFill>
          <a:ln w="12700">
            <a:solidFill>
              <a:srgbClr val="2C4B66"/>
            </a:solidFill>
            <a:prstDash val="solid"/>
          </a:ln>
        </p:spPr>
      </p:sp>
      <p:sp>
        <p:nvSpPr>
          <p:cNvPr id="7" name="Shape 5"/>
          <p:cNvSpPr/>
          <p:nvPr/>
        </p:nvSpPr>
        <p:spPr>
          <a:xfrm>
            <a:off x="749808" y="2468880"/>
            <a:ext cx="420624" cy="420624"/>
          </a:xfrm>
          <a:prstGeom prst="ellipse">
            <a:avLst/>
          </a:prstGeom>
          <a:solidFill>
            <a:srgbClr val="14919B"/>
          </a:solidFill>
          <a:ln/>
        </p:spPr>
      </p:sp>
      <p:sp>
        <p:nvSpPr>
          <p:cNvPr id="8" name="Text 6"/>
          <p:cNvSpPr/>
          <p:nvPr/>
        </p:nvSpPr>
        <p:spPr>
          <a:xfrm>
            <a:off x="749808"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9" name="Text 7"/>
          <p:cNvSpPr/>
          <p:nvPr/>
        </p:nvSpPr>
        <p:spPr>
          <a:xfrm>
            <a:off x="1243584" y="2487168"/>
            <a:ext cx="1892808" cy="384048"/>
          </a:xfrm>
          <a:prstGeom prst="rect">
            <a:avLst/>
          </a:prstGeom>
          <a:noFill/>
          <a:ln/>
        </p:spPr>
        <p:txBody>
          <a:bodyPr wrap="square" lIns="0" tIns="0" rIns="0" bIns="0" rtlCol="0" anchor="ctr"/>
          <a:lstStyle/>
          <a:p>
            <a:pPr indent="0" marL="0">
              <a:buNone/>
            </a:pPr>
            <a:r>
              <a:rPr lang="en-US" sz="1450" b="1" spc="100" kern="0" dirty="0">
                <a:solidFill>
                  <a:srgbClr val="FFFFFF"/>
                </a:solidFill>
                <a:latin typeface="Montserrat" pitchFamily="34" charset="0"/>
                <a:ea typeface="Montserrat" pitchFamily="34" charset="-122"/>
                <a:cs typeface="Montserrat" pitchFamily="34" charset="-120"/>
              </a:rPr>
              <a:t>EVIDENCE</a:t>
            </a:r>
            <a:endParaRPr lang="en-US" sz="1450" dirty="0"/>
          </a:p>
        </p:txBody>
      </p:sp>
      <p:sp>
        <p:nvSpPr>
          <p:cNvPr id="10" name="Text 8"/>
          <p:cNvSpPr/>
          <p:nvPr/>
        </p:nvSpPr>
        <p:spPr>
          <a:xfrm>
            <a:off x="749808" y="2962656"/>
            <a:ext cx="2304288" cy="713232"/>
          </a:xfrm>
          <a:prstGeom prst="rect">
            <a:avLst/>
          </a:prstGeom>
          <a:noFill/>
          <a:ln/>
        </p:spPr>
        <p:txBody>
          <a:bodyPr wrap="square" lIns="0" tIns="0" rIns="0" bIns="0" rtlCol="0" anchor="ctr"/>
          <a:lstStyle/>
          <a:p>
            <a:pPr indent="0" marL="0">
              <a:lnSpc>
                <a:spcPct val="108000"/>
              </a:lnSpc>
              <a:buNone/>
            </a:pPr>
            <a:r>
              <a:rPr lang="en-US" sz="1030" dirty="0">
                <a:solidFill>
                  <a:srgbClr val="AFC2CF"/>
                </a:solidFill>
                <a:latin typeface="Montserrat" pitchFamily="34" charset="0"/>
                <a:ea typeface="Montserrat" pitchFamily="34" charset="-122"/>
                <a:cs typeface="Montserrat" pitchFamily="34" charset="-120"/>
              </a:rPr>
              <a:t>What does the curated base authorize the curve to claim?</a:t>
            </a:r>
            <a:endParaRPr lang="en-US" sz="1030" dirty="0"/>
          </a:p>
        </p:txBody>
      </p:sp>
      <p:sp>
        <p:nvSpPr>
          <p:cNvPr id="11" name="Shape 9"/>
          <p:cNvSpPr/>
          <p:nvPr/>
        </p:nvSpPr>
        <p:spPr>
          <a:xfrm>
            <a:off x="3241548" y="3026664"/>
            <a:ext cx="155448" cy="0"/>
          </a:xfrm>
          <a:prstGeom prst="line">
            <a:avLst/>
          </a:prstGeom>
          <a:noFill/>
          <a:ln w="27940">
            <a:solidFill>
              <a:srgbClr val="E0A458"/>
            </a:solidFill>
            <a:prstDash val="solid"/>
            <a:tailEnd type="triangle"/>
          </a:ln>
        </p:spPr>
      </p:sp>
      <p:sp>
        <p:nvSpPr>
          <p:cNvPr id="12" name="Shape 10"/>
          <p:cNvSpPr/>
          <p:nvPr/>
        </p:nvSpPr>
        <p:spPr>
          <a:xfrm>
            <a:off x="3401568" y="2286000"/>
            <a:ext cx="2670048" cy="1481328"/>
          </a:xfrm>
          <a:prstGeom prst="roundRect">
            <a:avLst>
              <a:gd name="adj" fmla="val 5556"/>
            </a:avLst>
          </a:prstGeom>
          <a:solidFill>
            <a:srgbClr val="1B3B57"/>
          </a:solidFill>
          <a:ln w="12700">
            <a:solidFill>
              <a:srgbClr val="2C4B66"/>
            </a:solidFill>
            <a:prstDash val="solid"/>
          </a:ln>
        </p:spPr>
      </p:sp>
      <p:sp>
        <p:nvSpPr>
          <p:cNvPr id="13" name="Shape 11"/>
          <p:cNvSpPr/>
          <p:nvPr/>
        </p:nvSpPr>
        <p:spPr>
          <a:xfrm>
            <a:off x="3584448" y="2468880"/>
            <a:ext cx="420624" cy="420624"/>
          </a:xfrm>
          <a:prstGeom prst="ellipse">
            <a:avLst/>
          </a:prstGeom>
          <a:solidFill>
            <a:srgbClr val="14919B"/>
          </a:solidFill>
          <a:ln/>
        </p:spPr>
      </p:sp>
      <p:sp>
        <p:nvSpPr>
          <p:cNvPr id="14" name="Text 12"/>
          <p:cNvSpPr/>
          <p:nvPr/>
        </p:nvSpPr>
        <p:spPr>
          <a:xfrm>
            <a:off x="3584448"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5" name="Text 13"/>
          <p:cNvSpPr/>
          <p:nvPr/>
        </p:nvSpPr>
        <p:spPr>
          <a:xfrm>
            <a:off x="4078224" y="2487168"/>
            <a:ext cx="1892808" cy="384048"/>
          </a:xfrm>
          <a:prstGeom prst="rect">
            <a:avLst/>
          </a:prstGeom>
          <a:noFill/>
          <a:ln/>
        </p:spPr>
        <p:txBody>
          <a:bodyPr wrap="square" lIns="0" tIns="0" rIns="0" bIns="0" rtlCol="0" anchor="ctr"/>
          <a:lstStyle/>
          <a:p>
            <a:pPr indent="0" marL="0">
              <a:buNone/>
            </a:pPr>
            <a:r>
              <a:rPr lang="en-US" sz="1450" b="1" spc="100" kern="0" dirty="0">
                <a:solidFill>
                  <a:srgbClr val="FFFFFF"/>
                </a:solidFill>
                <a:latin typeface="Montserrat" pitchFamily="34" charset="0"/>
                <a:ea typeface="Montserrat" pitchFamily="34" charset="-122"/>
                <a:cs typeface="Montserrat" pitchFamily="34" charset="-120"/>
              </a:rPr>
              <a:t>GRAIN</a:t>
            </a:r>
            <a:endParaRPr lang="en-US" sz="1450" dirty="0"/>
          </a:p>
        </p:txBody>
      </p:sp>
      <p:sp>
        <p:nvSpPr>
          <p:cNvPr id="16" name="Text 14"/>
          <p:cNvSpPr/>
          <p:nvPr/>
        </p:nvSpPr>
        <p:spPr>
          <a:xfrm>
            <a:off x="3584448" y="2962656"/>
            <a:ext cx="2304288" cy="713232"/>
          </a:xfrm>
          <a:prstGeom prst="rect">
            <a:avLst/>
          </a:prstGeom>
          <a:noFill/>
          <a:ln/>
        </p:spPr>
        <p:txBody>
          <a:bodyPr wrap="square" lIns="0" tIns="0" rIns="0" bIns="0" rtlCol="0" anchor="ctr"/>
          <a:lstStyle/>
          <a:p>
            <a:pPr indent="0" marL="0">
              <a:lnSpc>
                <a:spcPct val="108000"/>
              </a:lnSpc>
              <a:buNone/>
            </a:pPr>
            <a:r>
              <a:rPr lang="en-US" sz="1030" dirty="0">
                <a:solidFill>
                  <a:srgbClr val="AFC2CF"/>
                </a:solidFill>
                <a:latin typeface="Montserrat" pitchFamily="34" charset="0"/>
                <a:ea typeface="Montserrat" pitchFamily="34" charset="-122"/>
                <a:cs typeface="Montserrat" pitchFamily="34" charset="-120"/>
              </a:rPr>
              <a:t>At what level is a curve written — and how do levels compose?</a:t>
            </a:r>
            <a:endParaRPr lang="en-US" sz="1030" dirty="0"/>
          </a:p>
        </p:txBody>
      </p:sp>
      <p:sp>
        <p:nvSpPr>
          <p:cNvPr id="17" name="Shape 15"/>
          <p:cNvSpPr/>
          <p:nvPr/>
        </p:nvSpPr>
        <p:spPr>
          <a:xfrm>
            <a:off x="6076188" y="3026664"/>
            <a:ext cx="155448" cy="0"/>
          </a:xfrm>
          <a:prstGeom prst="line">
            <a:avLst/>
          </a:prstGeom>
          <a:noFill/>
          <a:ln w="27940">
            <a:solidFill>
              <a:srgbClr val="E0A458"/>
            </a:solidFill>
            <a:prstDash val="solid"/>
            <a:tailEnd type="triangle"/>
          </a:ln>
        </p:spPr>
      </p:sp>
      <p:sp>
        <p:nvSpPr>
          <p:cNvPr id="18" name="Shape 16"/>
          <p:cNvSpPr/>
          <p:nvPr/>
        </p:nvSpPr>
        <p:spPr>
          <a:xfrm>
            <a:off x="6236208" y="2286000"/>
            <a:ext cx="2670048" cy="1481328"/>
          </a:xfrm>
          <a:prstGeom prst="roundRect">
            <a:avLst>
              <a:gd name="adj" fmla="val 5556"/>
            </a:avLst>
          </a:prstGeom>
          <a:solidFill>
            <a:srgbClr val="1B3B57"/>
          </a:solidFill>
          <a:ln w="12700">
            <a:solidFill>
              <a:srgbClr val="2C4B66"/>
            </a:solidFill>
            <a:prstDash val="solid"/>
          </a:ln>
        </p:spPr>
      </p:sp>
      <p:sp>
        <p:nvSpPr>
          <p:cNvPr id="19" name="Shape 17"/>
          <p:cNvSpPr/>
          <p:nvPr/>
        </p:nvSpPr>
        <p:spPr>
          <a:xfrm>
            <a:off x="6419088" y="2468880"/>
            <a:ext cx="420624" cy="420624"/>
          </a:xfrm>
          <a:prstGeom prst="ellipse">
            <a:avLst/>
          </a:prstGeom>
          <a:solidFill>
            <a:srgbClr val="14919B"/>
          </a:solidFill>
          <a:ln/>
        </p:spPr>
      </p:sp>
      <p:sp>
        <p:nvSpPr>
          <p:cNvPr id="20" name="Text 18"/>
          <p:cNvSpPr/>
          <p:nvPr/>
        </p:nvSpPr>
        <p:spPr>
          <a:xfrm>
            <a:off x="6419088"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1" name="Text 19"/>
          <p:cNvSpPr/>
          <p:nvPr/>
        </p:nvSpPr>
        <p:spPr>
          <a:xfrm>
            <a:off x="6912864" y="2487168"/>
            <a:ext cx="1892808" cy="384048"/>
          </a:xfrm>
          <a:prstGeom prst="rect">
            <a:avLst/>
          </a:prstGeom>
          <a:noFill/>
          <a:ln/>
        </p:spPr>
        <p:txBody>
          <a:bodyPr wrap="square" lIns="0" tIns="0" rIns="0" bIns="0" rtlCol="0" anchor="ctr"/>
          <a:lstStyle/>
          <a:p>
            <a:pPr indent="0" marL="0">
              <a:buNone/>
            </a:pPr>
            <a:r>
              <a:rPr lang="en-US" sz="1450" b="1" spc="100" kern="0" dirty="0">
                <a:solidFill>
                  <a:srgbClr val="FFFFFF"/>
                </a:solidFill>
                <a:latin typeface="Montserrat" pitchFamily="34" charset="0"/>
                <a:ea typeface="Montserrat" pitchFamily="34" charset="-122"/>
                <a:cs typeface="Montserrat" pitchFamily="34" charset="-120"/>
              </a:rPr>
              <a:t>AXIS</a:t>
            </a:r>
            <a:endParaRPr lang="en-US" sz="1450" dirty="0"/>
          </a:p>
        </p:txBody>
      </p:sp>
      <p:sp>
        <p:nvSpPr>
          <p:cNvPr id="22" name="Text 20"/>
          <p:cNvSpPr/>
          <p:nvPr/>
        </p:nvSpPr>
        <p:spPr>
          <a:xfrm>
            <a:off x="6419088" y="2962656"/>
            <a:ext cx="2304288" cy="713232"/>
          </a:xfrm>
          <a:prstGeom prst="rect">
            <a:avLst/>
          </a:prstGeom>
          <a:noFill/>
          <a:ln/>
        </p:spPr>
        <p:txBody>
          <a:bodyPr wrap="square" lIns="0" tIns="0" rIns="0" bIns="0" rtlCol="0" anchor="ctr"/>
          <a:lstStyle/>
          <a:p>
            <a:pPr indent="0" marL="0">
              <a:lnSpc>
                <a:spcPct val="108000"/>
              </a:lnSpc>
              <a:buNone/>
            </a:pPr>
            <a:r>
              <a:rPr lang="en-US" sz="1030" dirty="0">
                <a:solidFill>
                  <a:srgbClr val="AFC2CF"/>
                </a:solidFill>
                <a:latin typeface="Montserrat" pitchFamily="34" charset="0"/>
                <a:ea typeface="Montserrat" pitchFamily="34" charset="-122"/>
                <a:cs typeface="Montserrat" pitchFamily="34" charset="-120"/>
              </a:rPr>
              <a:t>What variable indexes damage for each failure-unit?</a:t>
            </a:r>
            <a:endParaRPr lang="en-US" sz="1030" dirty="0"/>
          </a:p>
        </p:txBody>
      </p:sp>
      <p:sp>
        <p:nvSpPr>
          <p:cNvPr id="23" name="Shape 21"/>
          <p:cNvSpPr/>
          <p:nvPr/>
        </p:nvSpPr>
        <p:spPr>
          <a:xfrm>
            <a:off x="8910828" y="3026664"/>
            <a:ext cx="155448" cy="0"/>
          </a:xfrm>
          <a:prstGeom prst="line">
            <a:avLst/>
          </a:prstGeom>
          <a:noFill/>
          <a:ln w="27940">
            <a:solidFill>
              <a:srgbClr val="E0A458"/>
            </a:solidFill>
            <a:prstDash val="solid"/>
            <a:tailEnd type="triangle"/>
          </a:ln>
        </p:spPr>
      </p:sp>
      <p:sp>
        <p:nvSpPr>
          <p:cNvPr id="24" name="Shape 22"/>
          <p:cNvSpPr/>
          <p:nvPr/>
        </p:nvSpPr>
        <p:spPr>
          <a:xfrm>
            <a:off x="9070848" y="2286000"/>
            <a:ext cx="2670048" cy="1481328"/>
          </a:xfrm>
          <a:prstGeom prst="roundRect">
            <a:avLst>
              <a:gd name="adj" fmla="val 5556"/>
            </a:avLst>
          </a:prstGeom>
          <a:solidFill>
            <a:srgbClr val="1B3B57"/>
          </a:solidFill>
          <a:ln w="12700">
            <a:solidFill>
              <a:srgbClr val="2C4B66"/>
            </a:solidFill>
            <a:prstDash val="solid"/>
          </a:ln>
        </p:spPr>
      </p:sp>
      <p:sp>
        <p:nvSpPr>
          <p:cNvPr id="25" name="Shape 23"/>
          <p:cNvSpPr/>
          <p:nvPr/>
        </p:nvSpPr>
        <p:spPr>
          <a:xfrm>
            <a:off x="9253728" y="2468880"/>
            <a:ext cx="420624" cy="420624"/>
          </a:xfrm>
          <a:prstGeom prst="ellipse">
            <a:avLst/>
          </a:prstGeom>
          <a:solidFill>
            <a:srgbClr val="14919B"/>
          </a:solidFill>
          <a:ln/>
        </p:spPr>
      </p:sp>
      <p:sp>
        <p:nvSpPr>
          <p:cNvPr id="26" name="Text 24"/>
          <p:cNvSpPr/>
          <p:nvPr/>
        </p:nvSpPr>
        <p:spPr>
          <a:xfrm>
            <a:off x="9253728"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7" name="Text 25"/>
          <p:cNvSpPr/>
          <p:nvPr/>
        </p:nvSpPr>
        <p:spPr>
          <a:xfrm>
            <a:off x="9747504" y="2487168"/>
            <a:ext cx="1892808" cy="384048"/>
          </a:xfrm>
          <a:prstGeom prst="rect">
            <a:avLst/>
          </a:prstGeom>
          <a:noFill/>
          <a:ln/>
        </p:spPr>
        <p:txBody>
          <a:bodyPr wrap="square" lIns="0" tIns="0" rIns="0" bIns="0" rtlCol="0" anchor="ctr"/>
          <a:lstStyle/>
          <a:p>
            <a:pPr indent="0" marL="0">
              <a:buNone/>
            </a:pPr>
            <a:r>
              <a:rPr lang="en-US" sz="1450" b="1" spc="100" kern="0" dirty="0">
                <a:solidFill>
                  <a:srgbClr val="FFFFFF"/>
                </a:solidFill>
                <a:latin typeface="Montserrat" pitchFamily="34" charset="0"/>
                <a:ea typeface="Montserrat" pitchFamily="34" charset="-122"/>
                <a:cs typeface="Montserrat" pitchFamily="34" charset="-120"/>
              </a:rPr>
              <a:t>FORM</a:t>
            </a:r>
            <a:endParaRPr lang="en-US" sz="1450" dirty="0"/>
          </a:p>
        </p:txBody>
      </p:sp>
      <p:sp>
        <p:nvSpPr>
          <p:cNvPr id="28" name="Text 26"/>
          <p:cNvSpPr/>
          <p:nvPr/>
        </p:nvSpPr>
        <p:spPr>
          <a:xfrm>
            <a:off x="9253728" y="2962656"/>
            <a:ext cx="2304288" cy="713232"/>
          </a:xfrm>
          <a:prstGeom prst="rect">
            <a:avLst/>
          </a:prstGeom>
          <a:noFill/>
          <a:ln/>
        </p:spPr>
        <p:txBody>
          <a:bodyPr wrap="square" lIns="0" tIns="0" rIns="0" bIns="0" rtlCol="0" anchor="ctr"/>
          <a:lstStyle/>
          <a:p>
            <a:pPr indent="0" marL="0">
              <a:lnSpc>
                <a:spcPct val="108000"/>
              </a:lnSpc>
              <a:buNone/>
            </a:pPr>
            <a:r>
              <a:rPr lang="en-US" sz="1030" dirty="0">
                <a:solidFill>
                  <a:srgbClr val="AFC2CF"/>
                </a:solidFill>
                <a:latin typeface="Montserrat" pitchFamily="34" charset="0"/>
                <a:ea typeface="Montserrat" pitchFamily="34" charset="-122"/>
                <a:cs typeface="Montserrat" pitchFamily="34" charset="-120"/>
              </a:rPr>
              <a:t>What shape does the curve take, and where are its anchors?</a:t>
            </a:r>
            <a:endParaRPr lang="en-US" sz="1030" dirty="0"/>
          </a:p>
        </p:txBody>
      </p:sp>
      <p:sp>
        <p:nvSpPr>
          <p:cNvPr id="29" name="Shape 27"/>
          <p:cNvSpPr/>
          <p:nvPr/>
        </p:nvSpPr>
        <p:spPr>
          <a:xfrm>
            <a:off x="1984248" y="3977640"/>
            <a:ext cx="2670048" cy="1481328"/>
          </a:xfrm>
          <a:prstGeom prst="roundRect">
            <a:avLst>
              <a:gd name="adj" fmla="val 5556"/>
            </a:avLst>
          </a:prstGeom>
          <a:solidFill>
            <a:srgbClr val="1B3B57"/>
          </a:solidFill>
          <a:ln w="12700">
            <a:solidFill>
              <a:srgbClr val="2C4B66"/>
            </a:solidFill>
            <a:prstDash val="solid"/>
          </a:ln>
        </p:spPr>
      </p:sp>
      <p:sp>
        <p:nvSpPr>
          <p:cNvPr id="30" name="Shape 28"/>
          <p:cNvSpPr/>
          <p:nvPr/>
        </p:nvSpPr>
        <p:spPr>
          <a:xfrm>
            <a:off x="2167128" y="4160520"/>
            <a:ext cx="420624" cy="420624"/>
          </a:xfrm>
          <a:prstGeom prst="ellipse">
            <a:avLst/>
          </a:prstGeom>
          <a:solidFill>
            <a:srgbClr val="14919B"/>
          </a:solidFill>
          <a:ln/>
        </p:spPr>
      </p:sp>
      <p:sp>
        <p:nvSpPr>
          <p:cNvPr id="31" name="Text 29"/>
          <p:cNvSpPr/>
          <p:nvPr/>
        </p:nvSpPr>
        <p:spPr>
          <a:xfrm>
            <a:off x="2167128"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32" name="Text 30"/>
          <p:cNvSpPr/>
          <p:nvPr/>
        </p:nvSpPr>
        <p:spPr>
          <a:xfrm>
            <a:off x="2660904" y="4178808"/>
            <a:ext cx="1892808" cy="384048"/>
          </a:xfrm>
          <a:prstGeom prst="rect">
            <a:avLst/>
          </a:prstGeom>
          <a:noFill/>
          <a:ln/>
        </p:spPr>
        <p:txBody>
          <a:bodyPr wrap="square" lIns="0" tIns="0" rIns="0" bIns="0" rtlCol="0" anchor="ctr"/>
          <a:lstStyle/>
          <a:p>
            <a:pPr indent="0" marL="0">
              <a:buNone/>
            </a:pPr>
            <a:r>
              <a:rPr lang="en-US" sz="1450" b="1" spc="100" kern="0" dirty="0">
                <a:solidFill>
                  <a:srgbClr val="FFFFFF"/>
                </a:solidFill>
                <a:latin typeface="Montserrat" pitchFamily="34" charset="0"/>
                <a:ea typeface="Montserrat" pitchFamily="34" charset="-122"/>
                <a:cs typeface="Montserrat" pitchFamily="34" charset="-120"/>
              </a:rPr>
              <a:t>ADJUSTMENTS</a:t>
            </a:r>
            <a:endParaRPr lang="en-US" sz="1450" dirty="0"/>
          </a:p>
        </p:txBody>
      </p:sp>
      <p:sp>
        <p:nvSpPr>
          <p:cNvPr id="33" name="Text 31"/>
          <p:cNvSpPr/>
          <p:nvPr/>
        </p:nvSpPr>
        <p:spPr>
          <a:xfrm>
            <a:off x="2167128" y="4654296"/>
            <a:ext cx="2304288" cy="713232"/>
          </a:xfrm>
          <a:prstGeom prst="rect">
            <a:avLst/>
          </a:prstGeom>
          <a:noFill/>
          <a:ln/>
        </p:spPr>
        <p:txBody>
          <a:bodyPr wrap="square" lIns="0" tIns="0" rIns="0" bIns="0" rtlCol="0" anchor="ctr"/>
          <a:lstStyle/>
          <a:p>
            <a:pPr indent="0" marL="0">
              <a:lnSpc>
                <a:spcPct val="108000"/>
              </a:lnSpc>
              <a:buNone/>
            </a:pPr>
            <a:r>
              <a:rPr lang="en-US" sz="1030" dirty="0">
                <a:solidFill>
                  <a:srgbClr val="AFC2CF"/>
                </a:solidFill>
                <a:latin typeface="Montserrat" pitchFamily="34" charset="0"/>
                <a:ea typeface="Montserrat" pitchFamily="34" charset="-122"/>
                <a:cs typeface="Montserrat" pitchFamily="34" charset="-120"/>
              </a:rPr>
              <a:t>What does it depend on besides intensity, and how?</a:t>
            </a:r>
            <a:endParaRPr lang="en-US" sz="1030" dirty="0"/>
          </a:p>
        </p:txBody>
      </p:sp>
      <p:sp>
        <p:nvSpPr>
          <p:cNvPr id="34" name="Shape 32"/>
          <p:cNvSpPr/>
          <p:nvPr/>
        </p:nvSpPr>
        <p:spPr>
          <a:xfrm>
            <a:off x="4658868" y="4718304"/>
            <a:ext cx="155448" cy="0"/>
          </a:xfrm>
          <a:prstGeom prst="line">
            <a:avLst/>
          </a:prstGeom>
          <a:noFill/>
          <a:ln w="27940">
            <a:solidFill>
              <a:srgbClr val="E0A458"/>
            </a:solidFill>
            <a:prstDash val="solid"/>
            <a:tailEnd type="triangle"/>
          </a:ln>
        </p:spPr>
      </p:sp>
      <p:sp>
        <p:nvSpPr>
          <p:cNvPr id="35" name="Shape 33"/>
          <p:cNvSpPr/>
          <p:nvPr/>
        </p:nvSpPr>
        <p:spPr>
          <a:xfrm>
            <a:off x="4818888" y="3977640"/>
            <a:ext cx="2670048" cy="1481328"/>
          </a:xfrm>
          <a:prstGeom prst="roundRect">
            <a:avLst>
              <a:gd name="adj" fmla="val 5556"/>
            </a:avLst>
          </a:prstGeom>
          <a:solidFill>
            <a:srgbClr val="1B3B57"/>
          </a:solidFill>
          <a:ln w="12700">
            <a:solidFill>
              <a:srgbClr val="2C4B66"/>
            </a:solidFill>
            <a:prstDash val="solid"/>
          </a:ln>
        </p:spPr>
      </p:sp>
      <p:sp>
        <p:nvSpPr>
          <p:cNvPr id="36" name="Shape 34"/>
          <p:cNvSpPr/>
          <p:nvPr/>
        </p:nvSpPr>
        <p:spPr>
          <a:xfrm>
            <a:off x="5001768" y="4160520"/>
            <a:ext cx="420624" cy="420624"/>
          </a:xfrm>
          <a:prstGeom prst="ellipse">
            <a:avLst/>
          </a:prstGeom>
          <a:solidFill>
            <a:srgbClr val="14919B"/>
          </a:solidFill>
          <a:ln/>
        </p:spPr>
      </p:sp>
      <p:sp>
        <p:nvSpPr>
          <p:cNvPr id="37" name="Text 35"/>
          <p:cNvSpPr/>
          <p:nvPr/>
        </p:nvSpPr>
        <p:spPr>
          <a:xfrm>
            <a:off x="5001768"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6</a:t>
            </a:r>
            <a:endParaRPr lang="en-US" sz="1300" dirty="0"/>
          </a:p>
        </p:txBody>
      </p:sp>
      <p:sp>
        <p:nvSpPr>
          <p:cNvPr id="38" name="Text 36"/>
          <p:cNvSpPr/>
          <p:nvPr/>
        </p:nvSpPr>
        <p:spPr>
          <a:xfrm>
            <a:off x="5495544" y="4178808"/>
            <a:ext cx="1892808" cy="384048"/>
          </a:xfrm>
          <a:prstGeom prst="rect">
            <a:avLst/>
          </a:prstGeom>
          <a:noFill/>
          <a:ln/>
        </p:spPr>
        <p:txBody>
          <a:bodyPr wrap="square" lIns="0" tIns="0" rIns="0" bIns="0" rtlCol="0" anchor="ctr"/>
          <a:lstStyle/>
          <a:p>
            <a:pPr indent="0" marL="0">
              <a:buNone/>
            </a:pPr>
            <a:r>
              <a:rPr lang="en-US" sz="1450" b="1" spc="100" kern="0" dirty="0">
                <a:solidFill>
                  <a:srgbClr val="FFFFFF"/>
                </a:solidFill>
                <a:latin typeface="Montserrat" pitchFamily="34" charset="0"/>
                <a:ea typeface="Montserrat" pitchFamily="34" charset="-122"/>
                <a:cs typeface="Montserrat" pitchFamily="34" charset="-120"/>
              </a:rPr>
              <a:t>EMIT</a:t>
            </a:r>
            <a:endParaRPr lang="en-US" sz="1450" dirty="0"/>
          </a:p>
        </p:txBody>
      </p:sp>
      <p:sp>
        <p:nvSpPr>
          <p:cNvPr id="39" name="Text 37"/>
          <p:cNvSpPr/>
          <p:nvPr/>
        </p:nvSpPr>
        <p:spPr>
          <a:xfrm>
            <a:off x="5001768" y="4654296"/>
            <a:ext cx="2304288" cy="713232"/>
          </a:xfrm>
          <a:prstGeom prst="rect">
            <a:avLst/>
          </a:prstGeom>
          <a:noFill/>
          <a:ln/>
        </p:spPr>
        <p:txBody>
          <a:bodyPr wrap="square" lIns="0" tIns="0" rIns="0" bIns="0" rtlCol="0" anchor="ctr"/>
          <a:lstStyle/>
          <a:p>
            <a:pPr indent="0" marL="0">
              <a:lnSpc>
                <a:spcPct val="108000"/>
              </a:lnSpc>
              <a:buNone/>
            </a:pPr>
            <a:r>
              <a:rPr lang="en-US" sz="1030" dirty="0">
                <a:solidFill>
                  <a:srgbClr val="AFC2CF"/>
                </a:solidFill>
                <a:latin typeface="Montserrat" pitchFamily="34" charset="0"/>
                <a:ea typeface="Montserrat" pitchFamily="34" charset="-122"/>
                <a:cs typeface="Montserrat" pitchFamily="34" charset="-120"/>
              </a:rPr>
              <a:t>What does it return per event — and the capability declaration?</a:t>
            </a:r>
            <a:endParaRPr lang="en-US" sz="1030" dirty="0"/>
          </a:p>
        </p:txBody>
      </p:sp>
      <p:sp>
        <p:nvSpPr>
          <p:cNvPr id="40" name="Shape 38"/>
          <p:cNvSpPr/>
          <p:nvPr/>
        </p:nvSpPr>
        <p:spPr>
          <a:xfrm>
            <a:off x="7493508" y="4718304"/>
            <a:ext cx="155448" cy="0"/>
          </a:xfrm>
          <a:prstGeom prst="line">
            <a:avLst/>
          </a:prstGeom>
          <a:noFill/>
          <a:ln w="27940">
            <a:solidFill>
              <a:srgbClr val="E0A458"/>
            </a:solidFill>
            <a:prstDash val="solid"/>
            <a:tailEnd type="triangle"/>
          </a:ln>
        </p:spPr>
      </p:sp>
      <p:sp>
        <p:nvSpPr>
          <p:cNvPr id="41" name="Shape 39"/>
          <p:cNvSpPr/>
          <p:nvPr/>
        </p:nvSpPr>
        <p:spPr>
          <a:xfrm>
            <a:off x="7653528" y="3977640"/>
            <a:ext cx="2670048" cy="1481328"/>
          </a:xfrm>
          <a:prstGeom prst="roundRect">
            <a:avLst>
              <a:gd name="adj" fmla="val 5556"/>
            </a:avLst>
          </a:prstGeom>
          <a:solidFill>
            <a:srgbClr val="1B3B57"/>
          </a:solidFill>
          <a:ln w="12700">
            <a:solidFill>
              <a:srgbClr val="2C4B66"/>
            </a:solidFill>
            <a:prstDash val="solid"/>
          </a:ln>
        </p:spPr>
      </p:sp>
      <p:sp>
        <p:nvSpPr>
          <p:cNvPr id="42" name="Shape 40"/>
          <p:cNvSpPr/>
          <p:nvPr/>
        </p:nvSpPr>
        <p:spPr>
          <a:xfrm>
            <a:off x="7836408" y="4160520"/>
            <a:ext cx="420624" cy="420624"/>
          </a:xfrm>
          <a:prstGeom prst="ellipse">
            <a:avLst/>
          </a:prstGeom>
          <a:solidFill>
            <a:srgbClr val="14919B"/>
          </a:solidFill>
          <a:ln/>
        </p:spPr>
      </p:sp>
      <p:sp>
        <p:nvSpPr>
          <p:cNvPr id="43" name="Text 41"/>
          <p:cNvSpPr/>
          <p:nvPr/>
        </p:nvSpPr>
        <p:spPr>
          <a:xfrm>
            <a:off x="7836408"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7</a:t>
            </a:r>
            <a:endParaRPr lang="en-US" sz="1300" dirty="0"/>
          </a:p>
        </p:txBody>
      </p:sp>
      <p:sp>
        <p:nvSpPr>
          <p:cNvPr id="44" name="Text 42"/>
          <p:cNvSpPr/>
          <p:nvPr/>
        </p:nvSpPr>
        <p:spPr>
          <a:xfrm>
            <a:off x="8330184" y="4178808"/>
            <a:ext cx="1892808" cy="384048"/>
          </a:xfrm>
          <a:prstGeom prst="rect">
            <a:avLst/>
          </a:prstGeom>
          <a:noFill/>
          <a:ln/>
        </p:spPr>
        <p:txBody>
          <a:bodyPr wrap="square" lIns="0" tIns="0" rIns="0" bIns="0" rtlCol="0" anchor="ctr"/>
          <a:lstStyle/>
          <a:p>
            <a:pPr indent="0" marL="0">
              <a:buNone/>
            </a:pPr>
            <a:r>
              <a:rPr lang="en-US" sz="1450" b="1" spc="100" kern="0" dirty="0">
                <a:solidFill>
                  <a:srgbClr val="FFFFFF"/>
                </a:solidFill>
                <a:latin typeface="Montserrat" pitchFamily="34" charset="0"/>
                <a:ea typeface="Montserrat" pitchFamily="34" charset="-122"/>
                <a:cs typeface="Montserrat" pitchFamily="34" charset="-120"/>
              </a:rPr>
              <a:t>SHIP</a:t>
            </a:r>
            <a:endParaRPr lang="en-US" sz="1450" dirty="0"/>
          </a:p>
        </p:txBody>
      </p:sp>
      <p:sp>
        <p:nvSpPr>
          <p:cNvPr id="45" name="Text 43"/>
          <p:cNvSpPr/>
          <p:nvPr/>
        </p:nvSpPr>
        <p:spPr>
          <a:xfrm>
            <a:off x="7836408" y="4654296"/>
            <a:ext cx="2304288" cy="713232"/>
          </a:xfrm>
          <a:prstGeom prst="rect">
            <a:avLst/>
          </a:prstGeom>
          <a:noFill/>
          <a:ln/>
        </p:spPr>
        <p:txBody>
          <a:bodyPr wrap="square" lIns="0" tIns="0" rIns="0" bIns="0" rtlCol="0" anchor="ctr"/>
          <a:lstStyle/>
          <a:p>
            <a:pPr indent="0" marL="0">
              <a:lnSpc>
                <a:spcPct val="108000"/>
              </a:lnSpc>
              <a:buNone/>
            </a:pPr>
            <a:r>
              <a:rPr lang="en-US" sz="1030" dirty="0">
                <a:solidFill>
                  <a:srgbClr val="AFC2CF"/>
                </a:solidFill>
                <a:latin typeface="Montserrat" pitchFamily="34" charset="0"/>
                <a:ea typeface="Montserrat" pitchFamily="34" charset="-122"/>
                <a:cs typeface="Montserrat" pitchFamily="34" charset="-120"/>
              </a:rPr>
              <a:t>What does the consumer receive, and on what terms?</a:t>
            </a:r>
            <a:endParaRPr lang="en-US" sz="1030" dirty="0"/>
          </a:p>
        </p:txBody>
      </p:sp>
      <p:sp>
        <p:nvSpPr>
          <p:cNvPr id="46" name="Shape 44"/>
          <p:cNvSpPr/>
          <p:nvPr/>
        </p:nvSpPr>
        <p:spPr>
          <a:xfrm>
            <a:off x="10405872" y="3785616"/>
            <a:ext cx="0" cy="283464"/>
          </a:xfrm>
          <a:prstGeom prst="line">
            <a:avLst/>
          </a:prstGeom>
          <a:noFill/>
          <a:ln w="27940">
            <a:solidFill>
              <a:srgbClr val="E0A458"/>
            </a:solidFill>
            <a:prstDash val="solid"/>
            <a:tailEnd type="triangle"/>
          </a:ln>
        </p:spPr>
      </p:sp>
      <p:sp>
        <p:nvSpPr>
          <p:cNvPr id="47" name="Text 45"/>
          <p:cNvSpPr/>
          <p:nvPr/>
        </p:nvSpPr>
        <p:spPr>
          <a:xfrm>
            <a:off x="566928" y="5806440"/>
            <a:ext cx="11064240" cy="457200"/>
          </a:xfrm>
          <a:prstGeom prst="rect">
            <a:avLst/>
          </a:prstGeom>
          <a:noFill/>
          <a:ln/>
        </p:spPr>
        <p:txBody>
          <a:bodyPr wrap="square" lIns="0" tIns="0" rIns="0" bIns="0" rtlCol="0" anchor="ctr"/>
          <a:lstStyle/>
          <a:p>
            <a:pPr algn="ctr" indent="0" marL="0">
              <a:buNone/>
            </a:pPr>
            <a:r>
              <a:rPr lang="en-US" sz="1150" i="1" dirty="0">
                <a:solidFill>
                  <a:srgbClr val="8FA6B5"/>
                </a:solidFill>
                <a:latin typeface="Montserrat" pitchFamily="34" charset="0"/>
                <a:ea typeface="Montserrat" pitchFamily="34" charset="-122"/>
                <a:cs typeface="Montserrat" pitchFamily="34" charset="-120"/>
              </a:rPr>
              <a:t>Collapsing stages hides decisions; splitting them creates sub-stages that share doctrine with their parent. Seven is the minimal honest set.</a:t>
            </a:r>
            <a:endParaRPr lang="en-US" sz="1150" dirty="0"/>
          </a:p>
        </p:txBody>
      </p:sp>
      <p:sp>
        <p:nvSpPr>
          <p:cNvPr id="48" name="Text 46"/>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49" name="Text 47"/>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damage_curve_build_methodology.docx §3</a:t>
            </a:r>
            <a:endParaRPr lang="en-US" sz="7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7</a:t>
            </a:r>
            <a:endParaRPr lang="en-US" sz="950" dirty="0"/>
          </a:p>
        </p:txBody>
      </p:sp>
      <p:sp>
        <p:nvSpPr>
          <p:cNvPr id="3" name="Shape 1"/>
          <p:cNvSpPr/>
          <p:nvPr/>
        </p:nvSpPr>
        <p:spPr>
          <a:xfrm>
            <a:off x="566928" y="457200"/>
            <a:ext cx="603504" cy="603504"/>
          </a:xfrm>
          <a:prstGeom prst="ellipse">
            <a:avLst/>
          </a:prstGeom>
          <a:solidFill>
            <a:srgbClr val="14919B"/>
          </a:solidFill>
          <a:ln/>
        </p:spPr>
      </p:sp>
      <p:sp>
        <p:nvSpPr>
          <p:cNvPr id="4" name="Text 2"/>
          <p:cNvSpPr/>
          <p:nvPr/>
        </p:nvSpPr>
        <p:spPr>
          <a:xfrm>
            <a:off x="566928" y="457200"/>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Montserrat" pitchFamily="34" charset="0"/>
                <a:ea typeface="Montserrat" pitchFamily="34" charset="-122"/>
                <a:cs typeface="Montserrat" pitchFamily="34" charset="-120"/>
              </a:rPr>
              <a:t>1</a:t>
            </a:r>
            <a:endParaRPr lang="en-US" sz="2200" dirty="0"/>
          </a:p>
        </p:txBody>
      </p:sp>
      <p:sp>
        <p:nvSpPr>
          <p:cNvPr id="5" name="Text 3"/>
          <p:cNvSpPr/>
          <p:nvPr/>
        </p:nvSpPr>
        <p:spPr>
          <a:xfrm>
            <a:off x="1353312" y="457200"/>
            <a:ext cx="10058400" cy="310896"/>
          </a:xfrm>
          <a:prstGeom prst="rect">
            <a:avLst/>
          </a:prstGeom>
          <a:noFill/>
          <a:ln/>
        </p:spPr>
        <p:txBody>
          <a:bodyPr wrap="square" lIns="0" tIns="0" rIns="0" bIns="0" rtlCol="0" anchor="ctr"/>
          <a:lstStyle/>
          <a:p>
            <a:pPr indent="0" marL="0">
              <a:buNone/>
            </a:pPr>
            <a:r>
              <a:rPr lang="en-US" sz="1350" b="1" spc="200" kern="0" dirty="0">
                <a:solidFill>
                  <a:srgbClr val="14919B"/>
                </a:solidFill>
                <a:latin typeface="Montserrat" pitchFamily="34" charset="0"/>
                <a:ea typeface="Montserrat" pitchFamily="34" charset="-122"/>
                <a:cs typeface="Montserrat" pitchFamily="34" charset="-120"/>
              </a:rPr>
              <a:t>STAGE 1   </a:t>
            </a:r>
            <a:pPr indent="0" marL="0">
              <a:buNone/>
            </a:pPr>
            <a:r>
              <a:rPr lang="en-US" sz="1350" b="1" spc="200" kern="0" dirty="0">
                <a:solidFill>
                  <a:srgbClr val="0F2A43"/>
                </a:solidFill>
                <a:latin typeface="Montserrat" pitchFamily="34" charset="0"/>
                <a:ea typeface="Montserrat" pitchFamily="34" charset="-122"/>
                <a:cs typeface="Montserrat" pitchFamily="34" charset="-120"/>
              </a:rPr>
              <a:t>EVIDENCE</a:t>
            </a:r>
            <a:endParaRPr lang="en-US" sz="1350" dirty="0"/>
          </a:p>
        </p:txBody>
      </p:sp>
      <p:sp>
        <p:nvSpPr>
          <p:cNvPr id="6" name="Text 4"/>
          <p:cNvSpPr/>
          <p:nvPr/>
        </p:nvSpPr>
        <p:spPr>
          <a:xfrm>
            <a:off x="1353312" y="768096"/>
            <a:ext cx="10607040" cy="658368"/>
          </a:xfrm>
          <a:prstGeom prst="rect">
            <a:avLst/>
          </a:prstGeom>
          <a:noFill/>
          <a:ln/>
        </p:spPr>
        <p:txBody>
          <a:bodyPr wrap="square" lIns="0" tIns="0" rIns="0" bIns="0" rtlCol="0" anchor="ctr"/>
          <a:lstStyle/>
          <a:p>
            <a:pPr indent="0" marL="0">
              <a:lnSpc>
                <a:spcPct val="98000"/>
              </a:lnSpc>
              <a:buNone/>
            </a:pPr>
            <a:r>
              <a:rPr lang="en-US" sz="2150" b="1" dirty="0">
                <a:solidFill>
                  <a:srgbClr val="0F2A43"/>
                </a:solidFill>
                <a:latin typeface="Montserrat" pitchFamily="34" charset="0"/>
                <a:ea typeface="Montserrat" pitchFamily="34" charset="-122"/>
                <a:cs typeface="Montserrat" pitchFamily="34" charset="-120"/>
              </a:rPr>
              <a:t>What does the curated evidence base authorize the curve to claim?</a:t>
            </a:r>
            <a:endParaRPr lang="en-US" sz="2150" dirty="0"/>
          </a:p>
        </p:txBody>
      </p:sp>
      <p:sp>
        <p:nvSpPr>
          <p:cNvPr id="7" name="Shape 5"/>
          <p:cNvSpPr/>
          <p:nvPr/>
        </p:nvSpPr>
        <p:spPr>
          <a:xfrm>
            <a:off x="566928" y="1783080"/>
            <a:ext cx="5029200" cy="4114800"/>
          </a:xfrm>
          <a:prstGeom prst="roundRect">
            <a:avLst>
              <a:gd name="adj" fmla="val 20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8" name="Text 6"/>
          <p:cNvSpPr/>
          <p:nvPr/>
        </p:nvSpPr>
        <p:spPr>
          <a:xfrm>
            <a:off x="841248" y="1965960"/>
            <a:ext cx="4480560" cy="365760"/>
          </a:xfrm>
          <a:prstGeom prst="rect">
            <a:avLst/>
          </a:prstGeom>
          <a:noFill/>
          <a:ln/>
        </p:spPr>
        <p:txBody>
          <a:bodyPr wrap="square" lIns="0" tIns="0" rIns="0" bIns="0" rtlCol="0" anchor="ctr"/>
          <a:lstStyle/>
          <a:p>
            <a:pPr indent="0" marL="0">
              <a:buNone/>
            </a:pPr>
            <a:r>
              <a:rPr lang="en-US" sz="1400" b="1" dirty="0">
                <a:solidFill>
                  <a:srgbClr val="0F2A43"/>
                </a:solidFill>
                <a:latin typeface="Montserrat" pitchFamily="34" charset="0"/>
                <a:ea typeface="Montserrat" pitchFamily="34" charset="-122"/>
                <a:cs typeface="Montserrat" pitchFamily="34" charset="-120"/>
              </a:rPr>
              <a:t>Four evidence tiers — graded per claim</a:t>
            </a:r>
            <a:endParaRPr lang="en-US" sz="1400" dirty="0"/>
          </a:p>
        </p:txBody>
      </p:sp>
      <p:sp>
        <p:nvSpPr>
          <p:cNvPr id="9" name="Shape 7"/>
          <p:cNvSpPr/>
          <p:nvPr/>
        </p:nvSpPr>
        <p:spPr>
          <a:xfrm>
            <a:off x="841248" y="2395728"/>
            <a:ext cx="603504" cy="713232"/>
          </a:xfrm>
          <a:prstGeom prst="roundRect">
            <a:avLst>
              <a:gd name="adj" fmla="val 12121"/>
            </a:avLst>
          </a:prstGeom>
          <a:solidFill>
            <a:srgbClr val="0F2A43"/>
          </a:solidFill>
          <a:ln/>
        </p:spPr>
      </p:sp>
      <p:sp>
        <p:nvSpPr>
          <p:cNvPr id="10" name="Text 8"/>
          <p:cNvSpPr/>
          <p:nvPr/>
        </p:nvSpPr>
        <p:spPr>
          <a:xfrm>
            <a:off x="841248" y="2395728"/>
            <a:ext cx="603504" cy="713232"/>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T1</a:t>
            </a:r>
            <a:endParaRPr lang="en-US" sz="1600" dirty="0"/>
          </a:p>
        </p:txBody>
      </p:sp>
      <p:sp>
        <p:nvSpPr>
          <p:cNvPr id="11" name="Text 9"/>
          <p:cNvSpPr/>
          <p:nvPr/>
        </p:nvSpPr>
        <p:spPr>
          <a:xfrm>
            <a:off x="1554480" y="2450592"/>
            <a:ext cx="3657600" cy="310896"/>
          </a:xfrm>
          <a:prstGeom prst="rect">
            <a:avLst/>
          </a:prstGeom>
          <a:noFill/>
          <a:ln/>
        </p:spPr>
        <p:txBody>
          <a:bodyPr wrap="square" lIns="0" tIns="0" rIns="0" bIns="0" rtlCol="0" anchor="ctr"/>
          <a:lstStyle/>
          <a:p>
            <a:pPr indent="0" marL="0">
              <a:buNone/>
            </a:pPr>
            <a:r>
              <a:rPr lang="en-US" sz="1300" b="1" dirty="0">
                <a:solidFill>
                  <a:srgbClr val="0F2A43"/>
                </a:solidFill>
                <a:latin typeface="Montserrat" pitchFamily="34" charset="0"/>
                <a:ea typeface="Montserrat" pitchFamily="34" charset="-122"/>
                <a:cs typeface="Montserrat" pitchFamily="34" charset="-120"/>
              </a:rPr>
              <a:t>Direct empirical</a:t>
            </a:r>
            <a:endParaRPr lang="en-US" sz="1300" dirty="0"/>
          </a:p>
        </p:txBody>
      </p:sp>
      <p:sp>
        <p:nvSpPr>
          <p:cNvPr id="12" name="Text 10"/>
          <p:cNvSpPr/>
          <p:nvPr/>
        </p:nvSpPr>
        <p:spPr>
          <a:xfrm>
            <a:off x="1554480" y="2752344"/>
            <a:ext cx="3703320" cy="365760"/>
          </a:xfrm>
          <a:prstGeom prst="rect">
            <a:avLst/>
          </a:prstGeom>
          <a:noFill/>
          <a:ln/>
        </p:spPr>
        <p:txBody>
          <a:bodyPr wrap="square" lIns="0" tIns="0" rIns="0" bIns="0" rtlCol="0" anchor="ctr"/>
          <a:lstStyle/>
          <a:p>
            <a:pPr indent="0" marL="0">
              <a:lnSpc>
                <a:spcPct val="100000"/>
              </a:lnSpc>
              <a:buNone/>
            </a:pPr>
            <a:r>
              <a:rPr lang="en-US" sz="1080" dirty="0">
                <a:solidFill>
                  <a:srgbClr val="5B7184"/>
                </a:solidFill>
                <a:latin typeface="Montserrat" pitchFamily="34" charset="0"/>
                <a:ea typeface="Montserrat" pitchFamily="34" charset="-122"/>
                <a:cs typeface="Montserrat" pitchFamily="34" charset="-120"/>
              </a:rPr>
              <a:t>loss observed on the actual asset × hazard, intensity recorded</a:t>
            </a:r>
            <a:endParaRPr lang="en-US" sz="1080" dirty="0"/>
          </a:p>
        </p:txBody>
      </p:sp>
      <p:sp>
        <p:nvSpPr>
          <p:cNvPr id="13" name="Shape 11"/>
          <p:cNvSpPr/>
          <p:nvPr/>
        </p:nvSpPr>
        <p:spPr>
          <a:xfrm>
            <a:off x="841248" y="3218688"/>
            <a:ext cx="603504" cy="713232"/>
          </a:xfrm>
          <a:prstGeom prst="roundRect">
            <a:avLst>
              <a:gd name="adj" fmla="val 12121"/>
            </a:avLst>
          </a:prstGeom>
          <a:solidFill>
            <a:srgbClr val="14919B"/>
          </a:solidFill>
          <a:ln/>
        </p:spPr>
      </p:sp>
      <p:sp>
        <p:nvSpPr>
          <p:cNvPr id="14" name="Text 12"/>
          <p:cNvSpPr/>
          <p:nvPr/>
        </p:nvSpPr>
        <p:spPr>
          <a:xfrm>
            <a:off x="841248" y="3218688"/>
            <a:ext cx="603504" cy="713232"/>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T2</a:t>
            </a:r>
            <a:endParaRPr lang="en-US" sz="1600" dirty="0"/>
          </a:p>
        </p:txBody>
      </p:sp>
      <p:sp>
        <p:nvSpPr>
          <p:cNvPr id="15" name="Text 13"/>
          <p:cNvSpPr/>
          <p:nvPr/>
        </p:nvSpPr>
        <p:spPr>
          <a:xfrm>
            <a:off x="1554480" y="3273552"/>
            <a:ext cx="3657600" cy="310896"/>
          </a:xfrm>
          <a:prstGeom prst="rect">
            <a:avLst/>
          </a:prstGeom>
          <a:noFill/>
          <a:ln/>
        </p:spPr>
        <p:txBody>
          <a:bodyPr wrap="square" lIns="0" tIns="0" rIns="0" bIns="0" rtlCol="0" anchor="ctr"/>
          <a:lstStyle/>
          <a:p>
            <a:pPr indent="0" marL="0">
              <a:buNone/>
            </a:pPr>
            <a:r>
              <a:rPr lang="en-US" sz="1300" b="1" dirty="0">
                <a:solidFill>
                  <a:srgbClr val="0F2A43"/>
                </a:solidFill>
                <a:latin typeface="Montserrat" pitchFamily="34" charset="0"/>
                <a:ea typeface="Montserrat" pitchFamily="34" charset="-122"/>
                <a:cs typeface="Montserrat" pitchFamily="34" charset="-120"/>
              </a:rPr>
              <a:t>Engineering standards</a:t>
            </a:r>
            <a:endParaRPr lang="en-US" sz="1300" dirty="0"/>
          </a:p>
        </p:txBody>
      </p:sp>
      <p:sp>
        <p:nvSpPr>
          <p:cNvPr id="16" name="Text 14"/>
          <p:cNvSpPr/>
          <p:nvPr/>
        </p:nvSpPr>
        <p:spPr>
          <a:xfrm>
            <a:off x="1554480" y="3575304"/>
            <a:ext cx="3703320" cy="365760"/>
          </a:xfrm>
          <a:prstGeom prst="rect">
            <a:avLst/>
          </a:prstGeom>
          <a:noFill/>
          <a:ln/>
        </p:spPr>
        <p:txBody>
          <a:bodyPr wrap="square" lIns="0" tIns="0" rIns="0" bIns="0" rtlCol="0" anchor="ctr"/>
          <a:lstStyle/>
          <a:p>
            <a:pPr indent="0" marL="0">
              <a:lnSpc>
                <a:spcPct val="100000"/>
              </a:lnSpc>
              <a:buNone/>
            </a:pPr>
            <a:r>
              <a:rPr lang="en-US" sz="1080" dirty="0">
                <a:solidFill>
                  <a:srgbClr val="5B7184"/>
                </a:solidFill>
                <a:latin typeface="Montserrat" pitchFamily="34" charset="0"/>
                <a:ea typeface="Montserrat" pitchFamily="34" charset="-122"/>
                <a:cs typeface="Montserrat" pitchFamily="34" charset="-120"/>
              </a:rPr>
              <a:t>consensus standards &amp; lab tests — IEC, IBHS, ASCE, HAZUS</a:t>
            </a:r>
            <a:endParaRPr lang="en-US" sz="1080" dirty="0"/>
          </a:p>
        </p:txBody>
      </p:sp>
      <p:sp>
        <p:nvSpPr>
          <p:cNvPr id="17" name="Shape 15"/>
          <p:cNvSpPr/>
          <p:nvPr/>
        </p:nvSpPr>
        <p:spPr>
          <a:xfrm>
            <a:off x="841248" y="4041648"/>
            <a:ext cx="603504" cy="713232"/>
          </a:xfrm>
          <a:prstGeom prst="roundRect">
            <a:avLst>
              <a:gd name="adj" fmla="val 12121"/>
            </a:avLst>
          </a:prstGeom>
          <a:solidFill>
            <a:srgbClr val="2DB7C3"/>
          </a:solidFill>
          <a:ln/>
        </p:spPr>
      </p:sp>
      <p:sp>
        <p:nvSpPr>
          <p:cNvPr id="18" name="Text 16"/>
          <p:cNvSpPr/>
          <p:nvPr/>
        </p:nvSpPr>
        <p:spPr>
          <a:xfrm>
            <a:off x="841248" y="4041648"/>
            <a:ext cx="603504" cy="713232"/>
          </a:xfrm>
          <a:prstGeom prst="rect">
            <a:avLst/>
          </a:prstGeom>
          <a:noFill/>
          <a:ln/>
        </p:spPr>
        <p:txBody>
          <a:bodyPr wrap="square" lIns="0" tIns="0" rIns="0" bIns="0" rtlCol="0" anchor="ctr"/>
          <a:lstStyle/>
          <a:p>
            <a:pPr algn="ctr" indent="0" marL="0">
              <a:buNone/>
            </a:pPr>
            <a:r>
              <a:rPr lang="en-US" sz="1600" b="1" dirty="0">
                <a:solidFill>
                  <a:srgbClr val="0F2A43"/>
                </a:solidFill>
                <a:latin typeface="Montserrat" pitchFamily="34" charset="0"/>
                <a:ea typeface="Montserrat" pitchFamily="34" charset="-122"/>
                <a:cs typeface="Montserrat" pitchFamily="34" charset="-120"/>
              </a:rPr>
              <a:t>T3</a:t>
            </a:r>
            <a:endParaRPr lang="en-US" sz="1600" dirty="0"/>
          </a:p>
        </p:txBody>
      </p:sp>
      <p:sp>
        <p:nvSpPr>
          <p:cNvPr id="19" name="Text 17"/>
          <p:cNvSpPr/>
          <p:nvPr/>
        </p:nvSpPr>
        <p:spPr>
          <a:xfrm>
            <a:off x="1554480" y="4096512"/>
            <a:ext cx="3657600" cy="310896"/>
          </a:xfrm>
          <a:prstGeom prst="rect">
            <a:avLst/>
          </a:prstGeom>
          <a:noFill/>
          <a:ln/>
        </p:spPr>
        <p:txBody>
          <a:bodyPr wrap="square" lIns="0" tIns="0" rIns="0" bIns="0" rtlCol="0" anchor="ctr"/>
          <a:lstStyle/>
          <a:p>
            <a:pPr indent="0" marL="0">
              <a:buNone/>
            </a:pPr>
            <a:r>
              <a:rPr lang="en-US" sz="1300" b="1" dirty="0">
                <a:solidFill>
                  <a:srgbClr val="0F2A43"/>
                </a:solidFill>
                <a:latin typeface="Montserrat" pitchFamily="34" charset="0"/>
                <a:ea typeface="Montserrat" pitchFamily="34" charset="-122"/>
                <a:cs typeface="Montserrat" pitchFamily="34" charset="-120"/>
              </a:rPr>
              <a:t>Inferred / proxy</a:t>
            </a:r>
            <a:endParaRPr lang="en-US" sz="1300" dirty="0"/>
          </a:p>
        </p:txBody>
      </p:sp>
      <p:sp>
        <p:nvSpPr>
          <p:cNvPr id="20" name="Text 18"/>
          <p:cNvSpPr/>
          <p:nvPr/>
        </p:nvSpPr>
        <p:spPr>
          <a:xfrm>
            <a:off x="1554480" y="4398264"/>
            <a:ext cx="3703320" cy="365760"/>
          </a:xfrm>
          <a:prstGeom prst="rect">
            <a:avLst/>
          </a:prstGeom>
          <a:noFill/>
          <a:ln/>
        </p:spPr>
        <p:txBody>
          <a:bodyPr wrap="square" lIns="0" tIns="0" rIns="0" bIns="0" rtlCol="0" anchor="ctr"/>
          <a:lstStyle/>
          <a:p>
            <a:pPr indent="0" marL="0">
              <a:lnSpc>
                <a:spcPct val="100000"/>
              </a:lnSpc>
              <a:buNone/>
            </a:pPr>
            <a:r>
              <a:rPr lang="en-US" sz="1080" dirty="0">
                <a:solidFill>
                  <a:srgbClr val="5B7184"/>
                </a:solidFill>
                <a:latin typeface="Montserrat" pitchFamily="34" charset="0"/>
                <a:ea typeface="Montserrat" pitchFamily="34" charset="-122"/>
                <a:cs typeface="Montserrat" pitchFamily="34" charset="-120"/>
              </a:rPr>
              <a:t>related-but-not-identical asset, hazard, or scale</a:t>
            </a:r>
            <a:endParaRPr lang="en-US" sz="1080" dirty="0"/>
          </a:p>
        </p:txBody>
      </p:sp>
      <p:sp>
        <p:nvSpPr>
          <p:cNvPr id="21" name="Shape 19"/>
          <p:cNvSpPr/>
          <p:nvPr/>
        </p:nvSpPr>
        <p:spPr>
          <a:xfrm>
            <a:off x="841248" y="4864608"/>
            <a:ext cx="603504" cy="713232"/>
          </a:xfrm>
          <a:prstGeom prst="roundRect">
            <a:avLst>
              <a:gd name="adj" fmla="val 12121"/>
            </a:avLst>
          </a:prstGeom>
          <a:solidFill>
            <a:srgbClr val="E0A458"/>
          </a:solidFill>
          <a:ln/>
        </p:spPr>
      </p:sp>
      <p:sp>
        <p:nvSpPr>
          <p:cNvPr id="22" name="Text 20"/>
          <p:cNvSpPr/>
          <p:nvPr/>
        </p:nvSpPr>
        <p:spPr>
          <a:xfrm>
            <a:off x="841248" y="4864608"/>
            <a:ext cx="603504" cy="713232"/>
          </a:xfrm>
          <a:prstGeom prst="rect">
            <a:avLst/>
          </a:prstGeom>
          <a:noFill/>
          <a:ln/>
        </p:spPr>
        <p:txBody>
          <a:bodyPr wrap="square" lIns="0" tIns="0" rIns="0" bIns="0" rtlCol="0" anchor="ctr"/>
          <a:lstStyle/>
          <a:p>
            <a:pPr algn="ctr" indent="0" marL="0">
              <a:buNone/>
            </a:pPr>
            <a:r>
              <a:rPr lang="en-US" sz="1600" b="1" dirty="0">
                <a:solidFill>
                  <a:srgbClr val="0F2A43"/>
                </a:solidFill>
                <a:latin typeface="Montserrat" pitchFamily="34" charset="0"/>
                <a:ea typeface="Montserrat" pitchFamily="34" charset="-122"/>
                <a:cs typeface="Montserrat" pitchFamily="34" charset="-120"/>
              </a:rPr>
              <a:t>T4</a:t>
            </a:r>
            <a:endParaRPr lang="en-US" sz="1600" dirty="0"/>
          </a:p>
        </p:txBody>
      </p:sp>
      <p:sp>
        <p:nvSpPr>
          <p:cNvPr id="23" name="Text 21"/>
          <p:cNvSpPr/>
          <p:nvPr/>
        </p:nvSpPr>
        <p:spPr>
          <a:xfrm>
            <a:off x="1554480" y="4919472"/>
            <a:ext cx="3657600" cy="310896"/>
          </a:xfrm>
          <a:prstGeom prst="rect">
            <a:avLst/>
          </a:prstGeom>
          <a:noFill/>
          <a:ln/>
        </p:spPr>
        <p:txBody>
          <a:bodyPr wrap="square" lIns="0" tIns="0" rIns="0" bIns="0" rtlCol="0" anchor="ctr"/>
          <a:lstStyle/>
          <a:p>
            <a:pPr indent="0" marL="0">
              <a:buNone/>
            </a:pPr>
            <a:r>
              <a:rPr lang="en-US" sz="1300" b="1" dirty="0">
                <a:solidFill>
                  <a:srgbClr val="0F2A43"/>
                </a:solidFill>
                <a:latin typeface="Montserrat" pitchFamily="34" charset="0"/>
                <a:ea typeface="Montserrat" pitchFamily="34" charset="-122"/>
                <a:cs typeface="Montserrat" pitchFamily="34" charset="-120"/>
              </a:rPr>
              <a:t>Expert judgment</a:t>
            </a:r>
            <a:endParaRPr lang="en-US" sz="1300" dirty="0"/>
          </a:p>
        </p:txBody>
      </p:sp>
      <p:sp>
        <p:nvSpPr>
          <p:cNvPr id="24" name="Text 22"/>
          <p:cNvSpPr/>
          <p:nvPr/>
        </p:nvSpPr>
        <p:spPr>
          <a:xfrm>
            <a:off x="1554480" y="5221224"/>
            <a:ext cx="3703320" cy="365760"/>
          </a:xfrm>
          <a:prstGeom prst="rect">
            <a:avLst/>
          </a:prstGeom>
          <a:noFill/>
          <a:ln/>
        </p:spPr>
        <p:txBody>
          <a:bodyPr wrap="square" lIns="0" tIns="0" rIns="0" bIns="0" rtlCol="0" anchor="ctr"/>
          <a:lstStyle/>
          <a:p>
            <a:pPr indent="0" marL="0">
              <a:lnSpc>
                <a:spcPct val="100000"/>
              </a:lnSpc>
              <a:buNone/>
            </a:pPr>
            <a:r>
              <a:rPr lang="en-US" sz="1080" dirty="0">
                <a:solidFill>
                  <a:srgbClr val="5B7184"/>
                </a:solidFill>
                <a:latin typeface="Montserrat" pitchFamily="34" charset="0"/>
                <a:ea typeface="Montserrat" pitchFamily="34" charset="-122"/>
                <a:cs typeface="Montserrat" pitchFamily="34" charset="-120"/>
              </a:rPr>
              <a:t>documented opinion / OEM notes — not test reports</a:t>
            </a:r>
            <a:endParaRPr lang="en-US" sz="1080" dirty="0"/>
          </a:p>
        </p:txBody>
      </p:sp>
      <p:sp>
        <p:nvSpPr>
          <p:cNvPr id="25" name="Text 23"/>
          <p:cNvSpPr/>
          <p:nvPr/>
        </p:nvSpPr>
        <p:spPr>
          <a:xfrm>
            <a:off x="5943600" y="1783080"/>
            <a:ext cx="5486400" cy="365760"/>
          </a:xfrm>
          <a:prstGeom prst="rect">
            <a:avLst/>
          </a:prstGeom>
          <a:noFill/>
          <a:ln/>
        </p:spPr>
        <p:txBody>
          <a:bodyPr wrap="square" lIns="0" tIns="0" rIns="0" bIns="0" rtlCol="0" anchor="ctr"/>
          <a:lstStyle/>
          <a:p>
            <a:pPr indent="0" marL="0">
              <a:buNone/>
            </a:pPr>
            <a:r>
              <a:rPr lang="en-US" sz="1400" b="1" spc="100" kern="0" dirty="0">
                <a:solidFill>
                  <a:srgbClr val="14919B"/>
                </a:solidFill>
                <a:latin typeface="Montserrat" pitchFamily="34" charset="0"/>
                <a:ea typeface="Montserrat" pitchFamily="34" charset="-122"/>
                <a:cs typeface="Montserrat" pitchFamily="34" charset="-120"/>
              </a:rPr>
              <a:t>The binding rules</a:t>
            </a:r>
            <a:endParaRPr lang="en-US" sz="1400" dirty="0"/>
          </a:p>
        </p:txBody>
      </p:sp>
      <p:sp>
        <p:nvSpPr>
          <p:cNvPr id="26" name="Text 24"/>
          <p:cNvSpPr/>
          <p:nvPr/>
        </p:nvSpPr>
        <p:spPr>
          <a:xfrm>
            <a:off x="5943600" y="2212848"/>
            <a:ext cx="5715000" cy="749808"/>
          </a:xfrm>
          <a:prstGeom prst="rect">
            <a:avLst/>
          </a:prstGeom>
          <a:noFill/>
          <a:ln/>
        </p:spPr>
        <p:txBody>
          <a:bodyPr wrap="square" lIns="0" tIns="0" rIns="0" bIns="0" rtlCol="0" anchor="t"/>
          <a:lstStyle/>
          <a:p>
            <a:pPr indent="0" marL="0">
              <a:lnSpc>
                <a:spcPct val="112000"/>
              </a:lnSpc>
              <a:buNone/>
            </a:pPr>
            <a:r>
              <a:rPr lang="en-US" sz="1250" b="1" dirty="0">
                <a:solidFill>
                  <a:srgbClr val="0F2A43"/>
                </a:solidFill>
                <a:latin typeface="Montserrat" pitchFamily="34" charset="0"/>
                <a:ea typeface="Montserrat" pitchFamily="34" charset="-122"/>
                <a:cs typeface="Montserrat" pitchFamily="34" charset="-120"/>
              </a:rPr>
              <a:t>Curated, not fitted  —  </a:t>
            </a:r>
            <a:pPr indent="0" marL="0">
              <a:lnSpc>
                <a:spcPct val="112000"/>
              </a:lnSpc>
              <a:buNone/>
            </a:pPr>
            <a:r>
              <a:rPr lang="en-US" sz="1250" dirty="0">
                <a:solidFill>
                  <a:srgbClr val="1B2733"/>
                </a:solidFill>
                <a:latin typeface="Montserrat" pitchFamily="34" charset="0"/>
                <a:ea typeface="Montserrat" pitchFamily="34" charset="-122"/>
                <a:cs typeface="Montserrat" pitchFamily="34" charset="-120"/>
              </a:rPr>
              <a:t>every parameter is attributed to an artifact; the optimizer does not override the curation.</a:t>
            </a:r>
            <a:endParaRPr lang="en-US" sz="1250" dirty="0"/>
          </a:p>
        </p:txBody>
      </p:sp>
      <p:sp>
        <p:nvSpPr>
          <p:cNvPr id="27" name="Text 25"/>
          <p:cNvSpPr/>
          <p:nvPr/>
        </p:nvSpPr>
        <p:spPr>
          <a:xfrm>
            <a:off x="5943600" y="3035808"/>
            <a:ext cx="5715000" cy="749808"/>
          </a:xfrm>
          <a:prstGeom prst="rect">
            <a:avLst/>
          </a:prstGeom>
          <a:noFill/>
          <a:ln/>
        </p:spPr>
        <p:txBody>
          <a:bodyPr wrap="square" lIns="0" tIns="0" rIns="0" bIns="0" rtlCol="0" anchor="t"/>
          <a:lstStyle/>
          <a:p>
            <a:pPr indent="0" marL="0">
              <a:lnSpc>
                <a:spcPct val="112000"/>
              </a:lnSpc>
              <a:buNone/>
            </a:pPr>
            <a:r>
              <a:rPr lang="en-US" sz="1250" b="1" dirty="0">
                <a:solidFill>
                  <a:srgbClr val="0F2A43"/>
                </a:solidFill>
                <a:latin typeface="Montserrat" pitchFamily="34" charset="0"/>
                <a:ea typeface="Montserrat" pitchFamily="34" charset="-122"/>
                <a:cs typeface="Montserrat" pitchFamily="34" charset="-120"/>
              </a:rPr>
              <a:t>Tier per claim  —  </a:t>
            </a:r>
            <a:pPr indent="0" marL="0">
              <a:lnSpc>
                <a:spcPct val="112000"/>
              </a:lnSpc>
              <a:buNone/>
            </a:pPr>
            <a:r>
              <a:rPr lang="en-US" sz="1250" dirty="0">
                <a:solidFill>
                  <a:srgbClr val="1B2733"/>
                </a:solidFill>
                <a:latin typeface="Montserrat" pitchFamily="34" charset="0"/>
                <a:ea typeface="Montserrat" pitchFamily="34" charset="-122"/>
                <a:cs typeface="Montserrat" pitchFamily="34" charset="-120"/>
              </a:rPr>
              <a:t>a 2024 paper is T1 for what it tested, T3 for adjacent claims — never graded in the abstract.</a:t>
            </a:r>
            <a:endParaRPr lang="en-US" sz="1250" dirty="0"/>
          </a:p>
        </p:txBody>
      </p:sp>
      <p:sp>
        <p:nvSpPr>
          <p:cNvPr id="28" name="Text 26"/>
          <p:cNvSpPr/>
          <p:nvPr/>
        </p:nvSpPr>
        <p:spPr>
          <a:xfrm>
            <a:off x="5943600" y="3858768"/>
            <a:ext cx="5715000" cy="749808"/>
          </a:xfrm>
          <a:prstGeom prst="rect">
            <a:avLst/>
          </a:prstGeom>
          <a:noFill/>
          <a:ln/>
        </p:spPr>
        <p:txBody>
          <a:bodyPr wrap="square" lIns="0" tIns="0" rIns="0" bIns="0" rtlCol="0" anchor="t"/>
          <a:lstStyle/>
          <a:p>
            <a:pPr indent="0" marL="0">
              <a:lnSpc>
                <a:spcPct val="112000"/>
              </a:lnSpc>
              <a:buNone/>
            </a:pPr>
            <a:r>
              <a:rPr lang="en-US" sz="1250" b="1" dirty="0">
                <a:solidFill>
                  <a:srgbClr val="0F2A43"/>
                </a:solidFill>
                <a:latin typeface="Montserrat" pitchFamily="34" charset="0"/>
                <a:ea typeface="Montserrat" pitchFamily="34" charset="-122"/>
                <a:cs typeface="Montserrat" pitchFamily="34" charset="-120"/>
              </a:rPr>
              <a:t>No silent demotion  —  </a:t>
            </a:r>
            <a:pPr indent="0" marL="0">
              <a:lnSpc>
                <a:spcPct val="112000"/>
              </a:lnSpc>
              <a:buNone/>
            </a:pPr>
            <a:r>
              <a:rPr lang="en-US" sz="1250" dirty="0">
                <a:solidFill>
                  <a:srgbClr val="1B2733"/>
                </a:solidFill>
                <a:latin typeface="Montserrat" pitchFamily="34" charset="0"/>
                <a:ea typeface="Montserrat" pitchFamily="34" charset="-122"/>
                <a:cs typeface="Montserrat" pitchFamily="34" charset="-120"/>
              </a:rPr>
              <a:t>mixing a T1 paper with a T3 proxy in one fit quietly demotes the T1. Don't.</a:t>
            </a:r>
            <a:endParaRPr lang="en-US" sz="1250" dirty="0"/>
          </a:p>
        </p:txBody>
      </p:sp>
      <p:sp>
        <p:nvSpPr>
          <p:cNvPr id="29" name="Text 27"/>
          <p:cNvSpPr/>
          <p:nvPr/>
        </p:nvSpPr>
        <p:spPr>
          <a:xfrm>
            <a:off x="5943600" y="4681728"/>
            <a:ext cx="5715000" cy="749808"/>
          </a:xfrm>
          <a:prstGeom prst="rect">
            <a:avLst/>
          </a:prstGeom>
          <a:noFill/>
          <a:ln/>
        </p:spPr>
        <p:txBody>
          <a:bodyPr wrap="square" lIns="0" tIns="0" rIns="0" bIns="0" rtlCol="0" anchor="t"/>
          <a:lstStyle/>
          <a:p>
            <a:pPr indent="0" marL="0">
              <a:lnSpc>
                <a:spcPct val="112000"/>
              </a:lnSpc>
              <a:buNone/>
            </a:pPr>
            <a:r>
              <a:rPr lang="en-US" sz="1250" b="1" dirty="0">
                <a:solidFill>
                  <a:srgbClr val="0F2A43"/>
                </a:solidFill>
                <a:latin typeface="Montserrat" pitchFamily="34" charset="0"/>
                <a:ea typeface="Montserrat" pitchFamily="34" charset="-122"/>
                <a:cs typeface="Montserrat" pitchFamily="34" charset="-120"/>
              </a:rPr>
              <a:t>A found curve is just an artifact  —  </a:t>
            </a:r>
            <a:pPr indent="0" marL="0">
              <a:lnSpc>
                <a:spcPct val="112000"/>
              </a:lnSpc>
              <a:buNone/>
            </a:pPr>
            <a:r>
              <a:rPr lang="en-US" sz="1250" dirty="0">
                <a:solidFill>
                  <a:srgbClr val="1B2733"/>
                </a:solidFill>
                <a:latin typeface="Montserrat" pitchFamily="34" charset="0"/>
                <a:ea typeface="Montserrat" pitchFamily="34" charset="-122"/>
                <a:cs typeface="Montserrat" pitchFamily="34" charset="-120"/>
              </a:rPr>
              <a:t>never copied as a black box — decomposed into anchors and re-derived.</a:t>
            </a:r>
            <a:endParaRPr lang="en-US" sz="1250" dirty="0"/>
          </a:p>
        </p:txBody>
      </p:sp>
      <p:sp>
        <p:nvSpPr>
          <p:cNvPr id="30" name="Shape 28"/>
          <p:cNvSpPr/>
          <p:nvPr/>
        </p:nvSpPr>
        <p:spPr>
          <a:xfrm>
            <a:off x="5943600" y="5532120"/>
            <a:ext cx="5715000" cy="457200"/>
          </a:xfrm>
          <a:prstGeom prst="roundRect">
            <a:avLst>
              <a:gd name="adj" fmla="val 20000"/>
            </a:avLst>
          </a:prstGeom>
          <a:solidFill>
            <a:srgbClr val="FBF0DC"/>
          </a:solidFill>
          <a:ln/>
        </p:spPr>
      </p:sp>
      <p:sp>
        <p:nvSpPr>
          <p:cNvPr id="31" name="Text 29"/>
          <p:cNvSpPr/>
          <p:nvPr/>
        </p:nvSpPr>
        <p:spPr>
          <a:xfrm>
            <a:off x="5943600" y="5532120"/>
            <a:ext cx="5715000" cy="457200"/>
          </a:xfrm>
          <a:prstGeom prst="rect">
            <a:avLst/>
          </a:prstGeom>
          <a:noFill/>
          <a:ln/>
        </p:spPr>
        <p:txBody>
          <a:bodyPr wrap="square" lIns="0" tIns="0" rIns="0" bIns="0" rtlCol="0" anchor="ctr"/>
          <a:lstStyle/>
          <a:p>
            <a:pPr algn="ctr" indent="0" marL="0">
              <a:buNone/>
            </a:pPr>
            <a:r>
              <a:rPr lang="en-US" sz="1200" b="1" dirty="0">
                <a:solidFill>
                  <a:srgbClr val="9A6B1E"/>
                </a:solidFill>
                <a:latin typeface="Montserrat" pitchFamily="34" charset="0"/>
                <a:ea typeface="Montserrat" pitchFamily="34" charset="-122"/>
                <a:cs typeface="Montserrat" pitchFamily="34" charset="-120"/>
              </a:rPr>
              <a:t>The weakest-tier parameter gates which metrics are honest downstream.</a:t>
            </a:r>
            <a:endParaRPr lang="en-US" sz="1200" dirty="0"/>
          </a:p>
        </p:txBody>
      </p:sp>
      <p:sp>
        <p:nvSpPr>
          <p:cNvPr id="32" name="Text 30"/>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33" name="Text 31"/>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damage_curve_build_methodology.docx §4 · damage_curve_evidence_reference.docx</a:t>
            </a:r>
            <a:endParaRPr lang="en-US" sz="7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8</a:t>
            </a:r>
            <a:endParaRPr lang="en-US" sz="950" dirty="0"/>
          </a:p>
        </p:txBody>
      </p:sp>
      <p:sp>
        <p:nvSpPr>
          <p:cNvPr id="3" name="Shape 1"/>
          <p:cNvSpPr/>
          <p:nvPr/>
        </p:nvSpPr>
        <p:spPr>
          <a:xfrm>
            <a:off x="566928" y="457200"/>
            <a:ext cx="603504" cy="603504"/>
          </a:xfrm>
          <a:prstGeom prst="ellipse">
            <a:avLst/>
          </a:prstGeom>
          <a:solidFill>
            <a:srgbClr val="14919B"/>
          </a:solidFill>
          <a:ln/>
        </p:spPr>
      </p:sp>
      <p:sp>
        <p:nvSpPr>
          <p:cNvPr id="4" name="Text 2"/>
          <p:cNvSpPr/>
          <p:nvPr/>
        </p:nvSpPr>
        <p:spPr>
          <a:xfrm>
            <a:off x="566928" y="457200"/>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Montserrat" pitchFamily="34" charset="0"/>
                <a:ea typeface="Montserrat" pitchFamily="34" charset="-122"/>
                <a:cs typeface="Montserrat" pitchFamily="34" charset="-120"/>
              </a:rPr>
              <a:t>2</a:t>
            </a:r>
            <a:endParaRPr lang="en-US" sz="2200" dirty="0"/>
          </a:p>
        </p:txBody>
      </p:sp>
      <p:sp>
        <p:nvSpPr>
          <p:cNvPr id="5" name="Text 3"/>
          <p:cNvSpPr/>
          <p:nvPr/>
        </p:nvSpPr>
        <p:spPr>
          <a:xfrm>
            <a:off x="1353312" y="457200"/>
            <a:ext cx="10058400" cy="310896"/>
          </a:xfrm>
          <a:prstGeom prst="rect">
            <a:avLst/>
          </a:prstGeom>
          <a:noFill/>
          <a:ln/>
        </p:spPr>
        <p:txBody>
          <a:bodyPr wrap="square" lIns="0" tIns="0" rIns="0" bIns="0" rtlCol="0" anchor="ctr"/>
          <a:lstStyle/>
          <a:p>
            <a:pPr indent="0" marL="0">
              <a:buNone/>
            </a:pPr>
            <a:r>
              <a:rPr lang="en-US" sz="1350" b="1" spc="200" kern="0" dirty="0">
                <a:solidFill>
                  <a:srgbClr val="14919B"/>
                </a:solidFill>
                <a:latin typeface="Montserrat" pitchFamily="34" charset="0"/>
                <a:ea typeface="Montserrat" pitchFamily="34" charset="-122"/>
                <a:cs typeface="Montserrat" pitchFamily="34" charset="-120"/>
              </a:rPr>
              <a:t>STAGE 2   </a:t>
            </a:r>
            <a:pPr indent="0" marL="0">
              <a:buNone/>
            </a:pPr>
            <a:r>
              <a:rPr lang="en-US" sz="1350" b="1" spc="200" kern="0" dirty="0">
                <a:solidFill>
                  <a:srgbClr val="0F2A43"/>
                </a:solidFill>
                <a:latin typeface="Montserrat" pitchFamily="34" charset="0"/>
                <a:ea typeface="Montserrat" pitchFamily="34" charset="-122"/>
                <a:cs typeface="Montserrat" pitchFamily="34" charset="-120"/>
              </a:rPr>
              <a:t>GRAIN</a:t>
            </a:r>
            <a:endParaRPr lang="en-US" sz="1350" dirty="0"/>
          </a:p>
        </p:txBody>
      </p:sp>
      <p:sp>
        <p:nvSpPr>
          <p:cNvPr id="6" name="Text 4"/>
          <p:cNvSpPr/>
          <p:nvPr/>
        </p:nvSpPr>
        <p:spPr>
          <a:xfrm>
            <a:off x="1353312" y="768096"/>
            <a:ext cx="10607040" cy="658368"/>
          </a:xfrm>
          <a:prstGeom prst="rect">
            <a:avLst/>
          </a:prstGeom>
          <a:noFill/>
          <a:ln/>
        </p:spPr>
        <p:txBody>
          <a:bodyPr wrap="square" lIns="0" tIns="0" rIns="0" bIns="0" rtlCol="0" anchor="ctr"/>
          <a:lstStyle/>
          <a:p>
            <a:pPr indent="0" marL="0">
              <a:lnSpc>
                <a:spcPct val="98000"/>
              </a:lnSpc>
              <a:buNone/>
            </a:pPr>
            <a:r>
              <a:rPr lang="en-US" sz="2150" b="1" dirty="0">
                <a:solidFill>
                  <a:srgbClr val="0F2A43"/>
                </a:solidFill>
                <a:latin typeface="Montserrat" pitchFamily="34" charset="0"/>
                <a:ea typeface="Montserrat" pitchFamily="34" charset="-122"/>
                <a:cs typeface="Montserrat" pitchFamily="34" charset="-120"/>
              </a:rPr>
              <a:t>At what level is a curve written — and how do those levels compose?</a:t>
            </a:r>
            <a:endParaRPr lang="en-US" sz="2150" dirty="0"/>
          </a:p>
        </p:txBody>
      </p:sp>
      <p:sp>
        <p:nvSpPr>
          <p:cNvPr id="7" name="Shape 5"/>
          <p:cNvSpPr/>
          <p:nvPr/>
        </p:nvSpPr>
        <p:spPr>
          <a:xfrm>
            <a:off x="566928" y="1783080"/>
            <a:ext cx="5532120" cy="4114800"/>
          </a:xfrm>
          <a:prstGeom prst="roundRect">
            <a:avLst>
              <a:gd name="adj" fmla="val 20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8" name="Text 6"/>
          <p:cNvSpPr/>
          <p:nvPr/>
        </p:nvSpPr>
        <p:spPr>
          <a:xfrm>
            <a:off x="841248" y="1965960"/>
            <a:ext cx="4937760" cy="365760"/>
          </a:xfrm>
          <a:prstGeom prst="rect">
            <a:avLst/>
          </a:prstGeom>
          <a:noFill/>
          <a:ln/>
        </p:spPr>
        <p:txBody>
          <a:bodyPr wrap="square" lIns="0" tIns="0" rIns="0" bIns="0" rtlCol="0" anchor="ctr"/>
          <a:lstStyle/>
          <a:p>
            <a:pPr indent="0" marL="0">
              <a:buNone/>
            </a:pPr>
            <a:r>
              <a:rPr lang="en-US" sz="1400" b="1" dirty="0">
                <a:solidFill>
                  <a:srgbClr val="0F2A43"/>
                </a:solidFill>
                <a:latin typeface="Montserrat" pitchFamily="34" charset="0"/>
                <a:ea typeface="Montserrat" pitchFamily="34" charset="-122"/>
                <a:cs typeface="Montserrat" pitchFamily="34" charset="-120"/>
              </a:rPr>
              <a:t>The composition rule</a:t>
            </a:r>
            <a:endParaRPr lang="en-US" sz="1400" dirty="0"/>
          </a:p>
        </p:txBody>
      </p:sp>
      <p:sp>
        <p:nvSpPr>
          <p:cNvPr id="9" name="Shape 7"/>
          <p:cNvSpPr/>
          <p:nvPr/>
        </p:nvSpPr>
        <p:spPr>
          <a:xfrm>
            <a:off x="841248" y="2395728"/>
            <a:ext cx="4983480" cy="777240"/>
          </a:xfrm>
          <a:prstGeom prst="roundRect">
            <a:avLst>
              <a:gd name="adj" fmla="val 9412"/>
            </a:avLst>
          </a:prstGeom>
          <a:solidFill>
            <a:srgbClr val="0F2A43"/>
          </a:solidFill>
          <a:ln/>
        </p:spPr>
      </p:sp>
      <p:sp>
        <p:nvSpPr>
          <p:cNvPr id="10" name="Text 8"/>
          <p:cNvSpPr/>
          <p:nvPr/>
        </p:nvSpPr>
        <p:spPr>
          <a:xfrm>
            <a:off x="841248" y="2395728"/>
            <a:ext cx="4983480" cy="777240"/>
          </a:xfrm>
          <a:prstGeom prst="rect">
            <a:avLst/>
          </a:prstGeom>
          <a:noFill/>
          <a:ln/>
        </p:spPr>
        <p:txBody>
          <a:bodyPr wrap="square" lIns="0" tIns="0" rIns="0" bIns="0" rtlCol="0" anchor="ctr"/>
          <a:lstStyle/>
          <a:p>
            <a:pPr algn="ctr" indent="0" marL="0">
              <a:buNone/>
            </a:pPr>
            <a:r>
              <a:rPr lang="en-US" sz="1500" b="1" dirty="0">
                <a:solidFill>
                  <a:srgbClr val="D7EEF1"/>
                </a:solidFill>
                <a:latin typeface="Consolas" pitchFamily="34" charset="0"/>
                <a:ea typeface="Consolas" pitchFamily="34" charset="-122"/>
                <a:cs typeface="Consolas" pitchFamily="34" charset="-120"/>
              </a:rPr>
              <a:t>cell_DR  =  Σ ( capex_shareᵢ × unit_DRᵢ )</a:t>
            </a:r>
            <a:endParaRPr lang="en-US" sz="1500" dirty="0"/>
          </a:p>
        </p:txBody>
      </p:sp>
      <p:sp>
        <p:nvSpPr>
          <p:cNvPr id="11" name="Text 9"/>
          <p:cNvSpPr/>
          <p:nvPr/>
        </p:nvSpPr>
        <p:spPr>
          <a:xfrm>
            <a:off x="841248" y="3310128"/>
            <a:ext cx="4983480" cy="914400"/>
          </a:xfrm>
          <a:prstGeom prst="rect">
            <a:avLst/>
          </a:prstGeom>
          <a:noFill/>
          <a:ln/>
        </p:spPr>
        <p:txBody>
          <a:bodyPr wrap="square" lIns="0" tIns="0" rIns="0" bIns="0" rtlCol="0" anchor="ctr"/>
          <a:lstStyle/>
          <a:p>
            <a:pPr indent="0" marL="0">
              <a:lnSpc>
                <a:spcPct val="115000"/>
              </a:lnSpc>
              <a:buNone/>
            </a:pPr>
            <a:r>
              <a:rPr lang="en-US" sz="1250" b="1" dirty="0">
                <a:solidFill>
                  <a:srgbClr val="0F2A43"/>
                </a:solidFill>
                <a:latin typeface="Montserrat" pitchFamily="34" charset="0"/>
                <a:ea typeface="Montserrat" pitchFamily="34" charset="-122"/>
                <a:cs typeface="Montserrat" pitchFamily="34" charset="-120"/>
              </a:rPr>
              <a:t>Capex-weighted summation, </a:t>
            </a:r>
            <a:pPr indent="0" marL="0">
              <a:lnSpc>
                <a:spcPct val="115000"/>
              </a:lnSpc>
              <a:buNone/>
            </a:pPr>
            <a:r>
              <a:rPr lang="en-US" sz="1250" dirty="0">
                <a:solidFill>
                  <a:srgbClr val="1B2733"/>
                </a:solidFill>
                <a:latin typeface="Montserrat" pitchFamily="34" charset="0"/>
                <a:ea typeface="Montserrat" pitchFamily="34" charset="-122"/>
                <a:cs typeface="Montserrat" pitchFamily="34" charset="-120"/>
              </a:rPr>
              <a:t>each unit's DR capped at its own saturation. No grouping primitive — composition is always explicit, so double-counting can't hide.</a:t>
            </a:r>
            <a:endParaRPr lang="en-US" sz="1250" dirty="0"/>
          </a:p>
        </p:txBody>
      </p:sp>
      <p:sp>
        <p:nvSpPr>
          <p:cNvPr id="12" name="Text 10"/>
          <p:cNvSpPr/>
          <p:nvPr/>
        </p:nvSpPr>
        <p:spPr>
          <a:xfrm>
            <a:off x="841248" y="4297680"/>
            <a:ext cx="4983480" cy="274320"/>
          </a:xfrm>
          <a:prstGeom prst="rect">
            <a:avLst/>
          </a:prstGeom>
          <a:noFill/>
          <a:ln/>
        </p:spPr>
        <p:txBody>
          <a:bodyPr wrap="square" lIns="0" tIns="0" rIns="0" bIns="0" rtlCol="0" anchor="ctr"/>
          <a:lstStyle/>
          <a:p>
            <a:pPr indent="0" marL="0">
              <a:buNone/>
            </a:pPr>
            <a:r>
              <a:rPr lang="en-US" sz="1150" i="1" dirty="0">
                <a:solidFill>
                  <a:srgbClr val="5B7184"/>
                </a:solidFill>
                <a:latin typeface="Montserrat" pitchFamily="34" charset="0"/>
                <a:ea typeface="Montserrat" pitchFamily="34" charset="-122"/>
                <a:cs typeface="Montserrat" pitchFamily="34" charset="-120"/>
              </a:rPr>
              <a:t>Worked split — hail × solar (illustrative):</a:t>
            </a:r>
            <a:endParaRPr lang="en-US" sz="1150" dirty="0"/>
          </a:p>
        </p:txBody>
      </p:sp>
      <p:sp>
        <p:nvSpPr>
          <p:cNvPr id="13" name="Text 11"/>
          <p:cNvSpPr/>
          <p:nvPr/>
        </p:nvSpPr>
        <p:spPr>
          <a:xfrm>
            <a:off x="841248" y="4572000"/>
            <a:ext cx="4983480" cy="822960"/>
          </a:xfrm>
          <a:prstGeom prst="rect">
            <a:avLst/>
          </a:prstGeom>
          <a:noFill/>
          <a:ln/>
        </p:spPr>
        <p:txBody>
          <a:bodyPr wrap="square" lIns="0" tIns="0" rIns="0" bIns="0" rtlCol="0" anchor="ctr"/>
          <a:lstStyle/>
          <a:p>
            <a:pPr marL="152400" indent="-152400">
              <a:spcAft>
                <a:spcPts val="400"/>
              </a:spcAft>
              <a:buSzPct val="100000"/>
              <a:buChar char="•"/>
            </a:pPr>
            <a:r>
              <a:rPr lang="en-US" sz="1150" b="1" dirty="0">
                <a:solidFill>
                  <a:srgbClr val="0F2A43"/>
                </a:solidFill>
                <a:latin typeface="Consolas" pitchFamily="34" charset="0"/>
                <a:ea typeface="Consolas" pitchFamily="34" charset="-122"/>
                <a:cs typeface="Consolas" pitchFamily="34" charset="-120"/>
              </a:rPr>
              <a:t>panel_glass 0.65</a:t>
            </a:r>
            <a:endParaRPr lang="en-US" sz="1150" dirty="0"/>
          </a:p>
          <a:p>
            <a:pPr marL="152400" indent="-152400">
              <a:buSzPct val="100000"/>
              <a:buChar char="•"/>
            </a:pPr>
            <a:r>
              <a:rPr lang="en-US" sz="1150" dirty="0">
                <a:solidFill>
                  <a:srgbClr val="1B2733"/>
                </a:solidFill>
                <a:latin typeface="Consolas" pitchFamily="34" charset="0"/>
                <a:ea typeface="Consolas" pitchFamily="34" charset="-122"/>
                <a:cs typeface="Consolas" pitchFamily="34" charset="-120"/>
              </a:rPr>
              <a:t>mounting/tracker 0.20 · inverter 0.10 · racking 0.05</a:t>
            </a:r>
            <a:endParaRPr lang="en-US" sz="1150" dirty="0"/>
          </a:p>
        </p:txBody>
      </p:sp>
      <p:sp>
        <p:nvSpPr>
          <p:cNvPr id="14" name="Text 12"/>
          <p:cNvSpPr/>
          <p:nvPr/>
        </p:nvSpPr>
        <p:spPr>
          <a:xfrm>
            <a:off x="6446520" y="1783080"/>
            <a:ext cx="5486400" cy="365760"/>
          </a:xfrm>
          <a:prstGeom prst="rect">
            <a:avLst/>
          </a:prstGeom>
          <a:noFill/>
          <a:ln/>
        </p:spPr>
        <p:txBody>
          <a:bodyPr wrap="square" lIns="0" tIns="0" rIns="0" bIns="0" rtlCol="0" anchor="ctr"/>
          <a:lstStyle/>
          <a:p>
            <a:pPr indent="0" marL="0">
              <a:buNone/>
            </a:pPr>
            <a:r>
              <a:rPr lang="en-US" sz="1400" b="1" spc="100" kern="0" dirty="0">
                <a:solidFill>
                  <a:srgbClr val="14919B"/>
                </a:solidFill>
                <a:latin typeface="Montserrat" pitchFamily="34" charset="0"/>
                <a:ea typeface="Montserrat" pitchFamily="34" charset="-122"/>
                <a:cs typeface="Montserrat" pitchFamily="34" charset="-120"/>
              </a:rPr>
              <a:t>The doctrine</a:t>
            </a:r>
            <a:endParaRPr lang="en-US" sz="1400" dirty="0"/>
          </a:p>
        </p:txBody>
      </p:sp>
      <p:sp>
        <p:nvSpPr>
          <p:cNvPr id="15" name="Text 13"/>
          <p:cNvSpPr/>
          <p:nvPr/>
        </p:nvSpPr>
        <p:spPr>
          <a:xfrm>
            <a:off x="6446520" y="2212848"/>
            <a:ext cx="5212080" cy="749808"/>
          </a:xfrm>
          <a:prstGeom prst="rect">
            <a:avLst/>
          </a:prstGeom>
          <a:noFill/>
          <a:ln/>
        </p:spPr>
        <p:txBody>
          <a:bodyPr wrap="square" lIns="0" tIns="0" rIns="0" bIns="0" rtlCol="0" anchor="t"/>
          <a:lstStyle/>
          <a:p>
            <a:pPr indent="0" marL="0">
              <a:lnSpc>
                <a:spcPct val="112000"/>
              </a:lnSpc>
              <a:buNone/>
            </a:pPr>
            <a:r>
              <a:rPr lang="en-US" sz="1250" b="1" dirty="0">
                <a:solidFill>
                  <a:srgbClr val="0F2A43"/>
                </a:solidFill>
                <a:latin typeface="Montserrat" pitchFamily="34" charset="0"/>
                <a:ea typeface="Montserrat" pitchFamily="34" charset="-122"/>
                <a:cs typeface="Montserrat" pitchFamily="34" charset="-120"/>
              </a:rPr>
              <a:t>Subsystem-default  —  </a:t>
            </a:r>
            <a:pPr indent="0" marL="0">
              <a:lnSpc>
                <a:spcPct val="112000"/>
              </a:lnSpc>
              <a:buNone/>
            </a:pPr>
            <a:r>
              <a:rPr lang="en-US" sz="1250" dirty="0">
                <a:solidFill>
                  <a:srgbClr val="1B2733"/>
                </a:solidFill>
                <a:latin typeface="Montserrat" pitchFamily="34" charset="0"/>
                <a:ea typeface="Montserrat" pitchFamily="34" charset="-122"/>
                <a:cs typeface="Montserrat" pitchFamily="34" charset="-120"/>
              </a:rPr>
              <a:t>write at panel-glass / inverter / racking level — not panel-as-monolith.</a:t>
            </a:r>
            <a:endParaRPr lang="en-US" sz="1250" dirty="0"/>
          </a:p>
        </p:txBody>
      </p:sp>
      <p:sp>
        <p:nvSpPr>
          <p:cNvPr id="16" name="Text 14"/>
          <p:cNvSpPr/>
          <p:nvPr/>
        </p:nvSpPr>
        <p:spPr>
          <a:xfrm>
            <a:off x="6446520" y="3035808"/>
            <a:ext cx="5212080" cy="749808"/>
          </a:xfrm>
          <a:prstGeom prst="rect">
            <a:avLst/>
          </a:prstGeom>
          <a:noFill/>
          <a:ln/>
        </p:spPr>
        <p:txBody>
          <a:bodyPr wrap="square" lIns="0" tIns="0" rIns="0" bIns="0" rtlCol="0" anchor="t"/>
          <a:lstStyle/>
          <a:p>
            <a:pPr indent="0" marL="0">
              <a:lnSpc>
                <a:spcPct val="112000"/>
              </a:lnSpc>
              <a:buNone/>
            </a:pPr>
            <a:r>
              <a:rPr lang="en-US" sz="1250" b="1" dirty="0">
                <a:solidFill>
                  <a:srgbClr val="0F2A43"/>
                </a:solidFill>
                <a:latin typeface="Montserrat" pitchFamily="34" charset="0"/>
                <a:ea typeface="Montserrat" pitchFamily="34" charset="-122"/>
                <a:cs typeface="Montserrat" pitchFamily="34" charset="-120"/>
              </a:rPr>
              <a:t>Finer where mechanism concentrates  —  </a:t>
            </a:r>
            <a:pPr indent="0" marL="0">
              <a:lnSpc>
                <a:spcPct val="112000"/>
              </a:lnSpc>
              <a:buNone/>
            </a:pPr>
            <a:r>
              <a:rPr lang="en-US" sz="1250" dirty="0">
                <a:solidFill>
                  <a:srgbClr val="1B2733"/>
                </a:solidFill>
                <a:latin typeface="Montserrat" pitchFamily="34" charset="0"/>
                <a:ea typeface="Montserrat" pitchFamily="34" charset="-122"/>
                <a:cs typeface="Montserrat" pitchFamily="34" charset="-120"/>
              </a:rPr>
              <a:t>split only where evidence supports a separate curve.</a:t>
            </a:r>
            <a:endParaRPr lang="en-US" sz="1250" dirty="0"/>
          </a:p>
        </p:txBody>
      </p:sp>
      <p:sp>
        <p:nvSpPr>
          <p:cNvPr id="17" name="Text 15"/>
          <p:cNvSpPr/>
          <p:nvPr/>
        </p:nvSpPr>
        <p:spPr>
          <a:xfrm>
            <a:off x="6446520" y="3858768"/>
            <a:ext cx="5212080" cy="749808"/>
          </a:xfrm>
          <a:prstGeom prst="rect">
            <a:avLst/>
          </a:prstGeom>
          <a:noFill/>
          <a:ln/>
        </p:spPr>
        <p:txBody>
          <a:bodyPr wrap="square" lIns="0" tIns="0" rIns="0" bIns="0" rtlCol="0" anchor="t"/>
          <a:lstStyle/>
          <a:p>
            <a:pPr indent="0" marL="0">
              <a:lnSpc>
                <a:spcPct val="112000"/>
              </a:lnSpc>
              <a:buNone/>
            </a:pPr>
            <a:r>
              <a:rPr lang="en-US" sz="1250" b="1" dirty="0">
                <a:solidFill>
                  <a:srgbClr val="0F2A43"/>
                </a:solidFill>
                <a:latin typeface="Montserrat" pitchFamily="34" charset="0"/>
                <a:ea typeface="Montserrat" pitchFamily="34" charset="-122"/>
                <a:cs typeface="Montserrat" pitchFamily="34" charset="-120"/>
              </a:rPr>
              <a:t>Role assigns the effort  —  </a:t>
            </a:r>
            <a:pPr indent="0" marL="0">
              <a:lnSpc>
                <a:spcPct val="112000"/>
              </a:lnSpc>
              <a:buNone/>
            </a:pPr>
            <a:r>
              <a:rPr lang="en-US" sz="1250" dirty="0">
                <a:solidFill>
                  <a:srgbClr val="1B2733"/>
                </a:solidFill>
                <a:latin typeface="Montserrat" pitchFamily="34" charset="0"/>
                <a:ea typeface="Montserrat" pitchFamily="34" charset="-122"/>
                <a:cs typeface="Montserrat" pitchFamily="34" charset="-120"/>
              </a:rPr>
              <a:t>primaries get the evidence &amp; care; secondaries get standards shapes; conditioner-only / exposure units carry no curve.</a:t>
            </a:r>
            <a:endParaRPr lang="en-US" sz="1250" dirty="0"/>
          </a:p>
        </p:txBody>
      </p:sp>
      <p:sp>
        <p:nvSpPr>
          <p:cNvPr id="18" name="Text 16"/>
          <p:cNvSpPr/>
          <p:nvPr/>
        </p:nvSpPr>
        <p:spPr>
          <a:xfrm>
            <a:off x="6446520" y="4681728"/>
            <a:ext cx="5212080" cy="749808"/>
          </a:xfrm>
          <a:prstGeom prst="rect">
            <a:avLst/>
          </a:prstGeom>
          <a:noFill/>
          <a:ln/>
        </p:spPr>
        <p:txBody>
          <a:bodyPr wrap="square" lIns="0" tIns="0" rIns="0" bIns="0" rtlCol="0" anchor="t"/>
          <a:lstStyle/>
          <a:p>
            <a:pPr indent="0" marL="0">
              <a:lnSpc>
                <a:spcPct val="112000"/>
              </a:lnSpc>
              <a:buNone/>
            </a:pPr>
            <a:r>
              <a:rPr lang="en-US" sz="1250" b="1" dirty="0">
                <a:solidFill>
                  <a:srgbClr val="0F2A43"/>
                </a:solidFill>
                <a:latin typeface="Montserrat" pitchFamily="34" charset="0"/>
                <a:ea typeface="Montserrat" pitchFamily="34" charset="-122"/>
                <a:cs typeface="Montserrat" pitchFamily="34" charset="-120"/>
              </a:rPr>
              <a:t>Immune ≠ ignored  —  </a:t>
            </a:r>
            <a:pPr indent="0" marL="0">
              <a:lnSpc>
                <a:spcPct val="112000"/>
              </a:lnSpc>
              <a:buNone/>
            </a:pPr>
            <a:r>
              <a:rPr lang="en-US" sz="1250" dirty="0">
                <a:solidFill>
                  <a:srgbClr val="1B2733"/>
                </a:solidFill>
                <a:latin typeface="Montserrat" pitchFamily="34" charset="0"/>
                <a:ea typeface="Montserrat" pitchFamily="34" charset="-122"/>
                <a:cs typeface="Montserrat" pitchFamily="34" charset="-120"/>
              </a:rPr>
              <a:t>DR≈0 parts are kept as explicit reviewed records, not dropped.</a:t>
            </a:r>
            <a:endParaRPr lang="en-US" sz="1250" dirty="0"/>
          </a:p>
        </p:txBody>
      </p:sp>
      <p:sp>
        <p:nvSpPr>
          <p:cNvPr id="19" name="Text 17"/>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20" name="Text 18"/>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damage_curve_build_methodology.docx §5 · questions/01_granularity.md</a:t>
            </a:r>
            <a:endParaRPr lang="en-US" sz="7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9</a:t>
            </a:r>
            <a:endParaRPr lang="en-US" sz="950" dirty="0"/>
          </a:p>
        </p:txBody>
      </p:sp>
      <p:sp>
        <p:nvSpPr>
          <p:cNvPr id="3" name="Shape 1"/>
          <p:cNvSpPr/>
          <p:nvPr/>
        </p:nvSpPr>
        <p:spPr>
          <a:xfrm>
            <a:off x="566928" y="457200"/>
            <a:ext cx="603504" cy="603504"/>
          </a:xfrm>
          <a:prstGeom prst="ellipse">
            <a:avLst/>
          </a:prstGeom>
          <a:solidFill>
            <a:srgbClr val="14919B"/>
          </a:solidFill>
          <a:ln/>
        </p:spPr>
      </p:sp>
      <p:sp>
        <p:nvSpPr>
          <p:cNvPr id="4" name="Text 2"/>
          <p:cNvSpPr/>
          <p:nvPr/>
        </p:nvSpPr>
        <p:spPr>
          <a:xfrm>
            <a:off x="566928" y="457200"/>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Montserrat" pitchFamily="34" charset="0"/>
                <a:ea typeface="Montserrat" pitchFamily="34" charset="-122"/>
                <a:cs typeface="Montserrat" pitchFamily="34" charset="-120"/>
              </a:rPr>
              <a:t>3</a:t>
            </a:r>
            <a:endParaRPr lang="en-US" sz="2200" dirty="0"/>
          </a:p>
        </p:txBody>
      </p:sp>
      <p:sp>
        <p:nvSpPr>
          <p:cNvPr id="5" name="Text 3"/>
          <p:cNvSpPr/>
          <p:nvPr/>
        </p:nvSpPr>
        <p:spPr>
          <a:xfrm>
            <a:off x="1353312" y="457200"/>
            <a:ext cx="10058400" cy="310896"/>
          </a:xfrm>
          <a:prstGeom prst="rect">
            <a:avLst/>
          </a:prstGeom>
          <a:noFill/>
          <a:ln/>
        </p:spPr>
        <p:txBody>
          <a:bodyPr wrap="square" lIns="0" tIns="0" rIns="0" bIns="0" rtlCol="0" anchor="ctr"/>
          <a:lstStyle/>
          <a:p>
            <a:pPr indent="0" marL="0">
              <a:buNone/>
            </a:pPr>
            <a:r>
              <a:rPr lang="en-US" sz="1350" b="1" spc="200" kern="0" dirty="0">
                <a:solidFill>
                  <a:srgbClr val="14919B"/>
                </a:solidFill>
                <a:latin typeface="Montserrat" pitchFamily="34" charset="0"/>
                <a:ea typeface="Montserrat" pitchFamily="34" charset="-122"/>
                <a:cs typeface="Montserrat" pitchFamily="34" charset="-120"/>
              </a:rPr>
              <a:t>STAGE 3   </a:t>
            </a:r>
            <a:pPr indent="0" marL="0">
              <a:buNone/>
            </a:pPr>
            <a:r>
              <a:rPr lang="en-US" sz="1350" b="1" spc="200" kern="0" dirty="0">
                <a:solidFill>
                  <a:srgbClr val="0F2A43"/>
                </a:solidFill>
                <a:latin typeface="Montserrat" pitchFamily="34" charset="0"/>
                <a:ea typeface="Montserrat" pitchFamily="34" charset="-122"/>
                <a:cs typeface="Montserrat" pitchFamily="34" charset="-120"/>
              </a:rPr>
              <a:t>AXIS</a:t>
            </a:r>
            <a:endParaRPr lang="en-US" sz="1350" dirty="0"/>
          </a:p>
        </p:txBody>
      </p:sp>
      <p:sp>
        <p:nvSpPr>
          <p:cNvPr id="6" name="Text 4"/>
          <p:cNvSpPr/>
          <p:nvPr/>
        </p:nvSpPr>
        <p:spPr>
          <a:xfrm>
            <a:off x="1353312" y="768096"/>
            <a:ext cx="10607040" cy="658368"/>
          </a:xfrm>
          <a:prstGeom prst="rect">
            <a:avLst/>
          </a:prstGeom>
          <a:noFill/>
          <a:ln/>
        </p:spPr>
        <p:txBody>
          <a:bodyPr wrap="square" lIns="0" tIns="0" rIns="0" bIns="0" rtlCol="0" anchor="ctr"/>
          <a:lstStyle/>
          <a:p>
            <a:pPr indent="0" marL="0">
              <a:lnSpc>
                <a:spcPct val="98000"/>
              </a:lnSpc>
              <a:buNone/>
            </a:pPr>
            <a:r>
              <a:rPr lang="en-US" sz="2150" b="1" dirty="0">
                <a:solidFill>
                  <a:srgbClr val="0F2A43"/>
                </a:solidFill>
                <a:latin typeface="Montserrat" pitchFamily="34" charset="0"/>
                <a:ea typeface="Montserrat" pitchFamily="34" charset="-122"/>
                <a:cs typeface="Montserrat" pitchFamily="34" charset="-120"/>
              </a:rPr>
              <a:t>What variable indexes damage for each failure-unit?</a:t>
            </a:r>
            <a:endParaRPr lang="en-US" sz="2150" dirty="0"/>
          </a:p>
        </p:txBody>
      </p:sp>
      <p:sp>
        <p:nvSpPr>
          <p:cNvPr id="7" name="Text 5"/>
          <p:cNvSpPr/>
          <p:nvPr/>
        </p:nvSpPr>
        <p:spPr>
          <a:xfrm>
            <a:off x="566928" y="1426464"/>
            <a:ext cx="11064240" cy="548640"/>
          </a:xfrm>
          <a:prstGeom prst="rect">
            <a:avLst/>
          </a:prstGeom>
          <a:noFill/>
          <a:ln/>
        </p:spPr>
        <p:txBody>
          <a:bodyPr wrap="square" lIns="0" tIns="0" rIns="0" bIns="0" rtlCol="0" anchor="ctr"/>
          <a:lstStyle/>
          <a:p>
            <a:pPr indent="0" marL="0">
              <a:lnSpc>
                <a:spcPct val="114000"/>
              </a:lnSpc>
              <a:buNone/>
            </a:pPr>
            <a:r>
              <a:rPr lang="en-US" sz="1250" b="1" dirty="0">
                <a:solidFill>
                  <a:srgbClr val="14919B"/>
                </a:solidFill>
                <a:latin typeface="Montserrat" pitchFamily="34" charset="0"/>
                <a:ea typeface="Montserrat" pitchFamily="34" charset="-122"/>
                <a:cs typeface="Montserrat" pitchFamily="34" charset="-120"/>
              </a:rPr>
              <a:t>Why it earns its own stage:  </a:t>
            </a:r>
            <a:pPr indent="0" marL="0">
              <a:lnSpc>
                <a:spcPct val="114000"/>
              </a:lnSpc>
              <a:buNone/>
            </a:pPr>
            <a:r>
              <a:rPr lang="en-US" sz="1250" dirty="0">
                <a:solidFill>
                  <a:srgbClr val="1B2733"/>
                </a:solidFill>
                <a:latin typeface="Montserrat" pitchFamily="34" charset="0"/>
                <a:ea typeface="Montserrat" pitchFamily="34" charset="-122"/>
                <a:cs typeface="Montserrat" pitchFamily="34" charset="-120"/>
              </a:rPr>
              <a:t>the indexing variable isn’t given — it’s an evidence-driven choice. Different reports measure damage against different variables, and it’s rarely the one the hazard catalog reports. Pick the variable that actually drives the failure. (Hail is the easy case: just diameter.)</a:t>
            </a:r>
            <a:endParaRPr lang="en-US" sz="1250" dirty="0"/>
          </a:p>
        </p:txBody>
      </p:sp>
      <p:sp>
        <p:nvSpPr>
          <p:cNvPr id="8" name="Shape 6"/>
          <p:cNvSpPr/>
          <p:nvPr/>
        </p:nvSpPr>
        <p:spPr>
          <a:xfrm>
            <a:off x="566928" y="2084832"/>
            <a:ext cx="11064240" cy="1572768"/>
          </a:xfrm>
          <a:prstGeom prst="roundRect">
            <a:avLst>
              <a:gd name="adj" fmla="val 5233"/>
            </a:avLst>
          </a:prstGeom>
          <a:solidFill>
            <a:srgbClr val="F0F7F8"/>
          </a:solidFill>
          <a:ln w="12700">
            <a:solidFill>
              <a:srgbClr val="D7E2E8"/>
            </a:solidFill>
            <a:prstDash val="solid"/>
          </a:ln>
        </p:spPr>
      </p:sp>
      <p:sp>
        <p:nvSpPr>
          <p:cNvPr id="9" name="Text 7"/>
          <p:cNvSpPr/>
          <p:nvPr/>
        </p:nvSpPr>
        <p:spPr>
          <a:xfrm>
            <a:off x="841248" y="2212848"/>
            <a:ext cx="10515600" cy="365760"/>
          </a:xfrm>
          <a:prstGeom prst="rect">
            <a:avLst/>
          </a:prstGeom>
          <a:noFill/>
          <a:ln/>
        </p:spPr>
        <p:txBody>
          <a:bodyPr wrap="square" lIns="0" tIns="0" rIns="0" bIns="0" rtlCol="0" anchor="ctr"/>
          <a:lstStyle/>
          <a:p>
            <a:pPr indent="0" marL="0">
              <a:buNone/>
            </a:pPr>
            <a:r>
              <a:rPr lang="en-US" sz="1400" b="1" dirty="0">
                <a:solidFill>
                  <a:srgbClr val="0F2A43"/>
                </a:solidFill>
                <a:latin typeface="Montserrat" pitchFamily="34" charset="0"/>
                <a:ea typeface="Montserrat" pitchFamily="34" charset="-122"/>
                <a:cs typeface="Montserrat" pitchFamily="34" charset="-120"/>
              </a:rPr>
              <a:t>The chain-position rule — index by what HITS the unit, not what the hazard reports</a:t>
            </a:r>
            <a:endParaRPr lang="en-US" sz="1400" dirty="0"/>
          </a:p>
        </p:txBody>
      </p:sp>
      <p:sp>
        <p:nvSpPr>
          <p:cNvPr id="10" name="Shape 8"/>
          <p:cNvSpPr/>
          <p:nvPr/>
        </p:nvSpPr>
        <p:spPr>
          <a:xfrm>
            <a:off x="886968" y="2670048"/>
            <a:ext cx="3200400" cy="841248"/>
          </a:xfrm>
          <a:prstGeom prst="roundRect">
            <a:avLst>
              <a:gd name="adj" fmla="val 8696"/>
            </a:avLst>
          </a:prstGeom>
          <a:solidFill>
            <a:srgbClr val="FFFFFF"/>
          </a:solidFill>
          <a:ln w="12700">
            <a:solidFill>
              <a:srgbClr val="D7E2E8"/>
            </a:solidFill>
            <a:prstDash val="solid"/>
          </a:ln>
        </p:spPr>
      </p:sp>
      <p:sp>
        <p:nvSpPr>
          <p:cNvPr id="11" name="Text 9"/>
          <p:cNvSpPr/>
          <p:nvPr/>
        </p:nvSpPr>
        <p:spPr>
          <a:xfrm>
            <a:off x="978408" y="2743200"/>
            <a:ext cx="3017520" cy="365760"/>
          </a:xfrm>
          <a:prstGeom prst="rect">
            <a:avLst/>
          </a:prstGeom>
          <a:noFill/>
          <a:ln/>
        </p:spPr>
        <p:txBody>
          <a:bodyPr wrap="square" lIns="0" tIns="0" rIns="0" bIns="0" rtlCol="0" anchor="ctr"/>
          <a:lstStyle/>
          <a:p>
            <a:pPr algn="ctr" indent="0" marL="0">
              <a:buNone/>
            </a:pPr>
            <a:r>
              <a:rPr lang="en-US" sz="1300" b="1" dirty="0">
                <a:solidFill>
                  <a:srgbClr val="0F2A43"/>
                </a:solidFill>
                <a:latin typeface="Montserrat" pitchFamily="34" charset="0"/>
                <a:ea typeface="Montserrat" pitchFamily="34" charset="-122"/>
                <a:cs typeface="Montserrat" pitchFamily="34" charset="-120"/>
              </a:rPr>
              <a:t>Radar reflectivity</a:t>
            </a:r>
            <a:endParaRPr lang="en-US" sz="1300" dirty="0"/>
          </a:p>
        </p:txBody>
      </p:sp>
      <p:sp>
        <p:nvSpPr>
          <p:cNvPr id="12" name="Text 10"/>
          <p:cNvSpPr/>
          <p:nvPr/>
        </p:nvSpPr>
        <p:spPr>
          <a:xfrm>
            <a:off x="978408" y="3108960"/>
            <a:ext cx="3017520" cy="365760"/>
          </a:xfrm>
          <a:prstGeom prst="rect">
            <a:avLst/>
          </a:prstGeom>
          <a:noFill/>
          <a:ln/>
        </p:spPr>
        <p:txBody>
          <a:bodyPr wrap="square" lIns="0" tIns="0" rIns="0" bIns="0" rtlCol="0" anchor="ctr"/>
          <a:lstStyle/>
          <a:p>
            <a:pPr algn="ctr" indent="0" marL="0">
              <a:buNone/>
            </a:pPr>
            <a:r>
              <a:rPr lang="en-US" sz="1050" i="1" dirty="0">
                <a:solidFill>
                  <a:srgbClr val="5B7184"/>
                </a:solidFill>
                <a:latin typeface="Montserrat" pitchFamily="34" charset="0"/>
                <a:ea typeface="Montserrat" pitchFamily="34" charset="-122"/>
                <a:cs typeface="Montserrat" pitchFamily="34" charset="-120"/>
              </a:rPr>
              <a:t>hazard catalog reports</a:t>
            </a:r>
            <a:endParaRPr lang="en-US" sz="1050" dirty="0"/>
          </a:p>
        </p:txBody>
      </p:sp>
      <p:sp>
        <p:nvSpPr>
          <p:cNvPr id="13" name="Shape 11"/>
          <p:cNvSpPr/>
          <p:nvPr/>
        </p:nvSpPr>
        <p:spPr>
          <a:xfrm>
            <a:off x="4105656" y="3090672"/>
            <a:ext cx="329184" cy="0"/>
          </a:xfrm>
          <a:prstGeom prst="line">
            <a:avLst/>
          </a:prstGeom>
          <a:noFill/>
          <a:ln w="27940">
            <a:solidFill>
              <a:srgbClr val="E0A458"/>
            </a:solidFill>
            <a:prstDash val="solid"/>
            <a:tailEnd type="triangle"/>
          </a:ln>
        </p:spPr>
      </p:sp>
      <p:sp>
        <p:nvSpPr>
          <p:cNvPr id="14" name="Shape 12"/>
          <p:cNvSpPr/>
          <p:nvPr/>
        </p:nvSpPr>
        <p:spPr>
          <a:xfrm>
            <a:off x="4453128" y="2670048"/>
            <a:ext cx="3200400" cy="841248"/>
          </a:xfrm>
          <a:prstGeom prst="roundRect">
            <a:avLst>
              <a:gd name="adj" fmla="val 8696"/>
            </a:avLst>
          </a:prstGeom>
          <a:solidFill>
            <a:srgbClr val="FFFFFF"/>
          </a:solidFill>
          <a:ln w="12700">
            <a:solidFill>
              <a:srgbClr val="D7E2E8"/>
            </a:solidFill>
            <a:prstDash val="solid"/>
          </a:ln>
        </p:spPr>
      </p:sp>
      <p:sp>
        <p:nvSpPr>
          <p:cNvPr id="15" name="Text 13"/>
          <p:cNvSpPr/>
          <p:nvPr/>
        </p:nvSpPr>
        <p:spPr>
          <a:xfrm>
            <a:off x="4544568" y="2743200"/>
            <a:ext cx="3017520" cy="365760"/>
          </a:xfrm>
          <a:prstGeom prst="rect">
            <a:avLst/>
          </a:prstGeom>
          <a:noFill/>
          <a:ln/>
        </p:spPr>
        <p:txBody>
          <a:bodyPr wrap="square" lIns="0" tIns="0" rIns="0" bIns="0" rtlCol="0" anchor="ctr"/>
          <a:lstStyle/>
          <a:p>
            <a:pPr algn="ctr" indent="0" marL="0">
              <a:buNone/>
            </a:pPr>
            <a:r>
              <a:rPr lang="en-US" sz="1300" b="1" dirty="0">
                <a:solidFill>
                  <a:srgbClr val="0F2A43"/>
                </a:solidFill>
                <a:latin typeface="Montserrat" pitchFamily="34" charset="0"/>
                <a:ea typeface="Montserrat" pitchFamily="34" charset="-122"/>
                <a:cs typeface="Montserrat" pitchFamily="34" charset="-120"/>
              </a:rPr>
              <a:t>MESH → diameter</a:t>
            </a:r>
            <a:endParaRPr lang="en-US" sz="1300" dirty="0"/>
          </a:p>
        </p:txBody>
      </p:sp>
      <p:sp>
        <p:nvSpPr>
          <p:cNvPr id="16" name="Text 14"/>
          <p:cNvSpPr/>
          <p:nvPr/>
        </p:nvSpPr>
        <p:spPr>
          <a:xfrm>
            <a:off x="4544568" y="3108960"/>
            <a:ext cx="3017520" cy="365760"/>
          </a:xfrm>
          <a:prstGeom prst="rect">
            <a:avLst/>
          </a:prstGeom>
          <a:noFill/>
          <a:ln/>
        </p:spPr>
        <p:txBody>
          <a:bodyPr wrap="square" lIns="0" tIns="0" rIns="0" bIns="0" rtlCol="0" anchor="ctr"/>
          <a:lstStyle/>
          <a:p>
            <a:pPr algn="ctr" indent="0" marL="0">
              <a:buNone/>
            </a:pPr>
            <a:r>
              <a:rPr lang="en-US" sz="1050" i="1" dirty="0">
                <a:solidFill>
                  <a:srgbClr val="5B7184"/>
                </a:solidFill>
                <a:latin typeface="Montserrat" pitchFamily="34" charset="0"/>
                <a:ea typeface="Montserrat" pitchFamily="34" charset="-122"/>
                <a:cs typeface="Montserrat" pitchFamily="34" charset="-120"/>
              </a:rPr>
              <a:t>M3 chain conversion</a:t>
            </a:r>
            <a:endParaRPr lang="en-US" sz="1050" dirty="0"/>
          </a:p>
        </p:txBody>
      </p:sp>
      <p:sp>
        <p:nvSpPr>
          <p:cNvPr id="17" name="Shape 15"/>
          <p:cNvSpPr/>
          <p:nvPr/>
        </p:nvSpPr>
        <p:spPr>
          <a:xfrm>
            <a:off x="7671816" y="3090672"/>
            <a:ext cx="329184" cy="0"/>
          </a:xfrm>
          <a:prstGeom prst="line">
            <a:avLst/>
          </a:prstGeom>
          <a:noFill/>
          <a:ln w="27940">
            <a:solidFill>
              <a:srgbClr val="E0A458"/>
            </a:solidFill>
            <a:prstDash val="solid"/>
            <a:tailEnd type="triangle"/>
          </a:ln>
        </p:spPr>
      </p:sp>
      <p:sp>
        <p:nvSpPr>
          <p:cNvPr id="18" name="Shape 16"/>
          <p:cNvSpPr/>
          <p:nvPr/>
        </p:nvSpPr>
        <p:spPr>
          <a:xfrm>
            <a:off x="8019288" y="2670048"/>
            <a:ext cx="3200400" cy="841248"/>
          </a:xfrm>
          <a:prstGeom prst="roundRect">
            <a:avLst>
              <a:gd name="adj" fmla="val 8696"/>
            </a:avLst>
          </a:prstGeom>
          <a:solidFill>
            <a:srgbClr val="14919B"/>
          </a:solidFill>
          <a:ln w="12700">
            <a:solidFill>
              <a:srgbClr val="14919B"/>
            </a:solidFill>
            <a:prstDash val="solid"/>
          </a:ln>
        </p:spPr>
      </p:sp>
      <p:sp>
        <p:nvSpPr>
          <p:cNvPr id="19" name="Text 17"/>
          <p:cNvSpPr/>
          <p:nvPr/>
        </p:nvSpPr>
        <p:spPr>
          <a:xfrm>
            <a:off x="8110728" y="2743200"/>
            <a:ext cx="3017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Hail diameter (mm)</a:t>
            </a:r>
            <a:endParaRPr lang="en-US" sz="1300" dirty="0"/>
          </a:p>
        </p:txBody>
      </p:sp>
      <p:sp>
        <p:nvSpPr>
          <p:cNvPr id="20" name="Text 18"/>
          <p:cNvSpPr/>
          <p:nvPr/>
        </p:nvSpPr>
        <p:spPr>
          <a:xfrm>
            <a:off x="8110728" y="3108960"/>
            <a:ext cx="3017520" cy="365760"/>
          </a:xfrm>
          <a:prstGeom prst="rect">
            <a:avLst/>
          </a:prstGeom>
          <a:noFill/>
          <a:ln/>
        </p:spPr>
        <p:txBody>
          <a:bodyPr wrap="square" lIns="0" tIns="0" rIns="0" bIns="0" rtlCol="0" anchor="ctr"/>
          <a:lstStyle/>
          <a:p>
            <a:pPr algn="ctr" indent="0" marL="0">
              <a:buNone/>
            </a:pPr>
            <a:r>
              <a:rPr lang="en-US" sz="1050" i="1" dirty="0">
                <a:solidFill>
                  <a:srgbClr val="D7EEF1"/>
                </a:solidFill>
                <a:latin typeface="Montserrat" pitchFamily="34" charset="0"/>
                <a:ea typeface="Montserrat" pitchFamily="34" charset="-122"/>
                <a:cs typeface="Montserrat" pitchFamily="34" charset="-120"/>
              </a:rPr>
              <a:t>what hits the panel — THE AXIS</a:t>
            </a:r>
            <a:endParaRPr lang="en-US" sz="1050" dirty="0"/>
          </a:p>
        </p:txBody>
      </p:sp>
      <p:sp>
        <p:nvSpPr>
          <p:cNvPr id="21" name="Shape 19"/>
          <p:cNvSpPr/>
          <p:nvPr/>
        </p:nvSpPr>
        <p:spPr>
          <a:xfrm>
            <a:off x="566928" y="3931920"/>
            <a:ext cx="3529584" cy="1828800"/>
          </a:xfrm>
          <a:prstGeom prst="roundRect">
            <a:avLst>
              <a:gd name="adj" fmla="val 45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22" name="Text 20"/>
          <p:cNvSpPr/>
          <p:nvPr/>
        </p:nvSpPr>
        <p:spPr>
          <a:xfrm>
            <a:off x="822960" y="4133088"/>
            <a:ext cx="3072384" cy="566928"/>
          </a:xfrm>
          <a:prstGeom prst="rect">
            <a:avLst/>
          </a:prstGeom>
          <a:noFill/>
          <a:ln/>
        </p:spPr>
        <p:txBody>
          <a:bodyPr wrap="square" lIns="0" tIns="0" rIns="0" bIns="0" rtlCol="0" anchor="ctr"/>
          <a:lstStyle/>
          <a:p>
            <a:pPr indent="0" marL="0">
              <a:lnSpc>
                <a:spcPct val="100000"/>
              </a:lnSpc>
              <a:buNone/>
            </a:pPr>
            <a:r>
              <a:rPr lang="en-US" sz="1400" b="1" dirty="0">
                <a:solidFill>
                  <a:srgbClr val="0F2A43"/>
                </a:solidFill>
                <a:latin typeface="Montserrat" pitchFamily="34" charset="0"/>
                <a:ea typeface="Montserrat" pitchFamily="34" charset="-122"/>
                <a:cs typeface="Montserrat" pitchFamily="34" charset="-120"/>
              </a:rPr>
              <a:t>Physical units, always</a:t>
            </a:r>
            <a:endParaRPr lang="en-US" sz="1400" dirty="0"/>
          </a:p>
        </p:txBody>
      </p:sp>
      <p:sp>
        <p:nvSpPr>
          <p:cNvPr id="23" name="Text 21"/>
          <p:cNvSpPr/>
          <p:nvPr/>
        </p:nvSpPr>
        <p:spPr>
          <a:xfrm>
            <a:off x="822960" y="4718304"/>
            <a:ext cx="3072384" cy="960120"/>
          </a:xfrm>
          <a:prstGeom prst="rect">
            <a:avLst/>
          </a:prstGeom>
          <a:noFill/>
          <a:ln/>
        </p:spPr>
        <p:txBody>
          <a:bodyPr wrap="square" lIns="0" tIns="0" rIns="0" bIns="0" rtlCol="0" anchor="ctr"/>
          <a:lstStyle/>
          <a:p>
            <a:pPr indent="0" marL="0">
              <a:lnSpc>
                <a:spcPct val="116000"/>
              </a:lnSpc>
              <a:buNone/>
            </a:pPr>
            <a:r>
              <a:rPr lang="en-US" sz="1160" dirty="0">
                <a:solidFill>
                  <a:srgbClr val="1B2733"/>
                </a:solidFill>
                <a:latin typeface="Montserrat" pitchFamily="34" charset="0"/>
                <a:ea typeface="Montserrat" pitchFamily="34" charset="-122"/>
                <a:cs typeface="Montserrat" pitchFamily="34" charset="-120"/>
              </a:rPr>
              <a:t>wind m/s · hail mm · ground motion g · depth m · flux kW/m². Never normalized, never dimensionless.</a:t>
            </a:r>
            <a:endParaRPr lang="en-US" sz="1160" dirty="0"/>
          </a:p>
        </p:txBody>
      </p:sp>
      <p:sp>
        <p:nvSpPr>
          <p:cNvPr id="24" name="Shape 22"/>
          <p:cNvSpPr/>
          <p:nvPr/>
        </p:nvSpPr>
        <p:spPr>
          <a:xfrm>
            <a:off x="4334256" y="3931920"/>
            <a:ext cx="3529584" cy="1828800"/>
          </a:xfrm>
          <a:prstGeom prst="roundRect">
            <a:avLst>
              <a:gd name="adj" fmla="val 45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25" name="Text 23"/>
          <p:cNvSpPr/>
          <p:nvPr/>
        </p:nvSpPr>
        <p:spPr>
          <a:xfrm>
            <a:off x="4590288" y="4133088"/>
            <a:ext cx="3072384" cy="566928"/>
          </a:xfrm>
          <a:prstGeom prst="rect">
            <a:avLst/>
          </a:prstGeom>
          <a:noFill/>
          <a:ln/>
        </p:spPr>
        <p:txBody>
          <a:bodyPr wrap="square" lIns="0" tIns="0" rIns="0" bIns="0" rtlCol="0" anchor="ctr"/>
          <a:lstStyle/>
          <a:p>
            <a:pPr indent="0" marL="0">
              <a:lnSpc>
                <a:spcPct val="100000"/>
              </a:lnSpc>
              <a:buNone/>
            </a:pPr>
            <a:r>
              <a:rPr lang="en-US" sz="1400" b="1" dirty="0">
                <a:solidFill>
                  <a:srgbClr val="0F2A43"/>
                </a:solidFill>
                <a:latin typeface="Montserrat" pitchFamily="34" charset="0"/>
                <a:ea typeface="Montserrat" pitchFamily="34" charset="-122"/>
                <a:cs typeface="Montserrat" pitchFamily="34" charset="-120"/>
              </a:rPr>
              <a:t>Valid range, declared</a:t>
            </a:r>
            <a:endParaRPr lang="en-US" sz="1400" dirty="0"/>
          </a:p>
        </p:txBody>
      </p:sp>
      <p:sp>
        <p:nvSpPr>
          <p:cNvPr id="26" name="Text 24"/>
          <p:cNvSpPr/>
          <p:nvPr/>
        </p:nvSpPr>
        <p:spPr>
          <a:xfrm>
            <a:off x="4590288" y="4718304"/>
            <a:ext cx="3072384" cy="960120"/>
          </a:xfrm>
          <a:prstGeom prst="rect">
            <a:avLst/>
          </a:prstGeom>
          <a:noFill/>
          <a:ln/>
        </p:spPr>
        <p:txBody>
          <a:bodyPr wrap="square" lIns="0" tIns="0" rIns="0" bIns="0" rtlCol="0" anchor="ctr"/>
          <a:lstStyle/>
          <a:p>
            <a:pPr indent="0" marL="0">
              <a:lnSpc>
                <a:spcPct val="116000"/>
              </a:lnSpc>
              <a:buNone/>
            </a:pPr>
            <a:r>
              <a:rPr lang="en-US" sz="1160" dirty="0">
                <a:solidFill>
                  <a:srgbClr val="1B2733"/>
                </a:solidFill>
                <a:latin typeface="Montserrat" pitchFamily="34" charset="0"/>
                <a:ea typeface="Montserrat" pitchFamily="34" charset="-122"/>
                <a:cs typeface="Montserrat" pitchFamily="34" charset="-120"/>
              </a:rPr>
              <a:t>outside it the curve does not extrapolate — the emit is undefined, not a best guess.</a:t>
            </a:r>
            <a:endParaRPr lang="en-US" sz="1160" dirty="0"/>
          </a:p>
        </p:txBody>
      </p:sp>
      <p:sp>
        <p:nvSpPr>
          <p:cNvPr id="27" name="Shape 25"/>
          <p:cNvSpPr/>
          <p:nvPr/>
        </p:nvSpPr>
        <p:spPr>
          <a:xfrm>
            <a:off x="8101584" y="3931920"/>
            <a:ext cx="3529584" cy="1828800"/>
          </a:xfrm>
          <a:prstGeom prst="roundRect">
            <a:avLst>
              <a:gd name="adj" fmla="val 45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28" name="Text 26"/>
          <p:cNvSpPr/>
          <p:nvPr/>
        </p:nvSpPr>
        <p:spPr>
          <a:xfrm>
            <a:off x="8357616" y="4133088"/>
            <a:ext cx="3072384" cy="566928"/>
          </a:xfrm>
          <a:prstGeom prst="rect">
            <a:avLst/>
          </a:prstGeom>
          <a:noFill/>
          <a:ln/>
        </p:spPr>
        <p:txBody>
          <a:bodyPr wrap="square" lIns="0" tIns="0" rIns="0" bIns="0" rtlCol="0" anchor="ctr"/>
          <a:lstStyle/>
          <a:p>
            <a:pPr indent="0" marL="0">
              <a:lnSpc>
                <a:spcPct val="100000"/>
              </a:lnSpc>
              <a:buNone/>
            </a:pPr>
            <a:r>
              <a:rPr lang="en-US" sz="1400" b="1" dirty="0">
                <a:solidFill>
                  <a:srgbClr val="0F2A43"/>
                </a:solidFill>
                <a:latin typeface="Montserrat" pitchFamily="34" charset="0"/>
                <a:ea typeface="Montserrat" pitchFamily="34" charset="-122"/>
                <a:cs typeface="Montserrat" pitchFamily="34" charset="-120"/>
              </a:rPr>
              <a:t>Univariate in v1</a:t>
            </a:r>
            <a:endParaRPr lang="en-US" sz="1400" dirty="0"/>
          </a:p>
        </p:txBody>
      </p:sp>
      <p:sp>
        <p:nvSpPr>
          <p:cNvPr id="29" name="Text 27"/>
          <p:cNvSpPr/>
          <p:nvPr/>
        </p:nvSpPr>
        <p:spPr>
          <a:xfrm>
            <a:off x="8357616" y="4718304"/>
            <a:ext cx="3072384" cy="960120"/>
          </a:xfrm>
          <a:prstGeom prst="rect">
            <a:avLst/>
          </a:prstGeom>
          <a:noFill/>
          <a:ln/>
        </p:spPr>
        <p:txBody>
          <a:bodyPr wrap="square" lIns="0" tIns="0" rIns="0" bIns="0" rtlCol="0" anchor="ctr"/>
          <a:lstStyle/>
          <a:p>
            <a:pPr indent="0" marL="0">
              <a:lnSpc>
                <a:spcPct val="116000"/>
              </a:lnSpc>
              <a:buNone/>
            </a:pPr>
            <a:r>
              <a:rPr lang="en-US" sz="1160" dirty="0">
                <a:solidFill>
                  <a:srgbClr val="1B2733"/>
                </a:solidFill>
                <a:latin typeface="Montserrat" pitchFamily="34" charset="0"/>
                <a:ea typeface="Montserrat" pitchFamily="34" charset="-122"/>
                <a:cs typeface="Montserrat" pitchFamily="34" charset="-120"/>
              </a:rPr>
              <a:t>one axis per unit; a second dependency becomes a conditioner. Multivariate is a major-version event.</a:t>
            </a:r>
            <a:endParaRPr lang="en-US" sz="1160" dirty="0"/>
          </a:p>
        </p:txBody>
      </p:sp>
      <p:sp>
        <p:nvSpPr>
          <p:cNvPr id="30" name="Text 28"/>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31" name="Text 29"/>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damage_curve_build_methodology.docx §6 · questions/02_x_axis_intensity_variable.md</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10</a:t>
            </a:r>
            <a:endParaRPr lang="en-US" sz="950" dirty="0"/>
          </a:p>
        </p:txBody>
      </p:sp>
      <p:sp>
        <p:nvSpPr>
          <p:cNvPr id="3" name="Shape 1"/>
          <p:cNvSpPr/>
          <p:nvPr/>
        </p:nvSpPr>
        <p:spPr>
          <a:xfrm>
            <a:off x="566928" y="457200"/>
            <a:ext cx="603504" cy="603504"/>
          </a:xfrm>
          <a:prstGeom prst="ellipse">
            <a:avLst/>
          </a:prstGeom>
          <a:solidFill>
            <a:srgbClr val="14919B"/>
          </a:solidFill>
          <a:ln/>
        </p:spPr>
      </p:sp>
      <p:sp>
        <p:nvSpPr>
          <p:cNvPr id="4" name="Text 2"/>
          <p:cNvSpPr/>
          <p:nvPr/>
        </p:nvSpPr>
        <p:spPr>
          <a:xfrm>
            <a:off x="566928" y="457200"/>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Montserrat" pitchFamily="34" charset="0"/>
                <a:ea typeface="Montserrat" pitchFamily="34" charset="-122"/>
                <a:cs typeface="Montserrat" pitchFamily="34" charset="-120"/>
              </a:rPr>
              <a:t>4</a:t>
            </a:r>
            <a:endParaRPr lang="en-US" sz="2200" dirty="0"/>
          </a:p>
        </p:txBody>
      </p:sp>
      <p:sp>
        <p:nvSpPr>
          <p:cNvPr id="5" name="Text 3"/>
          <p:cNvSpPr/>
          <p:nvPr/>
        </p:nvSpPr>
        <p:spPr>
          <a:xfrm>
            <a:off x="1353312" y="457200"/>
            <a:ext cx="10058400" cy="310896"/>
          </a:xfrm>
          <a:prstGeom prst="rect">
            <a:avLst/>
          </a:prstGeom>
          <a:noFill/>
          <a:ln/>
        </p:spPr>
        <p:txBody>
          <a:bodyPr wrap="square" lIns="0" tIns="0" rIns="0" bIns="0" rtlCol="0" anchor="ctr"/>
          <a:lstStyle/>
          <a:p>
            <a:pPr indent="0" marL="0">
              <a:buNone/>
            </a:pPr>
            <a:r>
              <a:rPr lang="en-US" sz="1350" b="1" spc="200" kern="0" dirty="0">
                <a:solidFill>
                  <a:srgbClr val="14919B"/>
                </a:solidFill>
                <a:latin typeface="Montserrat" pitchFamily="34" charset="0"/>
                <a:ea typeface="Montserrat" pitchFamily="34" charset="-122"/>
                <a:cs typeface="Montserrat" pitchFamily="34" charset="-120"/>
              </a:rPr>
              <a:t>STAGE 4   </a:t>
            </a:r>
            <a:pPr indent="0" marL="0">
              <a:buNone/>
            </a:pPr>
            <a:r>
              <a:rPr lang="en-US" sz="1350" b="1" spc="200" kern="0" dirty="0">
                <a:solidFill>
                  <a:srgbClr val="0F2A43"/>
                </a:solidFill>
                <a:latin typeface="Montserrat" pitchFamily="34" charset="0"/>
                <a:ea typeface="Montserrat" pitchFamily="34" charset="-122"/>
                <a:cs typeface="Montserrat" pitchFamily="34" charset="-120"/>
              </a:rPr>
              <a:t>FORM</a:t>
            </a:r>
            <a:endParaRPr lang="en-US" sz="1350" dirty="0"/>
          </a:p>
        </p:txBody>
      </p:sp>
      <p:sp>
        <p:nvSpPr>
          <p:cNvPr id="6" name="Text 4"/>
          <p:cNvSpPr/>
          <p:nvPr/>
        </p:nvSpPr>
        <p:spPr>
          <a:xfrm>
            <a:off x="1353312" y="768096"/>
            <a:ext cx="10607040" cy="658368"/>
          </a:xfrm>
          <a:prstGeom prst="rect">
            <a:avLst/>
          </a:prstGeom>
          <a:noFill/>
          <a:ln/>
        </p:spPr>
        <p:txBody>
          <a:bodyPr wrap="square" lIns="0" tIns="0" rIns="0" bIns="0" rtlCol="0" anchor="ctr"/>
          <a:lstStyle/>
          <a:p>
            <a:pPr indent="0" marL="0">
              <a:lnSpc>
                <a:spcPct val="98000"/>
              </a:lnSpc>
              <a:buNone/>
            </a:pPr>
            <a:r>
              <a:rPr lang="en-US" sz="2150" b="1" dirty="0">
                <a:solidFill>
                  <a:srgbClr val="0F2A43"/>
                </a:solidFill>
                <a:latin typeface="Montserrat" pitchFamily="34" charset="0"/>
                <a:ea typeface="Montserrat" pitchFamily="34" charset="-122"/>
                <a:cs typeface="Montserrat" pitchFamily="34" charset="-120"/>
              </a:rPr>
              <a:t>What shape does the curve take, and where are its anchors?</a:t>
            </a:r>
            <a:endParaRPr lang="en-US" sz="2150" dirty="0"/>
          </a:p>
        </p:txBody>
      </p:sp>
      <p:pic>
        <p:nvPicPr>
          <p:cNvPr id="7" name="Image 0" descr="/sessions/sharp-serene-hypatia/mnt/outputs/deck/img/form_logistic.png">    </p:cNvPr>
          <p:cNvPicPr>
            <a:picLocks noChangeAspect="1"/>
          </p:cNvPicPr>
          <p:nvPr/>
        </p:nvPicPr>
        <p:blipFill>
          <a:blip r:embed="rId1"/>
          <a:stretch>
            <a:fillRect/>
          </a:stretch>
        </p:blipFill>
        <p:spPr>
          <a:xfrm>
            <a:off x="566928" y="1783080"/>
            <a:ext cx="6400800" cy="3675888"/>
          </a:xfrm>
          <a:prstGeom prst="rect">
            <a:avLst/>
          </a:prstGeom>
        </p:spPr>
      </p:pic>
      <p:sp>
        <p:nvSpPr>
          <p:cNvPr id="8" name="Text 5"/>
          <p:cNvSpPr/>
          <p:nvPr/>
        </p:nvSpPr>
        <p:spPr>
          <a:xfrm>
            <a:off x="566928" y="5468112"/>
            <a:ext cx="6400800" cy="274320"/>
          </a:xfrm>
          <a:prstGeom prst="rect">
            <a:avLst/>
          </a:prstGeom>
          <a:noFill/>
          <a:ln/>
        </p:spPr>
        <p:txBody>
          <a:bodyPr wrap="square" lIns="0" tIns="0" rIns="0" bIns="0" rtlCol="0" anchor="ctr"/>
          <a:lstStyle/>
          <a:p>
            <a:pPr algn="ctr" indent="0" marL="0">
              <a:buNone/>
            </a:pPr>
            <a:r>
              <a:rPr lang="en-US" sz="1000" i="1" dirty="0">
                <a:solidFill>
                  <a:srgbClr val="5B7184"/>
                </a:solidFill>
                <a:latin typeface="Montserrat" pitchFamily="34" charset="0"/>
                <a:ea typeface="Montserrat" pitchFamily="34" charset="-122"/>
                <a:cs typeface="Montserrat" pitchFamily="34" charset="-120"/>
              </a:rPr>
              <a:t>Anchored logistic — hail × solar default module (real v1.0 parameters)</a:t>
            </a:r>
            <a:endParaRPr lang="en-US" sz="1000" dirty="0"/>
          </a:p>
        </p:txBody>
      </p:sp>
      <p:sp>
        <p:nvSpPr>
          <p:cNvPr id="9" name="Text 6"/>
          <p:cNvSpPr/>
          <p:nvPr/>
        </p:nvSpPr>
        <p:spPr>
          <a:xfrm>
            <a:off x="7132320" y="1737360"/>
            <a:ext cx="4617720" cy="548640"/>
          </a:xfrm>
          <a:prstGeom prst="rect">
            <a:avLst/>
          </a:prstGeom>
          <a:noFill/>
          <a:ln/>
        </p:spPr>
        <p:txBody>
          <a:bodyPr wrap="square" lIns="0" tIns="0" rIns="0" bIns="0" rtlCol="0" anchor="ctr"/>
          <a:lstStyle/>
          <a:p>
            <a:pPr indent="0" marL="0">
              <a:lnSpc>
                <a:spcPct val="105000"/>
              </a:lnSpc>
              <a:buNone/>
            </a:pPr>
            <a:r>
              <a:rPr lang="en-US" sz="1350" b="1" dirty="0">
                <a:solidFill>
                  <a:srgbClr val="14919B"/>
                </a:solidFill>
                <a:latin typeface="Montserrat" pitchFamily="34" charset="0"/>
                <a:ea typeface="Montserrat" pitchFamily="34" charset="-122"/>
                <a:cs typeface="Montserrat" pitchFamily="34" charset="-120"/>
              </a:rPr>
              <a:t>Curve forms — logistic is the default, not the only option</a:t>
            </a:r>
            <a:endParaRPr lang="en-US" sz="1350" dirty="0"/>
          </a:p>
        </p:txBody>
      </p:sp>
      <p:sp>
        <p:nvSpPr>
          <p:cNvPr id="10" name="Shape 7"/>
          <p:cNvSpPr/>
          <p:nvPr/>
        </p:nvSpPr>
        <p:spPr>
          <a:xfrm>
            <a:off x="7132320" y="2331720"/>
            <a:ext cx="4572000" cy="512064"/>
          </a:xfrm>
          <a:prstGeom prst="roundRect">
            <a:avLst>
              <a:gd name="adj" fmla="val 12500"/>
            </a:avLst>
          </a:prstGeom>
          <a:solidFill>
            <a:srgbClr val="0F2A43"/>
          </a:solidFill>
          <a:ln/>
        </p:spPr>
      </p:sp>
      <p:sp>
        <p:nvSpPr>
          <p:cNvPr id="11" name="Text 8"/>
          <p:cNvSpPr/>
          <p:nvPr/>
        </p:nvSpPr>
        <p:spPr>
          <a:xfrm>
            <a:off x="7132320" y="2331720"/>
            <a:ext cx="4572000" cy="512064"/>
          </a:xfrm>
          <a:prstGeom prst="rect">
            <a:avLst/>
          </a:prstGeom>
          <a:noFill/>
          <a:ln/>
        </p:spPr>
        <p:txBody>
          <a:bodyPr wrap="square" lIns="0" tIns="0" rIns="0" bIns="0" rtlCol="0" anchor="ctr"/>
          <a:lstStyle/>
          <a:p>
            <a:pPr algn="ctr" indent="0" marL="0">
              <a:buNone/>
            </a:pPr>
            <a:r>
              <a:rPr lang="en-US" sz="1250" b="1" dirty="0">
                <a:solidFill>
                  <a:srgbClr val="D7EEF1"/>
                </a:solidFill>
                <a:latin typeface="Consolas" pitchFamily="34" charset="0"/>
                <a:ea typeface="Consolas" pitchFamily="34" charset="-122"/>
                <a:cs typeface="Consolas" pitchFamily="34" charset="-120"/>
              </a:rPr>
              <a:t>DR(x) = L / (1 + e^(−k(x − x₀)))</a:t>
            </a:r>
            <a:endParaRPr lang="en-US" sz="1250" dirty="0"/>
          </a:p>
        </p:txBody>
      </p:sp>
      <p:sp>
        <p:nvSpPr>
          <p:cNvPr id="12" name="Shape 9"/>
          <p:cNvSpPr/>
          <p:nvPr/>
        </p:nvSpPr>
        <p:spPr>
          <a:xfrm>
            <a:off x="7132320" y="2999232"/>
            <a:ext cx="4572000" cy="512064"/>
          </a:xfrm>
          <a:prstGeom prst="roundRect">
            <a:avLst>
              <a:gd name="adj" fmla="val 16071"/>
            </a:avLst>
          </a:prstGeom>
          <a:solidFill>
            <a:srgbClr val="D7EEF1"/>
          </a:solidFill>
          <a:ln w="12700">
            <a:solidFill>
              <a:srgbClr val="14919B"/>
            </a:solidFill>
            <a:prstDash val="solid"/>
          </a:ln>
        </p:spPr>
      </p:sp>
      <p:sp>
        <p:nvSpPr>
          <p:cNvPr id="13" name="Text 10"/>
          <p:cNvSpPr/>
          <p:nvPr/>
        </p:nvSpPr>
        <p:spPr>
          <a:xfrm>
            <a:off x="7296912" y="2999232"/>
            <a:ext cx="1874520" cy="512064"/>
          </a:xfrm>
          <a:prstGeom prst="rect">
            <a:avLst/>
          </a:prstGeom>
          <a:noFill/>
          <a:ln/>
        </p:spPr>
        <p:txBody>
          <a:bodyPr wrap="square" lIns="0" tIns="0" rIns="0" bIns="0" rtlCol="0" anchor="ctr"/>
          <a:lstStyle/>
          <a:p>
            <a:pPr indent="0" marL="0">
              <a:buNone/>
            </a:pPr>
            <a:r>
              <a:rPr lang="en-US" sz="1180" b="1" dirty="0">
                <a:solidFill>
                  <a:srgbClr val="0F2A43"/>
                </a:solidFill>
                <a:latin typeface="Montserrat" pitchFamily="34" charset="0"/>
                <a:ea typeface="Montserrat" pitchFamily="34" charset="-122"/>
                <a:cs typeface="Montserrat" pitchFamily="34" charset="-120"/>
              </a:rPr>
              <a:t>Logistic</a:t>
            </a:r>
            <a:endParaRPr lang="en-US" sz="1180" dirty="0"/>
          </a:p>
        </p:txBody>
      </p:sp>
      <p:sp>
        <p:nvSpPr>
          <p:cNvPr id="14" name="Text 11"/>
          <p:cNvSpPr/>
          <p:nvPr/>
        </p:nvSpPr>
        <p:spPr>
          <a:xfrm>
            <a:off x="9144000" y="2999232"/>
            <a:ext cx="2468880" cy="512064"/>
          </a:xfrm>
          <a:prstGeom prst="rect">
            <a:avLst/>
          </a:prstGeom>
          <a:noFill/>
          <a:ln/>
        </p:spPr>
        <p:txBody>
          <a:bodyPr wrap="square" lIns="0" tIns="0" rIns="0" bIns="0" rtlCol="0" anchor="ctr"/>
          <a:lstStyle/>
          <a:p>
            <a:pPr indent="0" marL="0">
              <a:lnSpc>
                <a:spcPct val="100000"/>
              </a:lnSpc>
              <a:buNone/>
            </a:pPr>
            <a:r>
              <a:rPr lang="en-US" sz="980" dirty="0">
                <a:solidFill>
                  <a:srgbClr val="1B3B57"/>
                </a:solidFill>
                <a:latin typeface="Montserrat" pitchFamily="34" charset="0"/>
                <a:ea typeface="Montserrat" pitchFamily="34" charset="-122"/>
                <a:cs typeface="Montserrat" pitchFamily="34" charset="-120"/>
              </a:rPr>
              <a:t>default · smooth onset → cap · 3 params</a:t>
            </a:r>
            <a:endParaRPr lang="en-US" sz="980" dirty="0"/>
          </a:p>
        </p:txBody>
      </p:sp>
      <p:sp>
        <p:nvSpPr>
          <p:cNvPr id="15" name="Shape 12"/>
          <p:cNvSpPr/>
          <p:nvPr/>
        </p:nvSpPr>
        <p:spPr>
          <a:xfrm>
            <a:off x="7132320" y="3584448"/>
            <a:ext cx="4572000" cy="512064"/>
          </a:xfrm>
          <a:prstGeom prst="roundRect">
            <a:avLst>
              <a:gd name="adj" fmla="val 16071"/>
            </a:avLst>
          </a:prstGeom>
          <a:solidFill>
            <a:srgbClr val="FFFFFF"/>
          </a:solidFill>
          <a:ln w="12700">
            <a:solidFill>
              <a:srgbClr val="D7E2E8"/>
            </a:solidFill>
            <a:prstDash val="solid"/>
          </a:ln>
        </p:spPr>
      </p:sp>
      <p:sp>
        <p:nvSpPr>
          <p:cNvPr id="16" name="Text 13"/>
          <p:cNvSpPr/>
          <p:nvPr/>
        </p:nvSpPr>
        <p:spPr>
          <a:xfrm>
            <a:off x="7296912" y="3584448"/>
            <a:ext cx="1874520" cy="512064"/>
          </a:xfrm>
          <a:prstGeom prst="rect">
            <a:avLst/>
          </a:prstGeom>
          <a:noFill/>
          <a:ln/>
        </p:spPr>
        <p:txBody>
          <a:bodyPr wrap="square" lIns="0" tIns="0" rIns="0" bIns="0" rtlCol="0" anchor="ctr"/>
          <a:lstStyle/>
          <a:p>
            <a:pPr indent="0" marL="0">
              <a:buNone/>
            </a:pPr>
            <a:r>
              <a:rPr lang="en-US" sz="1180" b="1" dirty="0">
                <a:solidFill>
                  <a:srgbClr val="0F2A43"/>
                </a:solidFill>
                <a:latin typeface="Montserrat" pitchFamily="34" charset="0"/>
                <a:ea typeface="Montserrat" pitchFamily="34" charset="-122"/>
                <a:cs typeface="Montserrat" pitchFamily="34" charset="-120"/>
              </a:rPr>
              <a:t>Piecewise-linear</a:t>
            </a:r>
            <a:endParaRPr lang="en-US" sz="1180" dirty="0"/>
          </a:p>
        </p:txBody>
      </p:sp>
      <p:sp>
        <p:nvSpPr>
          <p:cNvPr id="17" name="Text 14"/>
          <p:cNvSpPr/>
          <p:nvPr/>
        </p:nvSpPr>
        <p:spPr>
          <a:xfrm>
            <a:off x="9144000" y="3584448"/>
            <a:ext cx="2468880" cy="512064"/>
          </a:xfrm>
          <a:prstGeom prst="rect">
            <a:avLst/>
          </a:prstGeom>
          <a:noFill/>
          <a:ln/>
        </p:spPr>
        <p:txBody>
          <a:bodyPr wrap="square" lIns="0" tIns="0" rIns="0" bIns="0" rtlCol="0" anchor="ctr"/>
          <a:lstStyle/>
          <a:p>
            <a:pPr indent="0" marL="0">
              <a:lnSpc>
                <a:spcPct val="100000"/>
              </a:lnSpc>
              <a:buNone/>
            </a:pPr>
            <a:r>
              <a:rPr lang="en-US" sz="980" dirty="0">
                <a:solidFill>
                  <a:srgbClr val="5B7184"/>
                </a:solidFill>
                <a:latin typeface="Montserrat" pitchFamily="34" charset="0"/>
                <a:ea typeface="Montserrat" pitchFamily="34" charset="-122"/>
                <a:cs typeface="Montserrat" pitchFamily="34" charset="-120"/>
              </a:rPr>
              <a:t>evidence reports sharp damage-state jumps</a:t>
            </a:r>
            <a:endParaRPr lang="en-US" sz="980" dirty="0"/>
          </a:p>
        </p:txBody>
      </p:sp>
      <p:sp>
        <p:nvSpPr>
          <p:cNvPr id="18" name="Shape 15"/>
          <p:cNvSpPr/>
          <p:nvPr/>
        </p:nvSpPr>
        <p:spPr>
          <a:xfrm>
            <a:off x="7132320" y="4169664"/>
            <a:ext cx="4572000" cy="512064"/>
          </a:xfrm>
          <a:prstGeom prst="roundRect">
            <a:avLst>
              <a:gd name="adj" fmla="val 16071"/>
            </a:avLst>
          </a:prstGeom>
          <a:solidFill>
            <a:srgbClr val="FFFFFF"/>
          </a:solidFill>
          <a:ln w="12700">
            <a:solidFill>
              <a:srgbClr val="D7E2E8"/>
            </a:solidFill>
            <a:prstDash val="solid"/>
          </a:ln>
        </p:spPr>
      </p:sp>
      <p:sp>
        <p:nvSpPr>
          <p:cNvPr id="19" name="Text 16"/>
          <p:cNvSpPr/>
          <p:nvPr/>
        </p:nvSpPr>
        <p:spPr>
          <a:xfrm>
            <a:off x="7296912" y="4169664"/>
            <a:ext cx="1874520" cy="512064"/>
          </a:xfrm>
          <a:prstGeom prst="rect">
            <a:avLst/>
          </a:prstGeom>
          <a:noFill/>
          <a:ln/>
        </p:spPr>
        <p:txBody>
          <a:bodyPr wrap="square" lIns="0" tIns="0" rIns="0" bIns="0" rtlCol="0" anchor="ctr"/>
          <a:lstStyle/>
          <a:p>
            <a:pPr indent="0" marL="0">
              <a:buNone/>
            </a:pPr>
            <a:r>
              <a:rPr lang="en-US" sz="1180" b="1" dirty="0">
                <a:solidFill>
                  <a:srgbClr val="0F2A43"/>
                </a:solidFill>
                <a:latin typeface="Montserrat" pitchFamily="34" charset="0"/>
                <a:ea typeface="Montserrat" pitchFamily="34" charset="-122"/>
                <a:cs typeface="Montserrat" pitchFamily="34" charset="-120"/>
              </a:rPr>
              <a:t>State-based (fragility)</a:t>
            </a:r>
            <a:endParaRPr lang="en-US" sz="1180" dirty="0"/>
          </a:p>
        </p:txBody>
      </p:sp>
      <p:sp>
        <p:nvSpPr>
          <p:cNvPr id="20" name="Text 17"/>
          <p:cNvSpPr/>
          <p:nvPr/>
        </p:nvSpPr>
        <p:spPr>
          <a:xfrm>
            <a:off x="9144000" y="4169664"/>
            <a:ext cx="2468880" cy="512064"/>
          </a:xfrm>
          <a:prstGeom prst="rect">
            <a:avLst/>
          </a:prstGeom>
          <a:noFill/>
          <a:ln/>
        </p:spPr>
        <p:txBody>
          <a:bodyPr wrap="square" lIns="0" tIns="0" rIns="0" bIns="0" rtlCol="0" anchor="ctr"/>
          <a:lstStyle/>
          <a:p>
            <a:pPr indent="0" marL="0">
              <a:lnSpc>
                <a:spcPct val="100000"/>
              </a:lnSpc>
              <a:buNone/>
            </a:pPr>
            <a:r>
              <a:rPr lang="en-US" sz="980" dirty="0">
                <a:solidFill>
                  <a:srgbClr val="5B7184"/>
                </a:solidFill>
                <a:latin typeface="Montserrat" pitchFamily="34" charset="0"/>
                <a:ea typeface="Montserrat" pitchFamily="34" charset="-122"/>
                <a:cs typeface="Montserrat" pitchFamily="34" charset="-120"/>
              </a:rPr>
              <a:t>evidence is in states; consumer wants P(state)</a:t>
            </a:r>
            <a:endParaRPr lang="en-US" sz="980" dirty="0"/>
          </a:p>
        </p:txBody>
      </p:sp>
      <p:sp>
        <p:nvSpPr>
          <p:cNvPr id="21" name="Shape 18"/>
          <p:cNvSpPr/>
          <p:nvPr/>
        </p:nvSpPr>
        <p:spPr>
          <a:xfrm>
            <a:off x="7132320" y="4754880"/>
            <a:ext cx="4572000" cy="512064"/>
          </a:xfrm>
          <a:prstGeom prst="roundRect">
            <a:avLst>
              <a:gd name="adj" fmla="val 16071"/>
            </a:avLst>
          </a:prstGeom>
          <a:solidFill>
            <a:srgbClr val="FFFFFF"/>
          </a:solidFill>
          <a:ln w="12700">
            <a:solidFill>
              <a:srgbClr val="D7E2E8"/>
            </a:solidFill>
            <a:prstDash val="solid"/>
          </a:ln>
        </p:spPr>
      </p:sp>
      <p:sp>
        <p:nvSpPr>
          <p:cNvPr id="22" name="Text 19"/>
          <p:cNvSpPr/>
          <p:nvPr/>
        </p:nvSpPr>
        <p:spPr>
          <a:xfrm>
            <a:off x="7296912" y="4754880"/>
            <a:ext cx="1874520" cy="512064"/>
          </a:xfrm>
          <a:prstGeom prst="rect">
            <a:avLst/>
          </a:prstGeom>
          <a:noFill/>
          <a:ln/>
        </p:spPr>
        <p:txBody>
          <a:bodyPr wrap="square" lIns="0" tIns="0" rIns="0" bIns="0" rtlCol="0" anchor="ctr"/>
          <a:lstStyle/>
          <a:p>
            <a:pPr indent="0" marL="0">
              <a:buNone/>
            </a:pPr>
            <a:r>
              <a:rPr lang="en-US" sz="1180" b="1" dirty="0">
                <a:solidFill>
                  <a:srgbClr val="0F2A43"/>
                </a:solidFill>
                <a:latin typeface="Montserrat" pitchFamily="34" charset="0"/>
                <a:ea typeface="Montserrat" pitchFamily="34" charset="-122"/>
                <a:cs typeface="Montserrat" pitchFamily="34" charset="-120"/>
              </a:rPr>
              <a:t>PCHIP (monotone cubic)</a:t>
            </a:r>
            <a:endParaRPr lang="en-US" sz="1180" dirty="0"/>
          </a:p>
        </p:txBody>
      </p:sp>
      <p:sp>
        <p:nvSpPr>
          <p:cNvPr id="23" name="Text 20"/>
          <p:cNvSpPr/>
          <p:nvPr/>
        </p:nvSpPr>
        <p:spPr>
          <a:xfrm>
            <a:off x="9144000" y="4754880"/>
            <a:ext cx="2468880" cy="512064"/>
          </a:xfrm>
          <a:prstGeom prst="rect">
            <a:avLst/>
          </a:prstGeom>
          <a:noFill/>
          <a:ln/>
        </p:spPr>
        <p:txBody>
          <a:bodyPr wrap="square" lIns="0" tIns="0" rIns="0" bIns="0" rtlCol="0" anchor="ctr"/>
          <a:lstStyle/>
          <a:p>
            <a:pPr indent="0" marL="0">
              <a:lnSpc>
                <a:spcPct val="100000"/>
              </a:lnSpc>
              <a:buNone/>
            </a:pPr>
            <a:r>
              <a:rPr lang="en-US" sz="980" dirty="0">
                <a:solidFill>
                  <a:srgbClr val="5B7184"/>
                </a:solidFill>
                <a:latin typeface="Montserrat" pitchFamily="34" charset="0"/>
                <a:ea typeface="Montserrat" pitchFamily="34" charset="-122"/>
                <a:cs typeface="Montserrat" pitchFamily="34" charset="-120"/>
              </a:rPr>
              <a:t>dense anchors; smooth, monotone interpolation</a:t>
            </a:r>
            <a:endParaRPr lang="en-US" sz="980" dirty="0"/>
          </a:p>
        </p:txBody>
      </p:sp>
      <p:sp>
        <p:nvSpPr>
          <p:cNvPr id="24" name="Shape 21"/>
          <p:cNvSpPr/>
          <p:nvPr/>
        </p:nvSpPr>
        <p:spPr>
          <a:xfrm>
            <a:off x="7132320" y="5340096"/>
            <a:ext cx="4572000" cy="512064"/>
          </a:xfrm>
          <a:prstGeom prst="roundRect">
            <a:avLst>
              <a:gd name="adj" fmla="val 16071"/>
            </a:avLst>
          </a:prstGeom>
          <a:solidFill>
            <a:srgbClr val="FFFFFF"/>
          </a:solidFill>
          <a:ln w="12700">
            <a:solidFill>
              <a:srgbClr val="D7E2E8"/>
            </a:solidFill>
            <a:prstDash val="solid"/>
          </a:ln>
        </p:spPr>
      </p:sp>
      <p:sp>
        <p:nvSpPr>
          <p:cNvPr id="25" name="Text 22"/>
          <p:cNvSpPr/>
          <p:nvPr/>
        </p:nvSpPr>
        <p:spPr>
          <a:xfrm>
            <a:off x="7296912" y="5340096"/>
            <a:ext cx="1874520" cy="512064"/>
          </a:xfrm>
          <a:prstGeom prst="rect">
            <a:avLst/>
          </a:prstGeom>
          <a:noFill/>
          <a:ln/>
        </p:spPr>
        <p:txBody>
          <a:bodyPr wrap="square" lIns="0" tIns="0" rIns="0" bIns="0" rtlCol="0" anchor="ctr"/>
          <a:lstStyle/>
          <a:p>
            <a:pPr indent="0" marL="0">
              <a:buNone/>
            </a:pPr>
            <a:r>
              <a:rPr lang="en-US" sz="1180" b="1" dirty="0">
                <a:solidFill>
                  <a:srgbClr val="0F2A43"/>
                </a:solidFill>
                <a:latin typeface="Montserrat" pitchFamily="34" charset="0"/>
                <a:ea typeface="Montserrat" pitchFamily="34" charset="-122"/>
                <a:cs typeface="Montserrat" pitchFamily="34" charset="-120"/>
              </a:rPr>
              <a:t>Linear</a:t>
            </a:r>
            <a:endParaRPr lang="en-US" sz="1180" dirty="0"/>
          </a:p>
        </p:txBody>
      </p:sp>
      <p:sp>
        <p:nvSpPr>
          <p:cNvPr id="26" name="Text 23"/>
          <p:cNvSpPr/>
          <p:nvPr/>
        </p:nvSpPr>
        <p:spPr>
          <a:xfrm>
            <a:off x="9144000" y="5340096"/>
            <a:ext cx="2468880" cy="512064"/>
          </a:xfrm>
          <a:prstGeom prst="rect">
            <a:avLst/>
          </a:prstGeom>
          <a:noFill/>
          <a:ln/>
        </p:spPr>
        <p:txBody>
          <a:bodyPr wrap="square" lIns="0" tIns="0" rIns="0" bIns="0" rtlCol="0" anchor="ctr"/>
          <a:lstStyle/>
          <a:p>
            <a:pPr indent="0" marL="0">
              <a:lnSpc>
                <a:spcPct val="100000"/>
              </a:lnSpc>
              <a:buNone/>
            </a:pPr>
            <a:r>
              <a:rPr lang="en-US" sz="980" dirty="0">
                <a:solidFill>
                  <a:srgbClr val="5B7184"/>
                </a:solidFill>
                <a:latin typeface="Montserrat" pitchFamily="34" charset="0"/>
                <a:ea typeface="Montserrat" pitchFamily="34" charset="-122"/>
                <a:cs typeface="Montserrat" pitchFamily="34" charset="-120"/>
              </a:rPr>
              <a:t>only a slope between two anchors</a:t>
            </a:r>
            <a:endParaRPr lang="en-US" sz="980" dirty="0"/>
          </a:p>
        </p:txBody>
      </p:sp>
      <p:sp>
        <p:nvSpPr>
          <p:cNvPr id="27" name="Text 24"/>
          <p:cNvSpPr/>
          <p:nvPr/>
        </p:nvSpPr>
        <p:spPr>
          <a:xfrm>
            <a:off x="7132320" y="5989320"/>
            <a:ext cx="4572000" cy="365760"/>
          </a:xfrm>
          <a:prstGeom prst="rect">
            <a:avLst/>
          </a:prstGeom>
          <a:noFill/>
          <a:ln/>
        </p:spPr>
        <p:txBody>
          <a:bodyPr wrap="square" lIns="0" tIns="0" rIns="0" bIns="0" rtlCol="0" anchor="ctr"/>
          <a:lstStyle/>
          <a:p>
            <a:pPr indent="0" marL="0">
              <a:lnSpc>
                <a:spcPct val="105000"/>
              </a:lnSpc>
              <a:buNone/>
            </a:pPr>
            <a:r>
              <a:rPr lang="en-US" sz="1050" i="1" dirty="0">
                <a:solidFill>
                  <a:srgbClr val="5B7184"/>
                </a:solidFill>
                <a:latin typeface="Montserrat" pitchFamily="34" charset="0"/>
                <a:ea typeface="Montserrat" pitchFamily="34" charset="-122"/>
                <a:cs typeface="Montserrat" pitchFamily="34" charset="-120"/>
              </a:rPr>
              <a:t>Whatever the form: anchor the onset · cap at L · no extrapolation past the valid range.</a:t>
            </a:r>
            <a:endParaRPr lang="en-US" sz="1050" dirty="0"/>
          </a:p>
        </p:txBody>
      </p:sp>
      <p:sp>
        <p:nvSpPr>
          <p:cNvPr id="28" name="Text 25"/>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29" name="Text 26"/>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damage_curve_build_methodology.docx §7 · hail_solar curve_artifact.json</a:t>
            </a:r>
            <a:endParaRPr lang="en-US" sz="7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11</a:t>
            </a:r>
            <a:endParaRPr lang="en-US" sz="950" dirty="0"/>
          </a:p>
        </p:txBody>
      </p:sp>
      <p:sp>
        <p:nvSpPr>
          <p:cNvPr id="3" name="Shape 1"/>
          <p:cNvSpPr/>
          <p:nvPr/>
        </p:nvSpPr>
        <p:spPr>
          <a:xfrm>
            <a:off x="566928" y="457200"/>
            <a:ext cx="603504" cy="603504"/>
          </a:xfrm>
          <a:prstGeom prst="ellipse">
            <a:avLst/>
          </a:prstGeom>
          <a:solidFill>
            <a:srgbClr val="14919B"/>
          </a:solidFill>
          <a:ln/>
        </p:spPr>
      </p:sp>
      <p:sp>
        <p:nvSpPr>
          <p:cNvPr id="4" name="Text 2"/>
          <p:cNvSpPr/>
          <p:nvPr/>
        </p:nvSpPr>
        <p:spPr>
          <a:xfrm>
            <a:off x="566928" y="457200"/>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Montserrat" pitchFamily="34" charset="0"/>
                <a:ea typeface="Montserrat" pitchFamily="34" charset="-122"/>
                <a:cs typeface="Montserrat" pitchFamily="34" charset="-120"/>
              </a:rPr>
              <a:t>5</a:t>
            </a:r>
            <a:endParaRPr lang="en-US" sz="2200" dirty="0"/>
          </a:p>
        </p:txBody>
      </p:sp>
      <p:sp>
        <p:nvSpPr>
          <p:cNvPr id="5" name="Text 3"/>
          <p:cNvSpPr/>
          <p:nvPr/>
        </p:nvSpPr>
        <p:spPr>
          <a:xfrm>
            <a:off x="1353312" y="457200"/>
            <a:ext cx="10058400" cy="310896"/>
          </a:xfrm>
          <a:prstGeom prst="rect">
            <a:avLst/>
          </a:prstGeom>
          <a:noFill/>
          <a:ln/>
        </p:spPr>
        <p:txBody>
          <a:bodyPr wrap="square" lIns="0" tIns="0" rIns="0" bIns="0" rtlCol="0" anchor="ctr"/>
          <a:lstStyle/>
          <a:p>
            <a:pPr indent="0" marL="0">
              <a:buNone/>
            </a:pPr>
            <a:r>
              <a:rPr lang="en-US" sz="1350" b="1" spc="200" kern="0" dirty="0">
                <a:solidFill>
                  <a:srgbClr val="14919B"/>
                </a:solidFill>
                <a:latin typeface="Montserrat" pitchFamily="34" charset="0"/>
                <a:ea typeface="Montserrat" pitchFamily="34" charset="-122"/>
                <a:cs typeface="Montserrat" pitchFamily="34" charset="-120"/>
              </a:rPr>
              <a:t>STAGE 5   </a:t>
            </a:r>
            <a:pPr indent="0" marL="0">
              <a:buNone/>
            </a:pPr>
            <a:r>
              <a:rPr lang="en-US" sz="1350" b="1" spc="200" kern="0" dirty="0">
                <a:solidFill>
                  <a:srgbClr val="0F2A43"/>
                </a:solidFill>
                <a:latin typeface="Montserrat" pitchFamily="34" charset="0"/>
                <a:ea typeface="Montserrat" pitchFamily="34" charset="-122"/>
                <a:cs typeface="Montserrat" pitchFamily="34" charset="-120"/>
              </a:rPr>
              <a:t>ADJUSTMENTS</a:t>
            </a:r>
            <a:endParaRPr lang="en-US" sz="1350" dirty="0"/>
          </a:p>
        </p:txBody>
      </p:sp>
      <p:sp>
        <p:nvSpPr>
          <p:cNvPr id="6" name="Text 4"/>
          <p:cNvSpPr/>
          <p:nvPr/>
        </p:nvSpPr>
        <p:spPr>
          <a:xfrm>
            <a:off x="1353312" y="768096"/>
            <a:ext cx="10607040" cy="658368"/>
          </a:xfrm>
          <a:prstGeom prst="rect">
            <a:avLst/>
          </a:prstGeom>
          <a:noFill/>
          <a:ln/>
        </p:spPr>
        <p:txBody>
          <a:bodyPr wrap="square" lIns="0" tIns="0" rIns="0" bIns="0" rtlCol="0" anchor="ctr"/>
          <a:lstStyle/>
          <a:p>
            <a:pPr indent="0" marL="0">
              <a:lnSpc>
                <a:spcPct val="98000"/>
              </a:lnSpc>
              <a:buNone/>
            </a:pPr>
            <a:r>
              <a:rPr lang="en-US" sz="2150" b="1" dirty="0">
                <a:solidFill>
                  <a:srgbClr val="0F2A43"/>
                </a:solidFill>
                <a:latin typeface="Montserrat" pitchFamily="34" charset="0"/>
                <a:ea typeface="Montserrat" pitchFamily="34" charset="-122"/>
                <a:cs typeface="Montserrat" pitchFamily="34" charset="-120"/>
              </a:rPr>
              <a:t>What does the curve depend on besides intensity — and how does each enter?</a:t>
            </a:r>
            <a:endParaRPr lang="en-US" sz="2150" dirty="0"/>
          </a:p>
        </p:txBody>
      </p:sp>
      <p:sp>
        <p:nvSpPr>
          <p:cNvPr id="7" name="Shape 5"/>
          <p:cNvSpPr/>
          <p:nvPr/>
        </p:nvSpPr>
        <p:spPr>
          <a:xfrm>
            <a:off x="566928" y="1700784"/>
            <a:ext cx="5074920" cy="1152144"/>
          </a:xfrm>
          <a:prstGeom prst="roundRect">
            <a:avLst>
              <a:gd name="adj" fmla="val 7143"/>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8" name="Shape 6"/>
          <p:cNvSpPr/>
          <p:nvPr/>
        </p:nvSpPr>
        <p:spPr>
          <a:xfrm>
            <a:off x="795528" y="1920240"/>
            <a:ext cx="1691640" cy="768096"/>
          </a:xfrm>
          <a:prstGeom prst="roundRect">
            <a:avLst>
              <a:gd name="adj" fmla="val 10714"/>
            </a:avLst>
          </a:prstGeom>
          <a:solidFill>
            <a:srgbClr val="14919B"/>
          </a:solidFill>
          <a:ln/>
        </p:spPr>
      </p:sp>
      <p:sp>
        <p:nvSpPr>
          <p:cNvPr id="9" name="Text 7"/>
          <p:cNvSpPr/>
          <p:nvPr/>
        </p:nvSpPr>
        <p:spPr>
          <a:xfrm>
            <a:off x="795528" y="1920240"/>
            <a:ext cx="169164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Montserrat" pitchFamily="34" charset="0"/>
                <a:ea typeface="Montserrat" pitchFamily="34" charset="-122"/>
                <a:cs typeface="Montserrat" pitchFamily="34" charset="-120"/>
              </a:rPr>
              <a:t>SELECTOR</a:t>
            </a:r>
            <a:endParaRPr lang="en-US" sz="1250" dirty="0"/>
          </a:p>
        </p:txBody>
      </p:sp>
      <p:sp>
        <p:nvSpPr>
          <p:cNvPr id="10" name="Text 8"/>
          <p:cNvSpPr/>
          <p:nvPr/>
        </p:nvSpPr>
        <p:spPr>
          <a:xfrm>
            <a:off x="795528" y="2304288"/>
            <a:ext cx="1691640" cy="329184"/>
          </a:xfrm>
          <a:prstGeom prst="rect">
            <a:avLst/>
          </a:prstGeom>
          <a:noFill/>
          <a:ln/>
        </p:spPr>
        <p:txBody>
          <a:bodyPr wrap="square" lIns="0" tIns="0" rIns="0" bIns="0" rtlCol="0" anchor="ctr"/>
          <a:lstStyle/>
          <a:p>
            <a:pPr algn="ctr" indent="0" marL="0">
              <a:buNone/>
            </a:pPr>
            <a:r>
              <a:rPr lang="en-US" sz="1050" i="1" dirty="0">
                <a:solidFill>
                  <a:srgbClr val="D7EEF1"/>
                </a:solidFill>
                <a:latin typeface="Montserrat" pitchFamily="34" charset="0"/>
                <a:ea typeface="Montserrat" pitchFamily="34" charset="-122"/>
                <a:cs typeface="Montserrat" pitchFamily="34" charset="-120"/>
              </a:rPr>
              <a:t>picks the curve</a:t>
            </a:r>
            <a:endParaRPr lang="en-US" sz="1050" dirty="0"/>
          </a:p>
        </p:txBody>
      </p:sp>
      <p:sp>
        <p:nvSpPr>
          <p:cNvPr id="11" name="Text 9"/>
          <p:cNvSpPr/>
          <p:nvPr/>
        </p:nvSpPr>
        <p:spPr>
          <a:xfrm>
            <a:off x="2624328" y="1920240"/>
            <a:ext cx="2926080" cy="822960"/>
          </a:xfrm>
          <a:prstGeom prst="rect">
            <a:avLst/>
          </a:prstGeom>
          <a:noFill/>
          <a:ln/>
        </p:spPr>
        <p:txBody>
          <a:bodyPr wrap="square" lIns="0" tIns="0" rIns="0" bIns="0" rtlCol="0" anchor="ctr"/>
          <a:lstStyle/>
          <a:p>
            <a:pPr indent="0" marL="0">
              <a:lnSpc>
                <a:spcPct val="110000"/>
              </a:lnSpc>
              <a:buNone/>
            </a:pPr>
            <a:r>
              <a:rPr lang="en-US" sz="1150" b="1" dirty="0">
                <a:solidFill>
                  <a:srgbClr val="0F2A43"/>
                </a:solidFill>
                <a:latin typeface="Montserrat" pitchFamily="34" charset="0"/>
                <a:ea typeface="Montserrat" pitchFamily="34" charset="-122"/>
                <a:cs typeface="Montserrat" pitchFamily="34" charset="-120"/>
              </a:rPr>
              <a:t>fixed asset attribute, set at bind-time
</a:t>
            </a:r>
            <a:endParaRPr lang="en-US" sz="1150" dirty="0"/>
          </a:p>
          <a:p>
            <a:pPr indent="0" marL="0">
              <a:lnSpc>
                <a:spcPct val="110000"/>
              </a:lnSpc>
              <a:buNone/>
            </a:pPr>
            <a:r>
              <a:rPr lang="en-US" sz="1150" i="1" dirty="0">
                <a:solidFill>
                  <a:srgbClr val="5B7184"/>
                </a:solidFill>
                <a:latin typeface="Montserrat" pitchFamily="34" charset="0"/>
                <a:ea typeface="Montserrat" pitchFamily="34" charset="-122"/>
                <a:cs typeface="Montserrat" pitchFamily="34" charset="-120"/>
              </a:rPr>
              <a:t>e.g. module archetype / glass type</a:t>
            </a:r>
            <a:endParaRPr lang="en-US" sz="1150" dirty="0"/>
          </a:p>
        </p:txBody>
      </p:sp>
      <p:sp>
        <p:nvSpPr>
          <p:cNvPr id="12" name="Shape 10"/>
          <p:cNvSpPr/>
          <p:nvPr/>
        </p:nvSpPr>
        <p:spPr>
          <a:xfrm>
            <a:off x="566928" y="2926080"/>
            <a:ext cx="5074920" cy="1152144"/>
          </a:xfrm>
          <a:prstGeom prst="roundRect">
            <a:avLst>
              <a:gd name="adj" fmla="val 7143"/>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13" name="Shape 11"/>
          <p:cNvSpPr/>
          <p:nvPr/>
        </p:nvSpPr>
        <p:spPr>
          <a:xfrm>
            <a:off x="795528" y="3145536"/>
            <a:ext cx="1691640" cy="768096"/>
          </a:xfrm>
          <a:prstGeom prst="roundRect">
            <a:avLst>
              <a:gd name="adj" fmla="val 10714"/>
            </a:avLst>
          </a:prstGeom>
          <a:solidFill>
            <a:srgbClr val="E0A458"/>
          </a:solidFill>
          <a:ln/>
        </p:spPr>
      </p:sp>
      <p:sp>
        <p:nvSpPr>
          <p:cNvPr id="14" name="Text 12"/>
          <p:cNvSpPr/>
          <p:nvPr/>
        </p:nvSpPr>
        <p:spPr>
          <a:xfrm>
            <a:off x="795528" y="3145536"/>
            <a:ext cx="1691640" cy="420624"/>
          </a:xfrm>
          <a:prstGeom prst="rect">
            <a:avLst/>
          </a:prstGeom>
          <a:noFill/>
          <a:ln/>
        </p:spPr>
        <p:txBody>
          <a:bodyPr wrap="square" lIns="0" tIns="0" rIns="0" bIns="0" rtlCol="0" anchor="ctr"/>
          <a:lstStyle/>
          <a:p>
            <a:pPr algn="ctr" indent="0" marL="0">
              <a:buNone/>
            </a:pPr>
            <a:r>
              <a:rPr lang="en-US" sz="1250" b="1" dirty="0">
                <a:solidFill>
                  <a:srgbClr val="0F2A43"/>
                </a:solidFill>
                <a:latin typeface="Montserrat" pitchFamily="34" charset="0"/>
                <a:ea typeface="Montserrat" pitchFamily="34" charset="-122"/>
                <a:cs typeface="Montserrat" pitchFamily="34" charset="-120"/>
              </a:rPr>
              <a:t>CONDITIONER</a:t>
            </a:r>
            <a:endParaRPr lang="en-US" sz="1250" dirty="0"/>
          </a:p>
        </p:txBody>
      </p:sp>
      <p:sp>
        <p:nvSpPr>
          <p:cNvPr id="15" name="Text 13"/>
          <p:cNvSpPr/>
          <p:nvPr/>
        </p:nvSpPr>
        <p:spPr>
          <a:xfrm>
            <a:off x="795528" y="3529584"/>
            <a:ext cx="1691640" cy="329184"/>
          </a:xfrm>
          <a:prstGeom prst="rect">
            <a:avLst/>
          </a:prstGeom>
          <a:noFill/>
          <a:ln/>
        </p:spPr>
        <p:txBody>
          <a:bodyPr wrap="square" lIns="0" tIns="0" rIns="0" bIns="0" rtlCol="0" anchor="ctr"/>
          <a:lstStyle/>
          <a:p>
            <a:pPr algn="ctr" indent="0" marL="0">
              <a:buNone/>
            </a:pPr>
            <a:r>
              <a:rPr lang="en-US" sz="1050" i="1" dirty="0">
                <a:solidFill>
                  <a:srgbClr val="0F2A43"/>
                </a:solidFill>
                <a:latin typeface="Montserrat" pitchFamily="34" charset="0"/>
                <a:ea typeface="Montserrat" pitchFamily="34" charset="-122"/>
                <a:cs typeface="Montserrat" pitchFamily="34" charset="-120"/>
              </a:rPr>
              <a:t>adjusts the curve</a:t>
            </a:r>
            <a:endParaRPr lang="en-US" sz="1050" dirty="0"/>
          </a:p>
        </p:txBody>
      </p:sp>
      <p:sp>
        <p:nvSpPr>
          <p:cNvPr id="16" name="Text 14"/>
          <p:cNvSpPr/>
          <p:nvPr/>
        </p:nvSpPr>
        <p:spPr>
          <a:xfrm>
            <a:off x="2624328" y="3145536"/>
            <a:ext cx="2926080" cy="822960"/>
          </a:xfrm>
          <a:prstGeom prst="rect">
            <a:avLst/>
          </a:prstGeom>
          <a:noFill/>
          <a:ln/>
        </p:spPr>
        <p:txBody>
          <a:bodyPr wrap="square" lIns="0" tIns="0" rIns="0" bIns="0" rtlCol="0" anchor="ctr"/>
          <a:lstStyle/>
          <a:p>
            <a:pPr indent="0" marL="0">
              <a:lnSpc>
                <a:spcPct val="110000"/>
              </a:lnSpc>
              <a:buNone/>
            </a:pPr>
            <a:r>
              <a:rPr lang="en-US" sz="1150" b="1" dirty="0">
                <a:solidFill>
                  <a:srgbClr val="0F2A43"/>
                </a:solidFill>
                <a:latin typeface="Montserrat" pitchFamily="34" charset="0"/>
                <a:ea typeface="Montserrat" pitchFamily="34" charset="-122"/>
                <a:cs typeface="Montserrat" pitchFamily="34" charset="-120"/>
              </a:rPr>
              <a:t>event-time state, recomputed per event
</a:t>
            </a:r>
            <a:endParaRPr lang="en-US" sz="1150" dirty="0"/>
          </a:p>
          <a:p>
            <a:pPr indent="0" marL="0">
              <a:lnSpc>
                <a:spcPct val="110000"/>
              </a:lnSpc>
              <a:buNone/>
            </a:pPr>
            <a:r>
              <a:rPr lang="en-US" sz="1150" i="1" dirty="0">
                <a:solidFill>
                  <a:srgbClr val="5B7184"/>
                </a:solidFill>
                <a:latin typeface="Montserrat" pitchFamily="34" charset="0"/>
                <a:ea typeface="Montserrat" pitchFamily="34" charset="-122"/>
                <a:cs typeface="Montserrat" pitchFamily="34" charset="-120"/>
              </a:rPr>
              <a:t>e.g. tracker stow when the storm arrives</a:t>
            </a:r>
            <a:endParaRPr lang="en-US" sz="1150" dirty="0"/>
          </a:p>
        </p:txBody>
      </p:sp>
      <p:sp>
        <p:nvSpPr>
          <p:cNvPr id="17" name="Shape 15"/>
          <p:cNvSpPr/>
          <p:nvPr/>
        </p:nvSpPr>
        <p:spPr>
          <a:xfrm>
            <a:off x="566928" y="4151376"/>
            <a:ext cx="5074920" cy="1152144"/>
          </a:xfrm>
          <a:prstGeom prst="roundRect">
            <a:avLst>
              <a:gd name="adj" fmla="val 7143"/>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18" name="Shape 16"/>
          <p:cNvSpPr/>
          <p:nvPr/>
        </p:nvSpPr>
        <p:spPr>
          <a:xfrm>
            <a:off x="795528" y="4370832"/>
            <a:ext cx="1691640" cy="768096"/>
          </a:xfrm>
          <a:prstGeom prst="roundRect">
            <a:avLst>
              <a:gd name="adj" fmla="val 10714"/>
            </a:avLst>
          </a:prstGeom>
          <a:solidFill>
            <a:srgbClr val="2DB7C3"/>
          </a:solidFill>
          <a:ln/>
        </p:spPr>
      </p:sp>
      <p:sp>
        <p:nvSpPr>
          <p:cNvPr id="19" name="Text 17"/>
          <p:cNvSpPr/>
          <p:nvPr/>
        </p:nvSpPr>
        <p:spPr>
          <a:xfrm>
            <a:off x="795528" y="4370832"/>
            <a:ext cx="169164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Montserrat" pitchFamily="34" charset="0"/>
                <a:ea typeface="Montserrat" pitchFamily="34" charset="-122"/>
                <a:cs typeface="Montserrat" pitchFamily="34" charset="-120"/>
              </a:rPr>
              <a:t>EXPOSURE</a:t>
            </a:r>
            <a:endParaRPr lang="en-US" sz="1250" dirty="0"/>
          </a:p>
        </p:txBody>
      </p:sp>
      <p:sp>
        <p:nvSpPr>
          <p:cNvPr id="20" name="Text 18"/>
          <p:cNvSpPr/>
          <p:nvPr/>
        </p:nvSpPr>
        <p:spPr>
          <a:xfrm>
            <a:off x="795528" y="4754880"/>
            <a:ext cx="1691640" cy="329184"/>
          </a:xfrm>
          <a:prstGeom prst="rect">
            <a:avLst/>
          </a:prstGeom>
          <a:noFill/>
          <a:ln/>
        </p:spPr>
        <p:txBody>
          <a:bodyPr wrap="square" lIns="0" tIns="0" rIns="0" bIns="0" rtlCol="0" anchor="ctr"/>
          <a:lstStyle/>
          <a:p>
            <a:pPr algn="ctr" indent="0" marL="0">
              <a:buNone/>
            </a:pPr>
            <a:r>
              <a:rPr lang="en-US" sz="1050" i="1" dirty="0">
                <a:solidFill>
                  <a:srgbClr val="D7EEF1"/>
                </a:solidFill>
                <a:latin typeface="Montserrat" pitchFamily="34" charset="0"/>
                <a:ea typeface="Montserrat" pitchFamily="34" charset="-122"/>
                <a:cs typeface="Montserrat" pitchFamily="34" charset="-120"/>
              </a:rPr>
              <a:t>scales to dollars</a:t>
            </a:r>
            <a:endParaRPr lang="en-US" sz="1050" dirty="0"/>
          </a:p>
        </p:txBody>
      </p:sp>
      <p:sp>
        <p:nvSpPr>
          <p:cNvPr id="21" name="Text 19"/>
          <p:cNvSpPr/>
          <p:nvPr/>
        </p:nvSpPr>
        <p:spPr>
          <a:xfrm>
            <a:off x="2624328" y="4370832"/>
            <a:ext cx="2926080" cy="822960"/>
          </a:xfrm>
          <a:prstGeom prst="rect">
            <a:avLst/>
          </a:prstGeom>
          <a:noFill/>
          <a:ln/>
        </p:spPr>
        <p:txBody>
          <a:bodyPr wrap="square" lIns="0" tIns="0" rIns="0" bIns="0" rtlCol="0" anchor="ctr"/>
          <a:lstStyle/>
          <a:p>
            <a:pPr indent="0" marL="0">
              <a:lnSpc>
                <a:spcPct val="110000"/>
              </a:lnSpc>
              <a:buNone/>
            </a:pPr>
            <a:r>
              <a:rPr lang="en-US" sz="1150" b="1" dirty="0">
                <a:solidFill>
                  <a:srgbClr val="0F2A43"/>
                </a:solidFill>
                <a:latin typeface="Montserrat" pitchFamily="34" charset="0"/>
                <a:ea typeface="Montserrat" pitchFamily="34" charset="-122"/>
                <a:cs typeface="Montserrat" pitchFamily="34" charset="-120"/>
              </a:rPr>
              <a:t>value-share touched, set at bind-time
</a:t>
            </a:r>
            <a:endParaRPr lang="en-US" sz="1150" dirty="0"/>
          </a:p>
          <a:p>
            <a:pPr indent="0" marL="0">
              <a:lnSpc>
                <a:spcPct val="110000"/>
              </a:lnSpc>
              <a:buNone/>
            </a:pPr>
            <a:r>
              <a:rPr lang="en-US" sz="1150" i="1" dirty="0">
                <a:solidFill>
                  <a:srgbClr val="5B7184"/>
                </a:solidFill>
                <a:latin typeface="Montserrat" pitchFamily="34" charset="0"/>
                <a:ea typeface="Montserrat" pitchFamily="34" charset="-122"/>
                <a:cs typeface="Montserrat" pitchFamily="34" charset="-120"/>
              </a:rPr>
              <a:t>e.g. array exposure fraction</a:t>
            </a:r>
            <a:endParaRPr lang="en-US" sz="1150" dirty="0"/>
          </a:p>
        </p:txBody>
      </p:sp>
      <p:pic>
        <p:nvPicPr>
          <p:cNvPr id="22" name="Image 0" descr="/sessions/sharp-serene-hypatia/mnt/outputs/deck/img/selector_shift.png">    </p:cNvPr>
          <p:cNvPicPr>
            <a:picLocks noChangeAspect="1"/>
          </p:cNvPicPr>
          <p:nvPr/>
        </p:nvPicPr>
        <p:blipFill>
          <a:blip r:embed="rId1"/>
          <a:stretch>
            <a:fillRect/>
          </a:stretch>
        </p:blipFill>
        <p:spPr>
          <a:xfrm>
            <a:off x="5897880" y="1700784"/>
            <a:ext cx="5760720" cy="3310128"/>
          </a:xfrm>
          <a:prstGeom prst="rect">
            <a:avLst/>
          </a:prstGeom>
        </p:spPr>
      </p:pic>
      <p:sp>
        <p:nvSpPr>
          <p:cNvPr id="23" name="Text 20"/>
          <p:cNvSpPr/>
          <p:nvPr/>
        </p:nvSpPr>
        <p:spPr>
          <a:xfrm>
            <a:off x="5897880" y="5074920"/>
            <a:ext cx="5760720" cy="457200"/>
          </a:xfrm>
          <a:prstGeom prst="rect">
            <a:avLst/>
          </a:prstGeom>
          <a:noFill/>
          <a:ln/>
        </p:spPr>
        <p:txBody>
          <a:bodyPr wrap="square" lIns="0" tIns="0" rIns="0" bIns="0" rtlCol="0" anchor="ctr"/>
          <a:lstStyle/>
          <a:p>
            <a:pPr algn="ctr" indent="0" marL="0">
              <a:lnSpc>
                <a:spcPct val="110000"/>
              </a:lnSpc>
              <a:buNone/>
            </a:pPr>
            <a:r>
              <a:rPr lang="en-US" sz="1150" i="1" dirty="0">
                <a:solidFill>
                  <a:srgbClr val="5B7184"/>
                </a:solidFill>
                <a:latin typeface="Montserrat" pitchFamily="34" charset="0"/>
                <a:ea typeface="Montserrat" pitchFamily="34" charset="-122"/>
                <a:cs typeface="Montserrat" pitchFamily="34" charset="-120"/>
              </a:rPr>
              <a:t>Selector in action: three module archetypes are three shifted curves — the selector chooses which family applies.</a:t>
            </a:r>
            <a:endParaRPr lang="en-US" sz="1150" dirty="0"/>
          </a:p>
        </p:txBody>
      </p:sp>
      <p:sp>
        <p:nvSpPr>
          <p:cNvPr id="24" name="Shape 21"/>
          <p:cNvSpPr/>
          <p:nvPr/>
        </p:nvSpPr>
        <p:spPr>
          <a:xfrm>
            <a:off x="566928" y="5532120"/>
            <a:ext cx="5074920" cy="786384"/>
          </a:xfrm>
          <a:prstGeom prst="roundRect">
            <a:avLst>
              <a:gd name="adj" fmla="val 11628"/>
            </a:avLst>
          </a:prstGeom>
          <a:solidFill>
            <a:srgbClr val="FBF0DC"/>
          </a:solidFill>
          <a:ln/>
        </p:spPr>
      </p:sp>
      <p:sp>
        <p:nvSpPr>
          <p:cNvPr id="25" name="Text 22"/>
          <p:cNvSpPr/>
          <p:nvPr/>
        </p:nvSpPr>
        <p:spPr>
          <a:xfrm>
            <a:off x="795528" y="5532120"/>
            <a:ext cx="4617720" cy="786384"/>
          </a:xfrm>
          <a:prstGeom prst="rect">
            <a:avLst/>
          </a:prstGeom>
          <a:noFill/>
          <a:ln/>
        </p:spPr>
        <p:txBody>
          <a:bodyPr wrap="square" lIns="0" tIns="0" rIns="0" bIns="0" rtlCol="0" anchor="ctr"/>
          <a:lstStyle/>
          <a:p>
            <a:pPr indent="0" marL="0">
              <a:lnSpc>
                <a:spcPct val="112000"/>
              </a:lnSpc>
              <a:buNone/>
            </a:pPr>
            <a:r>
              <a:rPr lang="en-US" sz="1080" b="1" dirty="0">
                <a:solidFill>
                  <a:srgbClr val="9A6B1E"/>
                </a:solidFill>
                <a:latin typeface="Montserrat" pitchFamily="34" charset="0"/>
                <a:ea typeface="Montserrat" pitchFamily="34" charset="-122"/>
                <a:cs typeface="Montserrat" pitchFamily="34" charset="-120"/>
              </a:rPr>
              <a:t>Caveat — exposure is a v2 item.  </a:t>
            </a:r>
            <a:pPr indent="0" marL="0">
              <a:lnSpc>
                <a:spcPct val="112000"/>
              </a:lnSpc>
              <a:buNone/>
            </a:pPr>
            <a:r>
              <a:rPr lang="en-US" sz="1080" dirty="0">
                <a:solidFill>
                  <a:srgbClr val="9A6B1E"/>
                </a:solidFill>
                <a:latin typeface="Montserrat" pitchFamily="34" charset="0"/>
                <a:ea typeface="Montserrat" pitchFamily="34" charset="-122"/>
                <a:cs typeface="Montserrat" pitchFamily="34" charset="-120"/>
              </a:rPr>
              <a:t>Partial / footprint exposure (f &lt; 1) is in the contract but not yet exercised in the hazard-modeling integration. Today it runs at full site (f = 1.0).</a:t>
            </a:r>
            <a:endParaRPr lang="en-US" sz="1080" dirty="0"/>
          </a:p>
        </p:txBody>
      </p:sp>
      <p:sp>
        <p:nvSpPr>
          <p:cNvPr id="26" name="Text 23"/>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27" name="Text 24"/>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damage_curve_build_methodology.docx §8 · questions/… selector_conditioner_exposure</a:t>
            </a:r>
            <a:endParaRPr lang="en-US" sz="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12</a:t>
            </a:r>
            <a:endParaRPr lang="en-US" sz="950" dirty="0"/>
          </a:p>
        </p:txBody>
      </p:sp>
      <p:sp>
        <p:nvSpPr>
          <p:cNvPr id="3" name="Shape 1"/>
          <p:cNvSpPr/>
          <p:nvPr/>
        </p:nvSpPr>
        <p:spPr>
          <a:xfrm>
            <a:off x="566928" y="457200"/>
            <a:ext cx="603504" cy="603504"/>
          </a:xfrm>
          <a:prstGeom prst="ellipse">
            <a:avLst/>
          </a:prstGeom>
          <a:solidFill>
            <a:srgbClr val="14919B"/>
          </a:solidFill>
          <a:ln/>
        </p:spPr>
      </p:sp>
      <p:sp>
        <p:nvSpPr>
          <p:cNvPr id="4" name="Text 2"/>
          <p:cNvSpPr/>
          <p:nvPr/>
        </p:nvSpPr>
        <p:spPr>
          <a:xfrm>
            <a:off x="566928" y="457200"/>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Montserrat" pitchFamily="34" charset="0"/>
                <a:ea typeface="Montserrat" pitchFamily="34" charset="-122"/>
                <a:cs typeface="Montserrat" pitchFamily="34" charset="-120"/>
              </a:rPr>
              <a:t>6</a:t>
            </a:r>
            <a:endParaRPr lang="en-US" sz="2200" dirty="0"/>
          </a:p>
        </p:txBody>
      </p:sp>
      <p:sp>
        <p:nvSpPr>
          <p:cNvPr id="5" name="Text 3"/>
          <p:cNvSpPr/>
          <p:nvPr/>
        </p:nvSpPr>
        <p:spPr>
          <a:xfrm>
            <a:off x="1353312" y="457200"/>
            <a:ext cx="10058400" cy="310896"/>
          </a:xfrm>
          <a:prstGeom prst="rect">
            <a:avLst/>
          </a:prstGeom>
          <a:noFill/>
          <a:ln/>
        </p:spPr>
        <p:txBody>
          <a:bodyPr wrap="square" lIns="0" tIns="0" rIns="0" bIns="0" rtlCol="0" anchor="ctr"/>
          <a:lstStyle/>
          <a:p>
            <a:pPr indent="0" marL="0">
              <a:buNone/>
            </a:pPr>
            <a:r>
              <a:rPr lang="en-US" sz="1350" b="1" spc="200" kern="0" dirty="0">
                <a:solidFill>
                  <a:srgbClr val="14919B"/>
                </a:solidFill>
                <a:latin typeface="Montserrat" pitchFamily="34" charset="0"/>
                <a:ea typeface="Montserrat" pitchFamily="34" charset="-122"/>
                <a:cs typeface="Montserrat" pitchFamily="34" charset="-120"/>
              </a:rPr>
              <a:t>STAGE 6   </a:t>
            </a:r>
            <a:pPr indent="0" marL="0">
              <a:buNone/>
            </a:pPr>
            <a:r>
              <a:rPr lang="en-US" sz="1350" b="1" spc="200" kern="0" dirty="0">
                <a:solidFill>
                  <a:srgbClr val="0F2A43"/>
                </a:solidFill>
                <a:latin typeface="Montserrat" pitchFamily="34" charset="0"/>
                <a:ea typeface="Montserrat" pitchFamily="34" charset="-122"/>
                <a:cs typeface="Montserrat" pitchFamily="34" charset="-120"/>
              </a:rPr>
              <a:t>EMIT</a:t>
            </a:r>
            <a:endParaRPr lang="en-US" sz="1350" dirty="0"/>
          </a:p>
        </p:txBody>
      </p:sp>
      <p:sp>
        <p:nvSpPr>
          <p:cNvPr id="6" name="Text 4"/>
          <p:cNvSpPr/>
          <p:nvPr/>
        </p:nvSpPr>
        <p:spPr>
          <a:xfrm>
            <a:off x="1353312" y="768096"/>
            <a:ext cx="10607040" cy="658368"/>
          </a:xfrm>
          <a:prstGeom prst="rect">
            <a:avLst/>
          </a:prstGeom>
          <a:noFill/>
          <a:ln/>
        </p:spPr>
        <p:txBody>
          <a:bodyPr wrap="square" lIns="0" tIns="0" rIns="0" bIns="0" rtlCol="0" anchor="ctr"/>
          <a:lstStyle/>
          <a:p>
            <a:pPr indent="0" marL="0">
              <a:lnSpc>
                <a:spcPct val="98000"/>
              </a:lnSpc>
              <a:buNone/>
            </a:pPr>
            <a:r>
              <a:rPr lang="en-US" sz="2150" b="1" dirty="0">
                <a:solidFill>
                  <a:srgbClr val="0F2A43"/>
                </a:solidFill>
                <a:latin typeface="Montserrat" pitchFamily="34" charset="0"/>
                <a:ea typeface="Montserrat" pitchFamily="34" charset="-122"/>
                <a:cs typeface="Montserrat" pitchFamily="34" charset="-120"/>
              </a:rPr>
              <a:t>What does the curve return per event — and what capability ships with it?</a:t>
            </a:r>
            <a:endParaRPr lang="en-US" sz="2150" dirty="0"/>
          </a:p>
        </p:txBody>
      </p:sp>
      <p:sp>
        <p:nvSpPr>
          <p:cNvPr id="7" name="Text 5"/>
          <p:cNvSpPr/>
          <p:nvPr/>
        </p:nvSpPr>
        <p:spPr>
          <a:xfrm>
            <a:off x="566928" y="1481328"/>
            <a:ext cx="10972800" cy="329184"/>
          </a:xfrm>
          <a:prstGeom prst="rect">
            <a:avLst/>
          </a:prstGeom>
          <a:noFill/>
          <a:ln/>
        </p:spPr>
        <p:txBody>
          <a:bodyPr wrap="square" lIns="0" tIns="0" rIns="0" bIns="0" rtlCol="0" anchor="ctr"/>
          <a:lstStyle/>
          <a:p>
            <a:pPr indent="0" marL="0">
              <a:buNone/>
            </a:pPr>
            <a:r>
              <a:rPr lang="en-US" sz="1300" b="1" dirty="0">
                <a:solidFill>
                  <a:srgbClr val="14919B"/>
                </a:solidFill>
                <a:latin typeface="Montserrat" pitchFamily="34" charset="0"/>
                <a:ea typeface="Montserrat" pitchFamily="34" charset="-122"/>
                <a:cs typeface="Montserrat" pitchFamily="34" charset="-120"/>
              </a:rPr>
              <a:t>The emit shape is chosen by the FIRST NONLINEARITY downstream the curve must honor.</a:t>
            </a:r>
            <a:endParaRPr lang="en-US" sz="1300" dirty="0"/>
          </a:p>
        </p:txBody>
      </p:sp>
      <p:sp>
        <p:nvSpPr>
          <p:cNvPr id="8" name="Shape 6"/>
          <p:cNvSpPr/>
          <p:nvPr/>
        </p:nvSpPr>
        <p:spPr>
          <a:xfrm>
            <a:off x="566928" y="1965960"/>
            <a:ext cx="2670048" cy="2286000"/>
          </a:xfrm>
          <a:prstGeom prst="roundRect">
            <a:avLst>
              <a:gd name="adj" fmla="val 3600"/>
            </a:avLst>
          </a:prstGeom>
          <a:solidFill>
            <a:srgbClr val="D7EEF1"/>
          </a:solidFill>
          <a:ln w="19050">
            <a:solidFill>
              <a:srgbClr val="14919B"/>
            </a:solidFill>
            <a:prstDash val="solid"/>
          </a:ln>
          <a:effectLst>
            <a:outerShdw sx="100000" sy="100000" kx="0" ky="0" algn="bl" rotWithShape="0" blurRad="114300" dist="38100" dir="5400000">
              <a:srgbClr val="0F2A43">
                <a:alpha val="13000"/>
              </a:srgbClr>
            </a:outerShdw>
          </a:effectLst>
        </p:spPr>
      </p:sp>
      <p:sp>
        <p:nvSpPr>
          <p:cNvPr id="9" name="Text 7"/>
          <p:cNvSpPr/>
          <p:nvPr/>
        </p:nvSpPr>
        <p:spPr>
          <a:xfrm>
            <a:off x="768096" y="2176272"/>
            <a:ext cx="2304288" cy="548640"/>
          </a:xfrm>
          <a:prstGeom prst="rect">
            <a:avLst/>
          </a:prstGeom>
          <a:noFill/>
          <a:ln/>
        </p:spPr>
        <p:txBody>
          <a:bodyPr wrap="square" lIns="0" tIns="0" rIns="0" bIns="0" rtlCol="0" anchor="ctr"/>
          <a:lstStyle/>
          <a:p>
            <a:pPr algn="ctr" indent="0" marL="0">
              <a:lnSpc>
                <a:spcPct val="100000"/>
              </a:lnSpc>
              <a:buNone/>
            </a:pPr>
            <a:r>
              <a:rPr lang="en-US" sz="1350" b="1" dirty="0">
                <a:solidFill>
                  <a:srgbClr val="0F2A43"/>
                </a:solidFill>
                <a:latin typeface="Consolas" pitchFamily="34" charset="0"/>
                <a:ea typeface="Consolas" pitchFamily="34" charset="-122"/>
                <a:cs typeface="Consolas" pitchFamily="34" charset="-120"/>
              </a:rPr>
              <a:t>scalar mean DR</a:t>
            </a:r>
            <a:endParaRPr lang="en-US" sz="1350" dirty="0"/>
          </a:p>
        </p:txBody>
      </p:sp>
      <p:sp>
        <p:nvSpPr>
          <p:cNvPr id="10" name="Shape 8"/>
          <p:cNvSpPr/>
          <p:nvPr/>
        </p:nvSpPr>
        <p:spPr>
          <a:xfrm>
            <a:off x="1115568" y="2743200"/>
            <a:ext cx="1572768" cy="0"/>
          </a:xfrm>
          <a:prstGeom prst="line">
            <a:avLst/>
          </a:prstGeom>
          <a:noFill/>
          <a:ln w="12700">
            <a:solidFill>
              <a:srgbClr val="14919B"/>
            </a:solidFill>
            <a:prstDash val="solid"/>
          </a:ln>
        </p:spPr>
      </p:sp>
      <p:sp>
        <p:nvSpPr>
          <p:cNvPr id="11" name="Text 9"/>
          <p:cNvSpPr/>
          <p:nvPr/>
        </p:nvSpPr>
        <p:spPr>
          <a:xfrm>
            <a:off x="768096" y="2798064"/>
            <a:ext cx="2304288" cy="274320"/>
          </a:xfrm>
          <a:prstGeom prst="rect">
            <a:avLst/>
          </a:prstGeom>
          <a:noFill/>
          <a:ln/>
        </p:spPr>
        <p:txBody>
          <a:bodyPr wrap="square" lIns="0" tIns="0" rIns="0" bIns="0" rtlCol="0" anchor="ctr"/>
          <a:lstStyle/>
          <a:p>
            <a:pPr algn="ctr" indent="0" marL="0">
              <a:buNone/>
            </a:pPr>
            <a:r>
              <a:rPr lang="en-US" sz="950" i="1" dirty="0">
                <a:solidFill>
                  <a:srgbClr val="5B7184"/>
                </a:solidFill>
                <a:latin typeface="Montserrat" pitchFamily="34" charset="0"/>
                <a:ea typeface="Montserrat" pitchFamily="34" charset="-122"/>
                <a:cs typeface="Montserrat" pitchFamily="34" charset="-120"/>
              </a:rPr>
              <a:t>triggered by</a:t>
            </a:r>
            <a:endParaRPr lang="en-US" sz="950" dirty="0"/>
          </a:p>
        </p:txBody>
      </p:sp>
      <p:sp>
        <p:nvSpPr>
          <p:cNvPr id="12" name="Text 10"/>
          <p:cNvSpPr/>
          <p:nvPr/>
        </p:nvSpPr>
        <p:spPr>
          <a:xfrm>
            <a:off x="768096" y="3017520"/>
            <a:ext cx="2304288" cy="457200"/>
          </a:xfrm>
          <a:prstGeom prst="rect">
            <a:avLst/>
          </a:prstGeom>
          <a:noFill/>
          <a:ln/>
        </p:spPr>
        <p:txBody>
          <a:bodyPr wrap="square" lIns="0" tIns="0" rIns="0" bIns="0" rtlCol="0" anchor="ctr"/>
          <a:lstStyle/>
          <a:p>
            <a:pPr algn="ctr" indent="0" marL="0">
              <a:buNone/>
            </a:pPr>
            <a:r>
              <a:rPr lang="en-US" sz="1250" b="1" dirty="0">
                <a:solidFill>
                  <a:srgbClr val="14919B"/>
                </a:solidFill>
                <a:latin typeface="Montserrat" pitchFamily="34" charset="0"/>
                <a:ea typeface="Montserrat" pitchFamily="34" charset="-122"/>
                <a:cs typeface="Montserrat" pitchFamily="34" charset="-120"/>
              </a:rPr>
              <a:t>linear functional (EAL)</a:t>
            </a:r>
            <a:endParaRPr lang="en-US" sz="1250" dirty="0"/>
          </a:p>
        </p:txBody>
      </p:sp>
      <p:sp>
        <p:nvSpPr>
          <p:cNvPr id="13" name="Text 11"/>
          <p:cNvSpPr/>
          <p:nvPr/>
        </p:nvSpPr>
        <p:spPr>
          <a:xfrm>
            <a:off x="768096" y="3520440"/>
            <a:ext cx="2304288" cy="685800"/>
          </a:xfrm>
          <a:prstGeom prst="rect">
            <a:avLst/>
          </a:prstGeom>
          <a:noFill/>
          <a:ln/>
        </p:spPr>
        <p:txBody>
          <a:bodyPr wrap="square" lIns="0" tIns="0" rIns="0" bIns="0" rtlCol="0" anchor="ctr"/>
          <a:lstStyle/>
          <a:p>
            <a:pPr algn="ctr" indent="0" marL="0">
              <a:lnSpc>
                <a:spcPct val="112000"/>
              </a:lnSpc>
              <a:buNone/>
            </a:pPr>
            <a:r>
              <a:rPr lang="en-US" sz="1080" dirty="0">
                <a:solidFill>
                  <a:srgbClr val="1B2733"/>
                </a:solidFill>
                <a:latin typeface="Montserrat" pitchFamily="34" charset="0"/>
                <a:ea typeface="Montserrat" pitchFamily="34" charset="-122"/>
                <a:cs typeface="Montserrat" pitchFamily="34" charset="-120"/>
              </a:rPr>
              <a:t>sufficient when the consumer integrates a linear functional of DR</a:t>
            </a:r>
            <a:endParaRPr lang="en-US" sz="1080" dirty="0"/>
          </a:p>
        </p:txBody>
      </p:sp>
      <p:sp>
        <p:nvSpPr>
          <p:cNvPr id="14" name="Shape 12"/>
          <p:cNvSpPr/>
          <p:nvPr/>
        </p:nvSpPr>
        <p:spPr>
          <a:xfrm>
            <a:off x="3401568" y="1965960"/>
            <a:ext cx="2670048" cy="2286000"/>
          </a:xfrm>
          <a:prstGeom prst="roundRect">
            <a:avLst>
              <a:gd name="adj" fmla="val 36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15" name="Text 13"/>
          <p:cNvSpPr/>
          <p:nvPr/>
        </p:nvSpPr>
        <p:spPr>
          <a:xfrm>
            <a:off x="3602736" y="2176272"/>
            <a:ext cx="2304288" cy="548640"/>
          </a:xfrm>
          <a:prstGeom prst="rect">
            <a:avLst/>
          </a:prstGeom>
          <a:noFill/>
          <a:ln/>
        </p:spPr>
        <p:txBody>
          <a:bodyPr wrap="square" lIns="0" tIns="0" rIns="0" bIns="0" rtlCol="0" anchor="ctr"/>
          <a:lstStyle/>
          <a:p>
            <a:pPr algn="ctr" indent="0" marL="0">
              <a:lnSpc>
                <a:spcPct val="100000"/>
              </a:lnSpc>
              <a:buNone/>
            </a:pPr>
            <a:r>
              <a:rPr lang="en-US" sz="1350" b="1" dirty="0">
                <a:solidFill>
                  <a:srgbClr val="0F2A43"/>
                </a:solidFill>
                <a:latin typeface="Consolas" pitchFamily="34" charset="0"/>
                <a:ea typeface="Consolas" pitchFamily="34" charset="-122"/>
                <a:cs typeface="Consolas" pitchFamily="34" charset="-120"/>
              </a:rPr>
              <a:t>mean + spread</a:t>
            </a:r>
            <a:endParaRPr lang="en-US" sz="1350" dirty="0"/>
          </a:p>
        </p:txBody>
      </p:sp>
      <p:sp>
        <p:nvSpPr>
          <p:cNvPr id="16" name="Shape 14"/>
          <p:cNvSpPr/>
          <p:nvPr/>
        </p:nvSpPr>
        <p:spPr>
          <a:xfrm>
            <a:off x="3950208" y="2743200"/>
            <a:ext cx="1572768" cy="0"/>
          </a:xfrm>
          <a:prstGeom prst="line">
            <a:avLst/>
          </a:prstGeom>
          <a:noFill/>
          <a:ln w="12700">
            <a:solidFill>
              <a:srgbClr val="D7E2E8"/>
            </a:solidFill>
            <a:prstDash val="solid"/>
          </a:ln>
        </p:spPr>
      </p:sp>
      <p:sp>
        <p:nvSpPr>
          <p:cNvPr id="17" name="Text 15"/>
          <p:cNvSpPr/>
          <p:nvPr/>
        </p:nvSpPr>
        <p:spPr>
          <a:xfrm>
            <a:off x="3602736" y="2798064"/>
            <a:ext cx="2304288" cy="274320"/>
          </a:xfrm>
          <a:prstGeom prst="rect">
            <a:avLst/>
          </a:prstGeom>
          <a:noFill/>
          <a:ln/>
        </p:spPr>
        <p:txBody>
          <a:bodyPr wrap="square" lIns="0" tIns="0" rIns="0" bIns="0" rtlCol="0" anchor="ctr"/>
          <a:lstStyle/>
          <a:p>
            <a:pPr algn="ctr" indent="0" marL="0">
              <a:buNone/>
            </a:pPr>
            <a:r>
              <a:rPr lang="en-US" sz="950" i="1" dirty="0">
                <a:solidFill>
                  <a:srgbClr val="5B7184"/>
                </a:solidFill>
                <a:latin typeface="Montserrat" pitchFamily="34" charset="0"/>
                <a:ea typeface="Montserrat" pitchFamily="34" charset="-122"/>
                <a:cs typeface="Montserrat" pitchFamily="34" charset="-120"/>
              </a:rPr>
              <a:t>triggered by</a:t>
            </a:r>
            <a:endParaRPr lang="en-US" sz="950" dirty="0"/>
          </a:p>
        </p:txBody>
      </p:sp>
      <p:sp>
        <p:nvSpPr>
          <p:cNvPr id="18" name="Text 16"/>
          <p:cNvSpPr/>
          <p:nvPr/>
        </p:nvSpPr>
        <p:spPr>
          <a:xfrm>
            <a:off x="3602736" y="3017520"/>
            <a:ext cx="2304288" cy="457200"/>
          </a:xfrm>
          <a:prstGeom prst="rect">
            <a:avLst/>
          </a:prstGeom>
          <a:noFill/>
          <a:ln/>
        </p:spPr>
        <p:txBody>
          <a:bodyPr wrap="square" lIns="0" tIns="0" rIns="0" bIns="0" rtlCol="0" anchor="ctr"/>
          <a:lstStyle/>
          <a:p>
            <a:pPr algn="ctr" indent="0" marL="0">
              <a:buNone/>
            </a:pPr>
            <a:r>
              <a:rPr lang="en-US" sz="1250" b="1" dirty="0">
                <a:solidFill>
                  <a:srgbClr val="14919B"/>
                </a:solidFill>
                <a:latin typeface="Montserrat" pitchFamily="34" charset="0"/>
                <a:ea typeface="Montserrat" pitchFamily="34" charset="-122"/>
                <a:cs typeface="Montserrat" pitchFamily="34" charset="-120"/>
              </a:rPr>
              <a:t>a deductible / limit</a:t>
            </a:r>
            <a:endParaRPr lang="en-US" sz="1250" dirty="0"/>
          </a:p>
        </p:txBody>
      </p:sp>
      <p:sp>
        <p:nvSpPr>
          <p:cNvPr id="19" name="Text 17"/>
          <p:cNvSpPr/>
          <p:nvPr/>
        </p:nvSpPr>
        <p:spPr>
          <a:xfrm>
            <a:off x="3602736" y="3520440"/>
            <a:ext cx="2304288" cy="685800"/>
          </a:xfrm>
          <a:prstGeom prst="rect">
            <a:avLst/>
          </a:prstGeom>
          <a:noFill/>
          <a:ln/>
        </p:spPr>
        <p:txBody>
          <a:bodyPr wrap="square" lIns="0" tIns="0" rIns="0" bIns="0" rtlCol="0" anchor="ctr"/>
          <a:lstStyle/>
          <a:p>
            <a:pPr algn="ctr" indent="0" marL="0">
              <a:lnSpc>
                <a:spcPct val="112000"/>
              </a:lnSpc>
              <a:buNone/>
            </a:pPr>
            <a:r>
              <a:rPr lang="en-US" sz="1080" dirty="0">
                <a:solidFill>
                  <a:srgbClr val="1B2733"/>
                </a:solidFill>
                <a:latin typeface="Montserrat" pitchFamily="34" charset="0"/>
                <a:ea typeface="Montserrat" pitchFamily="34" charset="-122"/>
                <a:cs typeface="Montserrat" pitchFamily="34" charset="-120"/>
              </a:rPr>
              <a:t>needed once a nonlinear financial term bites the distribution</a:t>
            </a:r>
            <a:endParaRPr lang="en-US" sz="1080" dirty="0"/>
          </a:p>
        </p:txBody>
      </p:sp>
      <p:sp>
        <p:nvSpPr>
          <p:cNvPr id="20" name="Shape 18"/>
          <p:cNvSpPr/>
          <p:nvPr/>
        </p:nvSpPr>
        <p:spPr>
          <a:xfrm>
            <a:off x="6236208" y="1965960"/>
            <a:ext cx="2670048" cy="2286000"/>
          </a:xfrm>
          <a:prstGeom prst="roundRect">
            <a:avLst>
              <a:gd name="adj" fmla="val 36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21" name="Text 19"/>
          <p:cNvSpPr/>
          <p:nvPr/>
        </p:nvSpPr>
        <p:spPr>
          <a:xfrm>
            <a:off x="6437376" y="2176272"/>
            <a:ext cx="2304288" cy="548640"/>
          </a:xfrm>
          <a:prstGeom prst="rect">
            <a:avLst/>
          </a:prstGeom>
          <a:noFill/>
          <a:ln/>
        </p:spPr>
        <p:txBody>
          <a:bodyPr wrap="square" lIns="0" tIns="0" rIns="0" bIns="0" rtlCol="0" anchor="ctr"/>
          <a:lstStyle/>
          <a:p>
            <a:pPr algn="ctr" indent="0" marL="0">
              <a:lnSpc>
                <a:spcPct val="100000"/>
              </a:lnSpc>
              <a:buNone/>
            </a:pPr>
            <a:r>
              <a:rPr lang="en-US" sz="1350" b="1" dirty="0">
                <a:solidFill>
                  <a:srgbClr val="0F2A43"/>
                </a:solidFill>
                <a:latin typeface="Consolas" pitchFamily="34" charset="0"/>
                <a:ea typeface="Consolas" pitchFamily="34" charset="-122"/>
                <a:cs typeface="Consolas" pitchFamily="34" charset="-120"/>
              </a:rPr>
              <a:t>state vector</a:t>
            </a:r>
            <a:endParaRPr lang="en-US" sz="1350" dirty="0"/>
          </a:p>
        </p:txBody>
      </p:sp>
      <p:sp>
        <p:nvSpPr>
          <p:cNvPr id="22" name="Shape 20"/>
          <p:cNvSpPr/>
          <p:nvPr/>
        </p:nvSpPr>
        <p:spPr>
          <a:xfrm>
            <a:off x="6784848" y="2743200"/>
            <a:ext cx="1572768" cy="0"/>
          </a:xfrm>
          <a:prstGeom prst="line">
            <a:avLst/>
          </a:prstGeom>
          <a:noFill/>
          <a:ln w="12700">
            <a:solidFill>
              <a:srgbClr val="D7E2E8"/>
            </a:solidFill>
            <a:prstDash val="solid"/>
          </a:ln>
        </p:spPr>
      </p:sp>
      <p:sp>
        <p:nvSpPr>
          <p:cNvPr id="23" name="Text 21"/>
          <p:cNvSpPr/>
          <p:nvPr/>
        </p:nvSpPr>
        <p:spPr>
          <a:xfrm>
            <a:off x="6437376" y="2798064"/>
            <a:ext cx="2304288" cy="274320"/>
          </a:xfrm>
          <a:prstGeom prst="rect">
            <a:avLst/>
          </a:prstGeom>
          <a:noFill/>
          <a:ln/>
        </p:spPr>
        <p:txBody>
          <a:bodyPr wrap="square" lIns="0" tIns="0" rIns="0" bIns="0" rtlCol="0" anchor="ctr"/>
          <a:lstStyle/>
          <a:p>
            <a:pPr algn="ctr" indent="0" marL="0">
              <a:buNone/>
            </a:pPr>
            <a:r>
              <a:rPr lang="en-US" sz="950" i="1" dirty="0">
                <a:solidFill>
                  <a:srgbClr val="5B7184"/>
                </a:solidFill>
                <a:latin typeface="Montserrat" pitchFamily="34" charset="0"/>
                <a:ea typeface="Montserrat" pitchFamily="34" charset="-122"/>
                <a:cs typeface="Montserrat" pitchFamily="34" charset="-120"/>
              </a:rPr>
              <a:t>triggered by</a:t>
            </a:r>
            <a:endParaRPr lang="en-US" sz="950" dirty="0"/>
          </a:p>
        </p:txBody>
      </p:sp>
      <p:sp>
        <p:nvSpPr>
          <p:cNvPr id="24" name="Text 22"/>
          <p:cNvSpPr/>
          <p:nvPr/>
        </p:nvSpPr>
        <p:spPr>
          <a:xfrm>
            <a:off x="6437376" y="3017520"/>
            <a:ext cx="2304288" cy="457200"/>
          </a:xfrm>
          <a:prstGeom prst="rect">
            <a:avLst/>
          </a:prstGeom>
          <a:noFill/>
          <a:ln/>
        </p:spPr>
        <p:txBody>
          <a:bodyPr wrap="square" lIns="0" tIns="0" rIns="0" bIns="0" rtlCol="0" anchor="ctr"/>
          <a:lstStyle/>
          <a:p>
            <a:pPr algn="ctr" indent="0" marL="0">
              <a:buNone/>
            </a:pPr>
            <a:r>
              <a:rPr lang="en-US" sz="1250" b="1" dirty="0">
                <a:solidFill>
                  <a:srgbClr val="14919B"/>
                </a:solidFill>
                <a:latin typeface="Montserrat" pitchFamily="34" charset="0"/>
                <a:ea typeface="Montserrat" pitchFamily="34" charset="-122"/>
                <a:cs typeface="Montserrat" pitchFamily="34" charset="-120"/>
              </a:rPr>
              <a:t>state-conditioned repair</a:t>
            </a:r>
            <a:endParaRPr lang="en-US" sz="1250" dirty="0"/>
          </a:p>
        </p:txBody>
      </p:sp>
      <p:sp>
        <p:nvSpPr>
          <p:cNvPr id="25" name="Text 23"/>
          <p:cNvSpPr/>
          <p:nvPr/>
        </p:nvSpPr>
        <p:spPr>
          <a:xfrm>
            <a:off x="6437376" y="3520440"/>
            <a:ext cx="2304288" cy="685800"/>
          </a:xfrm>
          <a:prstGeom prst="rect">
            <a:avLst/>
          </a:prstGeom>
          <a:noFill/>
          <a:ln/>
        </p:spPr>
        <p:txBody>
          <a:bodyPr wrap="square" lIns="0" tIns="0" rIns="0" bIns="0" rtlCol="0" anchor="ctr"/>
          <a:lstStyle/>
          <a:p>
            <a:pPr algn="ctr" indent="0" marL="0">
              <a:lnSpc>
                <a:spcPct val="112000"/>
              </a:lnSpc>
              <a:buNone/>
            </a:pPr>
            <a:r>
              <a:rPr lang="en-US" sz="1080" dirty="0">
                <a:solidFill>
                  <a:srgbClr val="1B2733"/>
                </a:solidFill>
                <a:latin typeface="Montserrat" pitchFamily="34" charset="0"/>
                <a:ea typeface="Montserrat" pitchFamily="34" charset="-122"/>
                <a:cs typeface="Montserrat" pitchFamily="34" charset="-120"/>
              </a:rPr>
              <a:t>when the consumer applies damage-state repair logic</a:t>
            </a:r>
            <a:endParaRPr lang="en-US" sz="1080" dirty="0"/>
          </a:p>
        </p:txBody>
      </p:sp>
      <p:sp>
        <p:nvSpPr>
          <p:cNvPr id="26" name="Shape 24"/>
          <p:cNvSpPr/>
          <p:nvPr/>
        </p:nvSpPr>
        <p:spPr>
          <a:xfrm>
            <a:off x="9070848" y="1965960"/>
            <a:ext cx="2670048" cy="2286000"/>
          </a:xfrm>
          <a:prstGeom prst="roundRect">
            <a:avLst>
              <a:gd name="adj" fmla="val 36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27" name="Text 25"/>
          <p:cNvSpPr/>
          <p:nvPr/>
        </p:nvSpPr>
        <p:spPr>
          <a:xfrm>
            <a:off x="9272016" y="2176272"/>
            <a:ext cx="2304288" cy="548640"/>
          </a:xfrm>
          <a:prstGeom prst="rect">
            <a:avLst/>
          </a:prstGeom>
          <a:noFill/>
          <a:ln/>
        </p:spPr>
        <p:txBody>
          <a:bodyPr wrap="square" lIns="0" tIns="0" rIns="0" bIns="0" rtlCol="0" anchor="ctr"/>
          <a:lstStyle/>
          <a:p>
            <a:pPr algn="ctr" indent="0" marL="0">
              <a:lnSpc>
                <a:spcPct val="100000"/>
              </a:lnSpc>
              <a:buNone/>
            </a:pPr>
            <a:r>
              <a:rPr lang="en-US" sz="1350" b="1" dirty="0">
                <a:solidFill>
                  <a:srgbClr val="0F2A43"/>
                </a:solidFill>
                <a:latin typeface="Consolas" pitchFamily="34" charset="0"/>
                <a:ea typeface="Consolas" pitchFamily="34" charset="-122"/>
                <a:cs typeface="Consolas" pitchFamily="34" charset="-120"/>
              </a:rPr>
              <a:t>full distribution</a:t>
            </a:r>
            <a:endParaRPr lang="en-US" sz="1350" dirty="0"/>
          </a:p>
        </p:txBody>
      </p:sp>
      <p:sp>
        <p:nvSpPr>
          <p:cNvPr id="28" name="Shape 26"/>
          <p:cNvSpPr/>
          <p:nvPr/>
        </p:nvSpPr>
        <p:spPr>
          <a:xfrm>
            <a:off x="9619488" y="2743200"/>
            <a:ext cx="1572768" cy="0"/>
          </a:xfrm>
          <a:prstGeom prst="line">
            <a:avLst/>
          </a:prstGeom>
          <a:noFill/>
          <a:ln w="12700">
            <a:solidFill>
              <a:srgbClr val="D7E2E8"/>
            </a:solidFill>
            <a:prstDash val="solid"/>
          </a:ln>
        </p:spPr>
      </p:sp>
      <p:sp>
        <p:nvSpPr>
          <p:cNvPr id="29" name="Text 27"/>
          <p:cNvSpPr/>
          <p:nvPr/>
        </p:nvSpPr>
        <p:spPr>
          <a:xfrm>
            <a:off x="9272016" y="2798064"/>
            <a:ext cx="2304288" cy="274320"/>
          </a:xfrm>
          <a:prstGeom prst="rect">
            <a:avLst/>
          </a:prstGeom>
          <a:noFill/>
          <a:ln/>
        </p:spPr>
        <p:txBody>
          <a:bodyPr wrap="square" lIns="0" tIns="0" rIns="0" bIns="0" rtlCol="0" anchor="ctr"/>
          <a:lstStyle/>
          <a:p>
            <a:pPr algn="ctr" indent="0" marL="0">
              <a:buNone/>
            </a:pPr>
            <a:r>
              <a:rPr lang="en-US" sz="950" i="1" dirty="0">
                <a:solidFill>
                  <a:srgbClr val="5B7184"/>
                </a:solidFill>
                <a:latin typeface="Montserrat" pitchFamily="34" charset="0"/>
                <a:ea typeface="Montserrat" pitchFamily="34" charset="-122"/>
                <a:cs typeface="Montserrat" pitchFamily="34" charset="-120"/>
              </a:rPr>
              <a:t>triggered by</a:t>
            </a:r>
            <a:endParaRPr lang="en-US" sz="950" dirty="0"/>
          </a:p>
        </p:txBody>
      </p:sp>
      <p:sp>
        <p:nvSpPr>
          <p:cNvPr id="30" name="Text 28"/>
          <p:cNvSpPr/>
          <p:nvPr/>
        </p:nvSpPr>
        <p:spPr>
          <a:xfrm>
            <a:off x="9272016" y="3017520"/>
            <a:ext cx="2304288" cy="457200"/>
          </a:xfrm>
          <a:prstGeom prst="rect">
            <a:avLst/>
          </a:prstGeom>
          <a:noFill/>
          <a:ln/>
        </p:spPr>
        <p:txBody>
          <a:bodyPr wrap="square" lIns="0" tIns="0" rIns="0" bIns="0" rtlCol="0" anchor="ctr"/>
          <a:lstStyle/>
          <a:p>
            <a:pPr algn="ctr" indent="0" marL="0">
              <a:buNone/>
            </a:pPr>
            <a:r>
              <a:rPr lang="en-US" sz="1250" b="1" dirty="0">
                <a:solidFill>
                  <a:srgbClr val="14919B"/>
                </a:solidFill>
                <a:latin typeface="Montserrat" pitchFamily="34" charset="0"/>
                <a:ea typeface="Montserrat" pitchFamily="34" charset="-122"/>
                <a:cs typeface="Montserrat" pitchFamily="34" charset="-120"/>
              </a:rPr>
              <a:t>tail quantiles (PML, VaR)</a:t>
            </a:r>
            <a:endParaRPr lang="en-US" sz="1250" dirty="0"/>
          </a:p>
        </p:txBody>
      </p:sp>
      <p:sp>
        <p:nvSpPr>
          <p:cNvPr id="31" name="Text 29"/>
          <p:cNvSpPr/>
          <p:nvPr/>
        </p:nvSpPr>
        <p:spPr>
          <a:xfrm>
            <a:off x="9272016" y="3520440"/>
            <a:ext cx="2304288" cy="685800"/>
          </a:xfrm>
          <a:prstGeom prst="rect">
            <a:avLst/>
          </a:prstGeom>
          <a:noFill/>
          <a:ln/>
        </p:spPr>
        <p:txBody>
          <a:bodyPr wrap="square" lIns="0" tIns="0" rIns="0" bIns="0" rtlCol="0" anchor="ctr"/>
          <a:lstStyle/>
          <a:p>
            <a:pPr algn="ctr" indent="0" marL="0">
              <a:lnSpc>
                <a:spcPct val="112000"/>
              </a:lnSpc>
              <a:buNone/>
            </a:pPr>
            <a:r>
              <a:rPr lang="en-US" sz="1080" dirty="0">
                <a:solidFill>
                  <a:srgbClr val="1B2733"/>
                </a:solidFill>
                <a:latin typeface="Montserrat" pitchFamily="34" charset="0"/>
                <a:ea typeface="Montserrat" pitchFamily="34" charset="-122"/>
                <a:cs typeface="Montserrat" pitchFamily="34" charset="-120"/>
              </a:rPr>
              <a:t>required to honestly produce deep-tail metrics</a:t>
            </a:r>
            <a:endParaRPr lang="en-US" sz="1080" dirty="0"/>
          </a:p>
        </p:txBody>
      </p:sp>
      <p:sp>
        <p:nvSpPr>
          <p:cNvPr id="32" name="Shape 30"/>
          <p:cNvSpPr/>
          <p:nvPr/>
        </p:nvSpPr>
        <p:spPr>
          <a:xfrm>
            <a:off x="566928" y="4526280"/>
            <a:ext cx="11064240" cy="1234440"/>
          </a:xfrm>
          <a:prstGeom prst="roundRect">
            <a:avLst>
              <a:gd name="adj" fmla="val 6667"/>
            </a:avLst>
          </a:prstGeom>
          <a:solidFill>
            <a:srgbClr val="0F2A43"/>
          </a:solidFill>
          <a:ln w="12700">
            <a:solidFill>
              <a:srgbClr val="0F2A43"/>
            </a:solidFill>
            <a:prstDash val="solid"/>
          </a:ln>
          <a:effectLst>
            <a:outerShdw sx="100000" sy="100000" kx="0" ky="0" algn="bl" rotWithShape="0" blurRad="114300" dist="38100" dir="5400000">
              <a:srgbClr val="0F2A43">
                <a:alpha val="13000"/>
              </a:srgbClr>
            </a:outerShdw>
          </a:effectLst>
        </p:spPr>
      </p:sp>
      <p:sp>
        <p:nvSpPr>
          <p:cNvPr id="33" name="Text 31"/>
          <p:cNvSpPr/>
          <p:nvPr/>
        </p:nvSpPr>
        <p:spPr>
          <a:xfrm>
            <a:off x="886968" y="4681728"/>
            <a:ext cx="2926080" cy="457200"/>
          </a:xfrm>
          <a:prstGeom prst="rect">
            <a:avLst/>
          </a:prstGeom>
          <a:noFill/>
          <a:ln/>
        </p:spPr>
        <p:txBody>
          <a:bodyPr wrap="square" lIns="0" tIns="0" rIns="0" bIns="0" rtlCol="0" anchor="ctr"/>
          <a:lstStyle/>
          <a:p>
            <a:pPr indent="0" marL="0">
              <a:buNone/>
            </a:pPr>
            <a:r>
              <a:rPr lang="en-US" sz="1600" b="1" dirty="0">
                <a:solidFill>
                  <a:srgbClr val="E0A458"/>
                </a:solidFill>
                <a:latin typeface="Montserrat" pitchFamily="34" charset="0"/>
                <a:ea typeface="Montserrat" pitchFamily="34" charset="-122"/>
                <a:cs typeface="Montserrat" pitchFamily="34" charset="-120"/>
              </a:rPr>
              <a:t>Withhold, not caveat.</a:t>
            </a:r>
            <a:endParaRPr lang="en-US" sz="1600" dirty="0"/>
          </a:p>
        </p:txBody>
      </p:sp>
      <p:sp>
        <p:nvSpPr>
          <p:cNvPr id="34" name="Text 32"/>
          <p:cNvSpPr/>
          <p:nvPr/>
        </p:nvSpPr>
        <p:spPr>
          <a:xfrm>
            <a:off x="3858768" y="4645152"/>
            <a:ext cx="7680960" cy="1005840"/>
          </a:xfrm>
          <a:prstGeom prst="rect">
            <a:avLst/>
          </a:prstGeom>
          <a:noFill/>
          <a:ln/>
        </p:spPr>
        <p:txBody>
          <a:bodyPr wrap="square" lIns="0" tIns="0" rIns="0" bIns="0" rtlCol="0" anchor="ctr"/>
          <a:lstStyle/>
          <a:p>
            <a:pPr indent="0" marL="0">
              <a:lnSpc>
                <a:spcPct val="115000"/>
              </a:lnSpc>
              <a:buNone/>
            </a:pPr>
            <a:r>
              <a:rPr lang="en-US" sz="1250" dirty="0">
                <a:solidFill>
                  <a:srgbClr val="D7EEF1"/>
                </a:solidFill>
                <a:latin typeface="Montserrat" pitchFamily="34" charset="0"/>
                <a:ea typeface="Montserrat" pitchFamily="34" charset="-122"/>
                <a:cs typeface="Montserrat" pitchFamily="34" charset="-120"/>
              </a:rPr>
              <a:t>A scalar curve over the event set still gives an honest expected loss — what it drops is within-event spread, which dominates the deep tail. So a scalar tail would be understated; the curve withholds it rather than shipping it wrong. The consumer literally cannot emit a withheld metric.</a:t>
            </a:r>
            <a:endParaRPr lang="en-US" sz="1250" dirty="0"/>
          </a:p>
        </p:txBody>
      </p:sp>
      <p:sp>
        <p:nvSpPr>
          <p:cNvPr id="35" name="Text 33"/>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36" name="Text 34"/>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damage_curve_build_methodology.docx §9 · questions/06_metrics_and_tail_honesty.md</a:t>
            </a:r>
            <a:endParaRPr lang="en-US" sz="7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13</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14919B"/>
                </a:solidFill>
                <a:latin typeface="Montserrat" pitchFamily="34" charset="0"/>
                <a:ea typeface="Montserrat" pitchFamily="34" charset="-122"/>
                <a:cs typeface="Montserrat" pitchFamily="34" charset="-120"/>
              </a:rPr>
              <a:t>WORKED EXAMPLE · HOW THE CURVE IS ACTUALLY BUILT</a:t>
            </a:r>
            <a:endParaRPr lang="en-US" sz="1250" dirty="0"/>
          </a:p>
        </p:txBody>
      </p:sp>
      <p:sp>
        <p:nvSpPr>
          <p:cNvPr id="4" name="Text 2"/>
          <p:cNvSpPr/>
          <p:nvPr/>
        </p:nvSpPr>
        <p:spPr>
          <a:xfrm>
            <a:off x="566928" y="786384"/>
            <a:ext cx="11338560" cy="914400"/>
          </a:xfrm>
          <a:prstGeom prst="rect">
            <a:avLst/>
          </a:prstGeom>
          <a:noFill/>
          <a:ln/>
        </p:spPr>
        <p:txBody>
          <a:bodyPr wrap="square" lIns="0" tIns="0" rIns="0" bIns="0" rtlCol="0" anchor="t"/>
          <a:lstStyle/>
          <a:p>
            <a:pPr algn="l" indent="0" marL="0">
              <a:lnSpc>
                <a:spcPct val="98000"/>
              </a:lnSpc>
              <a:buNone/>
            </a:pPr>
            <a:r>
              <a:rPr lang="en-US" sz="2500" b="1" dirty="0">
                <a:solidFill>
                  <a:srgbClr val="0F2A43"/>
                </a:solidFill>
                <a:latin typeface="Montserrat" pitchFamily="34" charset="0"/>
                <a:ea typeface="Montserrat" pitchFamily="34" charset="-122"/>
                <a:cs typeface="Montserrat" pitchFamily="34" charset="-120"/>
              </a:rPr>
              <a:t>Hail × solar (1) — the question comes before the math</a:t>
            </a:r>
            <a:endParaRPr lang="en-US" sz="2500" dirty="0"/>
          </a:p>
        </p:txBody>
      </p:sp>
      <p:sp>
        <p:nvSpPr>
          <p:cNvPr id="5" name="Shape 3"/>
          <p:cNvSpPr/>
          <p:nvPr/>
        </p:nvSpPr>
        <p:spPr>
          <a:xfrm>
            <a:off x="566928" y="1481328"/>
            <a:ext cx="5394960" cy="969264"/>
          </a:xfrm>
          <a:prstGeom prst="roundRect">
            <a:avLst>
              <a:gd name="adj" fmla="val 8491"/>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6" name="Text 4"/>
          <p:cNvSpPr/>
          <p:nvPr/>
        </p:nvSpPr>
        <p:spPr>
          <a:xfrm>
            <a:off x="822960" y="1609344"/>
            <a:ext cx="4937760" cy="292608"/>
          </a:xfrm>
          <a:prstGeom prst="rect">
            <a:avLst/>
          </a:prstGeom>
          <a:noFill/>
          <a:ln/>
        </p:spPr>
        <p:txBody>
          <a:bodyPr wrap="square" lIns="0" tIns="0" rIns="0" bIns="0" rtlCol="0" anchor="ctr"/>
          <a:lstStyle/>
          <a:p>
            <a:pPr indent="0" marL="0">
              <a:buNone/>
            </a:pPr>
            <a:r>
              <a:rPr lang="en-US" sz="1150" b="1" spc="100" kern="0" dirty="0">
                <a:solidFill>
                  <a:srgbClr val="5B7184"/>
                </a:solidFill>
                <a:latin typeface="Montserrat" pitchFamily="34" charset="0"/>
                <a:ea typeface="Montserrat" pitchFamily="34" charset="-122"/>
                <a:cs typeface="Montserrat" pitchFamily="34" charset="-120"/>
              </a:rPr>
              <a:t>STEP 0 · we are NOT asking</a:t>
            </a:r>
            <a:endParaRPr lang="en-US" sz="1150" dirty="0"/>
          </a:p>
        </p:txBody>
      </p:sp>
      <p:sp>
        <p:nvSpPr>
          <p:cNvPr id="7" name="Text 5"/>
          <p:cNvSpPr/>
          <p:nvPr/>
        </p:nvSpPr>
        <p:spPr>
          <a:xfrm>
            <a:off x="822960" y="1920240"/>
            <a:ext cx="4937760" cy="411480"/>
          </a:xfrm>
          <a:prstGeom prst="rect">
            <a:avLst/>
          </a:prstGeom>
          <a:noFill/>
          <a:ln/>
        </p:spPr>
        <p:txBody>
          <a:bodyPr wrap="square" lIns="0" tIns="0" rIns="0" bIns="0" rtlCol="0" anchor="ctr"/>
          <a:lstStyle/>
          <a:p>
            <a:pPr indent="0" marL="0">
              <a:buNone/>
            </a:pPr>
            <a:r>
              <a:rPr lang="en-US" sz="1350" dirty="0">
                <a:solidFill>
                  <a:srgbClr val="5B7184"/>
                </a:solidFill>
                <a:latin typeface="Consolas" pitchFamily="34" charset="0"/>
                <a:ea typeface="Consolas" pitchFamily="34" charset="-122"/>
                <a:cs typeface="Consolas" pitchFamily="34" charset="-120"/>
              </a:rPr>
              <a:t>hail size  →  whole-plant loss %</a:t>
            </a:r>
            <a:endParaRPr lang="en-US" sz="1350" dirty="0"/>
          </a:p>
        </p:txBody>
      </p:sp>
      <p:sp>
        <p:nvSpPr>
          <p:cNvPr id="8" name="Shape 6"/>
          <p:cNvSpPr/>
          <p:nvPr/>
        </p:nvSpPr>
        <p:spPr>
          <a:xfrm>
            <a:off x="6144768" y="1481328"/>
            <a:ext cx="5486400" cy="969264"/>
          </a:xfrm>
          <a:prstGeom prst="roundRect">
            <a:avLst>
              <a:gd name="adj" fmla="val 8491"/>
            </a:avLst>
          </a:prstGeom>
          <a:solidFill>
            <a:srgbClr val="D7EEF1"/>
          </a:solidFill>
          <a:ln w="19050">
            <a:solidFill>
              <a:srgbClr val="14919B"/>
            </a:solidFill>
            <a:prstDash val="solid"/>
          </a:ln>
          <a:effectLst>
            <a:outerShdw sx="100000" sy="100000" kx="0" ky="0" algn="bl" rotWithShape="0" blurRad="114300" dist="38100" dir="5400000">
              <a:srgbClr val="0F2A43">
                <a:alpha val="13000"/>
              </a:srgbClr>
            </a:outerShdw>
          </a:effectLst>
        </p:spPr>
      </p:sp>
      <p:sp>
        <p:nvSpPr>
          <p:cNvPr id="9" name="Text 7"/>
          <p:cNvSpPr/>
          <p:nvPr/>
        </p:nvSpPr>
        <p:spPr>
          <a:xfrm>
            <a:off x="6400800" y="1609344"/>
            <a:ext cx="5029200" cy="292608"/>
          </a:xfrm>
          <a:prstGeom prst="rect">
            <a:avLst/>
          </a:prstGeom>
          <a:noFill/>
          <a:ln/>
        </p:spPr>
        <p:txBody>
          <a:bodyPr wrap="square" lIns="0" tIns="0" rIns="0" bIns="0" rtlCol="0" anchor="ctr"/>
          <a:lstStyle/>
          <a:p>
            <a:pPr indent="0" marL="0">
              <a:buNone/>
            </a:pPr>
            <a:r>
              <a:rPr lang="en-US" sz="1150" b="1" spc="100" kern="0" dirty="0">
                <a:solidFill>
                  <a:srgbClr val="0F2A43"/>
                </a:solidFill>
                <a:latin typeface="Montserrat" pitchFamily="34" charset="0"/>
                <a:ea typeface="Montserrat" pitchFamily="34" charset="-122"/>
                <a:cs typeface="Montserrat" pitchFamily="34" charset="-120"/>
              </a:rPr>
              <a:t>STEP 0 · we ARE asking</a:t>
            </a:r>
            <a:endParaRPr lang="en-US" sz="1150" dirty="0"/>
          </a:p>
        </p:txBody>
      </p:sp>
      <p:sp>
        <p:nvSpPr>
          <p:cNvPr id="10" name="Text 8"/>
          <p:cNvSpPr/>
          <p:nvPr/>
        </p:nvSpPr>
        <p:spPr>
          <a:xfrm>
            <a:off x="6400800" y="1920240"/>
            <a:ext cx="5029200" cy="411480"/>
          </a:xfrm>
          <a:prstGeom prst="rect">
            <a:avLst/>
          </a:prstGeom>
          <a:noFill/>
          <a:ln/>
        </p:spPr>
        <p:txBody>
          <a:bodyPr wrap="square" lIns="0" tIns="0" rIns="0" bIns="0" rtlCol="0" anchor="ctr"/>
          <a:lstStyle/>
          <a:p>
            <a:pPr indent="0" marL="0">
              <a:buNone/>
            </a:pPr>
            <a:r>
              <a:rPr lang="en-US" sz="1300" dirty="0">
                <a:solidFill>
                  <a:srgbClr val="0F2A43"/>
                </a:solidFill>
                <a:latin typeface="Consolas" pitchFamily="34" charset="0"/>
                <a:ea typeface="Consolas" pitchFamily="34" charset="-122"/>
                <a:cs typeface="Consolas" pitchFamily="34" charset="-120"/>
              </a:rPr>
              <a:t>hail diameter (mm)  →  </a:t>
            </a:r>
            <a:pPr indent="0" marL="0">
              <a:buNone/>
            </a:pPr>
            <a:r>
              <a:rPr lang="en-US" sz="1300" b="1" dirty="0">
                <a:solidFill>
                  <a:srgbClr val="0F2A43"/>
                </a:solidFill>
                <a:latin typeface="Consolas" pitchFamily="34" charset="0"/>
                <a:ea typeface="Consolas" pitchFamily="34" charset="-122"/>
                <a:cs typeface="Consolas" pitchFamily="34" charset="-120"/>
              </a:rPr>
              <a:t>PV module glass / cell DR</a:t>
            </a:r>
            <a:endParaRPr lang="en-US" sz="1300" dirty="0"/>
          </a:p>
        </p:txBody>
      </p:sp>
      <p:sp>
        <p:nvSpPr>
          <p:cNvPr id="11" name="Shape 9"/>
          <p:cNvSpPr/>
          <p:nvPr/>
        </p:nvSpPr>
        <p:spPr>
          <a:xfrm>
            <a:off x="566928" y="2578608"/>
            <a:ext cx="11064240" cy="566928"/>
          </a:xfrm>
          <a:prstGeom prst="roundRect">
            <a:avLst>
              <a:gd name="adj" fmla="val 16129"/>
            </a:avLst>
          </a:prstGeom>
          <a:solidFill>
            <a:srgbClr val="0F2A43"/>
          </a:solidFill>
          <a:ln/>
        </p:spPr>
      </p:sp>
      <p:sp>
        <p:nvSpPr>
          <p:cNvPr id="12" name="Text 10"/>
          <p:cNvSpPr/>
          <p:nvPr/>
        </p:nvSpPr>
        <p:spPr>
          <a:xfrm>
            <a:off x="886968" y="2578608"/>
            <a:ext cx="10424160" cy="566928"/>
          </a:xfrm>
          <a:prstGeom prst="rect">
            <a:avLst/>
          </a:prstGeom>
          <a:noFill/>
          <a:ln/>
        </p:spPr>
        <p:txBody>
          <a:bodyPr wrap="square" lIns="0" tIns="0" rIns="0" bIns="0" rtlCol="0" anchor="ctr"/>
          <a:lstStyle/>
          <a:p>
            <a:pPr indent="0" marL="0">
              <a:lnSpc>
                <a:spcPct val="105000"/>
              </a:lnSpc>
              <a:buNone/>
            </a:pPr>
            <a:r>
              <a:rPr lang="en-US" sz="1180" b="1" dirty="0">
                <a:solidFill>
                  <a:srgbClr val="2DB7C3"/>
                </a:solidFill>
                <a:latin typeface="Montserrat" pitchFamily="34" charset="0"/>
                <a:ea typeface="Montserrat" pitchFamily="34" charset="-122"/>
                <a:cs typeface="Montserrat" pitchFamily="34" charset="-120"/>
              </a:rPr>
              <a:t>Core failure unit:  </a:t>
            </a:r>
            <a:pPr indent="0" marL="0">
              <a:lnSpc>
                <a:spcPct val="105000"/>
              </a:lnSpc>
              <a:buNone/>
            </a:pPr>
            <a:r>
              <a:rPr lang="en-US" sz="1180" b="1" dirty="0">
                <a:solidFill>
                  <a:srgbClr val="FFFFFF"/>
                </a:solidFill>
                <a:latin typeface="Montserrat" pitchFamily="34" charset="0"/>
                <a:ea typeface="Montserrat" pitchFamily="34" charset="-122"/>
                <a:cs typeface="Montserrat" pitchFamily="34" charset="-120"/>
              </a:rPr>
              <a:t>PV_MODULE_GLASS_CELL</a:t>
            </a:r>
            <a:pPr indent="0" marL="0">
              <a:lnSpc>
                <a:spcPct val="105000"/>
              </a:lnSpc>
              <a:buNone/>
            </a:pPr>
            <a:r>
              <a:rPr lang="en-US" sz="1180" dirty="0">
                <a:solidFill>
                  <a:srgbClr val="C7D6E0"/>
                </a:solidFill>
                <a:latin typeface="Montserrat" pitchFamily="34" charset="0"/>
                <a:ea typeface="Montserrat" pitchFamily="34" charset="-122"/>
                <a:cs typeface="Montserrat" pitchFamily="34" charset="-120"/>
              </a:rPr>
              <a:t>    —    hail breaks the exposed module glass/cells; inverters, racking, civil are reviewed but stay DR ≈ 0 in v1 unless a direct-hail mechanism is shown.</a:t>
            </a:r>
            <a:endParaRPr lang="en-US" sz="1180" dirty="0"/>
          </a:p>
        </p:txBody>
      </p:sp>
      <p:sp>
        <p:nvSpPr>
          <p:cNvPr id="13" name="Text 11"/>
          <p:cNvSpPr/>
          <p:nvPr/>
        </p:nvSpPr>
        <p:spPr>
          <a:xfrm>
            <a:off x="566928" y="3346704"/>
            <a:ext cx="5852160" cy="310896"/>
          </a:xfrm>
          <a:prstGeom prst="rect">
            <a:avLst/>
          </a:prstGeom>
          <a:noFill/>
          <a:ln/>
        </p:spPr>
        <p:txBody>
          <a:bodyPr wrap="square" lIns="0" tIns="0" rIns="0" bIns="0" rtlCol="0" anchor="ctr"/>
          <a:lstStyle/>
          <a:p>
            <a:pPr indent="0" marL="0">
              <a:buNone/>
            </a:pPr>
            <a:r>
              <a:rPr lang="en-US" sz="1350" b="1" dirty="0">
                <a:solidFill>
                  <a:srgbClr val="14919B"/>
                </a:solidFill>
                <a:latin typeface="Montserrat" pitchFamily="34" charset="0"/>
                <a:ea typeface="Montserrat" pitchFamily="34" charset="-122"/>
                <a:cs typeface="Montserrat" pitchFamily="34" charset="-120"/>
              </a:rPr>
              <a:t>The evidence we go looking for — and the role each plays</a:t>
            </a:r>
            <a:endParaRPr lang="en-US" sz="1350" dirty="0"/>
          </a:p>
        </p:txBody>
      </p:sp>
      <p:sp>
        <p:nvSpPr>
          <p:cNvPr id="14" name="Shape 12"/>
          <p:cNvSpPr/>
          <p:nvPr/>
        </p:nvSpPr>
        <p:spPr>
          <a:xfrm>
            <a:off x="566928" y="3749040"/>
            <a:ext cx="365760" cy="365760"/>
          </a:xfrm>
          <a:prstGeom prst="ellipse">
            <a:avLst/>
          </a:prstGeom>
          <a:solidFill>
            <a:srgbClr val="2DB7C3"/>
          </a:solidFill>
          <a:ln/>
        </p:spPr>
      </p:sp>
      <p:sp>
        <p:nvSpPr>
          <p:cNvPr id="15" name="Text 13"/>
          <p:cNvSpPr/>
          <p:nvPr/>
        </p:nvSpPr>
        <p:spPr>
          <a:xfrm>
            <a:off x="566928" y="3749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6" name="Text 14"/>
          <p:cNvSpPr/>
          <p:nvPr/>
        </p:nvSpPr>
        <p:spPr>
          <a:xfrm>
            <a:off x="1078992" y="3712464"/>
            <a:ext cx="5394960" cy="548640"/>
          </a:xfrm>
          <a:prstGeom prst="rect">
            <a:avLst/>
          </a:prstGeom>
          <a:noFill/>
          <a:ln/>
        </p:spPr>
        <p:txBody>
          <a:bodyPr wrap="square" lIns="0" tIns="0" rIns="0" bIns="0" rtlCol="0" anchor="ctr"/>
          <a:lstStyle/>
          <a:p>
            <a:pPr indent="0" marL="0">
              <a:lnSpc>
                <a:spcPct val="110000"/>
              </a:lnSpc>
              <a:buNone/>
            </a:pPr>
            <a:r>
              <a:rPr lang="en-US" sz="1130" b="1" dirty="0">
                <a:solidFill>
                  <a:srgbClr val="0F2A43"/>
                </a:solidFill>
                <a:latin typeface="Montserrat" pitchFamily="34" charset="0"/>
                <a:ea typeface="Montserrat" pitchFamily="34" charset="-122"/>
                <a:cs typeface="Montserrat" pitchFamily="34" charset="-120"/>
              </a:rPr>
              <a:t>NOAA Storm Events / MESH  </a:t>
            </a:r>
            <a:pPr indent="0" marL="0">
              <a:lnSpc>
                <a:spcPct val="110000"/>
              </a:lnSpc>
              <a:buNone/>
            </a:pPr>
            <a:r>
              <a:rPr lang="en-US" sz="1130" dirty="0">
                <a:solidFill>
                  <a:srgbClr val="1B2733"/>
                </a:solidFill>
                <a:latin typeface="Montserrat" pitchFamily="34" charset="0"/>
                <a:ea typeface="Montserrat" pitchFamily="34" charset="-122"/>
                <a:cs typeface="Montserrat" pitchFamily="34" charset="-120"/>
              </a:rPr>
              <a:t>→ fixes the x-axis: hail diameter in mm — not energy, not return period</a:t>
            </a:r>
            <a:endParaRPr lang="en-US" sz="1130" dirty="0"/>
          </a:p>
        </p:txBody>
      </p:sp>
      <p:sp>
        <p:nvSpPr>
          <p:cNvPr id="17" name="Shape 15"/>
          <p:cNvSpPr/>
          <p:nvPr/>
        </p:nvSpPr>
        <p:spPr>
          <a:xfrm>
            <a:off x="566928" y="4334256"/>
            <a:ext cx="365760" cy="365760"/>
          </a:xfrm>
          <a:prstGeom prst="ellipse">
            <a:avLst/>
          </a:prstGeom>
          <a:solidFill>
            <a:srgbClr val="2DB7C3"/>
          </a:solidFill>
          <a:ln/>
        </p:spPr>
      </p:sp>
      <p:sp>
        <p:nvSpPr>
          <p:cNvPr id="18" name="Text 16"/>
          <p:cNvSpPr/>
          <p:nvPr/>
        </p:nvSpPr>
        <p:spPr>
          <a:xfrm>
            <a:off x="566928"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9" name="Text 17"/>
          <p:cNvSpPr/>
          <p:nvPr/>
        </p:nvSpPr>
        <p:spPr>
          <a:xfrm>
            <a:off x="1078992" y="4297680"/>
            <a:ext cx="5394960" cy="548640"/>
          </a:xfrm>
          <a:prstGeom prst="rect">
            <a:avLst/>
          </a:prstGeom>
          <a:noFill/>
          <a:ln/>
        </p:spPr>
        <p:txBody>
          <a:bodyPr wrap="square" lIns="0" tIns="0" rIns="0" bIns="0" rtlCol="0" anchor="ctr"/>
          <a:lstStyle/>
          <a:p>
            <a:pPr indent="0" marL="0">
              <a:lnSpc>
                <a:spcPct val="110000"/>
              </a:lnSpc>
              <a:buNone/>
            </a:pPr>
            <a:r>
              <a:rPr lang="en-US" sz="1130" b="1" dirty="0">
                <a:solidFill>
                  <a:srgbClr val="0F2A43"/>
                </a:solidFill>
                <a:latin typeface="Montserrat" pitchFamily="34" charset="0"/>
                <a:ea typeface="Montserrat" pitchFamily="34" charset="-122"/>
                <a:cs typeface="Montserrat" pitchFamily="34" charset="-120"/>
              </a:rPr>
              <a:t>IEC / DOE-FEMP hail test  </a:t>
            </a:r>
            <a:pPr indent="0" marL="0">
              <a:lnSpc>
                <a:spcPct val="110000"/>
              </a:lnSpc>
              <a:buNone/>
            </a:pPr>
            <a:r>
              <a:rPr lang="en-US" sz="1130" dirty="0">
                <a:solidFill>
                  <a:srgbClr val="1B2733"/>
                </a:solidFill>
                <a:latin typeface="Montserrat" pitchFamily="34" charset="0"/>
                <a:ea typeface="Montserrat" pitchFamily="34" charset="-122"/>
                <a:cs typeface="Montserrat" pitchFamily="34" charset="-120"/>
              </a:rPr>
              <a:t>→ the near-zero boundary: a qualified module ≈ 1% DR at 25 mm</a:t>
            </a:r>
            <a:endParaRPr lang="en-US" sz="1130" dirty="0"/>
          </a:p>
        </p:txBody>
      </p:sp>
      <p:sp>
        <p:nvSpPr>
          <p:cNvPr id="20" name="Shape 18"/>
          <p:cNvSpPr/>
          <p:nvPr/>
        </p:nvSpPr>
        <p:spPr>
          <a:xfrm>
            <a:off x="566928" y="4919472"/>
            <a:ext cx="365760" cy="365760"/>
          </a:xfrm>
          <a:prstGeom prst="ellipse">
            <a:avLst/>
          </a:prstGeom>
          <a:solidFill>
            <a:srgbClr val="14919B"/>
          </a:solidFill>
          <a:ln/>
        </p:spPr>
      </p:sp>
      <p:sp>
        <p:nvSpPr>
          <p:cNvPr id="21" name="Text 19"/>
          <p:cNvSpPr/>
          <p:nvPr/>
        </p:nvSpPr>
        <p:spPr>
          <a:xfrm>
            <a:off x="566928" y="49194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2" name="Text 20"/>
          <p:cNvSpPr/>
          <p:nvPr/>
        </p:nvSpPr>
        <p:spPr>
          <a:xfrm>
            <a:off x="1078992" y="4882896"/>
            <a:ext cx="5394960" cy="548640"/>
          </a:xfrm>
          <a:prstGeom prst="rect">
            <a:avLst/>
          </a:prstGeom>
          <a:noFill/>
          <a:ln/>
        </p:spPr>
        <p:txBody>
          <a:bodyPr wrap="square" lIns="0" tIns="0" rIns="0" bIns="0" rtlCol="0" anchor="ctr"/>
          <a:lstStyle/>
          <a:p>
            <a:pPr indent="0" marL="0">
              <a:lnSpc>
                <a:spcPct val="110000"/>
              </a:lnSpc>
              <a:buNone/>
            </a:pPr>
            <a:r>
              <a:rPr lang="en-US" sz="1130" b="1" dirty="0">
                <a:solidFill>
                  <a:srgbClr val="0F2A43"/>
                </a:solidFill>
                <a:latin typeface="Montserrat" pitchFamily="34" charset="0"/>
                <a:ea typeface="Montserrat" pitchFamily="34" charset="-122"/>
                <a:cs typeface="Montserrat" pitchFamily="34" charset="-120"/>
              </a:rPr>
              <a:t>PVEL / Kiwa lab breakage  </a:t>
            </a:r>
            <a:pPr indent="0" marL="0">
              <a:lnSpc>
                <a:spcPct val="110000"/>
              </a:lnSpc>
              <a:buNone/>
            </a:pPr>
            <a:r>
              <a:rPr lang="en-US" sz="1130" dirty="0">
                <a:solidFill>
                  <a:srgbClr val="1B2733"/>
                </a:solidFill>
                <a:latin typeface="Montserrat" pitchFamily="34" charset="0"/>
                <a:ea typeface="Montserrat" pitchFamily="34" charset="-122"/>
                <a:cs typeface="Montserrat" pitchFamily="34" charset="-120"/>
              </a:rPr>
              <a:t>→ the curve-shape anchors — real breakage % at each hail size</a:t>
            </a:r>
            <a:endParaRPr lang="en-US" sz="1130" dirty="0"/>
          </a:p>
        </p:txBody>
      </p:sp>
      <p:sp>
        <p:nvSpPr>
          <p:cNvPr id="23" name="Shape 21"/>
          <p:cNvSpPr/>
          <p:nvPr/>
        </p:nvSpPr>
        <p:spPr>
          <a:xfrm>
            <a:off x="566928" y="5504688"/>
            <a:ext cx="365760" cy="365760"/>
          </a:xfrm>
          <a:prstGeom prst="ellipse">
            <a:avLst/>
          </a:prstGeom>
          <a:solidFill>
            <a:srgbClr val="2DB7C3"/>
          </a:solidFill>
          <a:ln/>
        </p:spPr>
      </p:sp>
      <p:sp>
        <p:nvSpPr>
          <p:cNvPr id="24" name="Text 22"/>
          <p:cNvSpPr/>
          <p:nvPr/>
        </p:nvSpPr>
        <p:spPr>
          <a:xfrm>
            <a:off x="566928" y="5504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5" name="Text 23"/>
          <p:cNvSpPr/>
          <p:nvPr/>
        </p:nvSpPr>
        <p:spPr>
          <a:xfrm>
            <a:off x="1078992" y="5468112"/>
            <a:ext cx="5394960" cy="548640"/>
          </a:xfrm>
          <a:prstGeom prst="rect">
            <a:avLst/>
          </a:prstGeom>
          <a:noFill/>
          <a:ln/>
        </p:spPr>
        <p:txBody>
          <a:bodyPr wrap="square" lIns="0" tIns="0" rIns="0" bIns="0" rtlCol="0" anchor="ctr"/>
          <a:lstStyle/>
          <a:p>
            <a:pPr indent="0" marL="0">
              <a:lnSpc>
                <a:spcPct val="110000"/>
              </a:lnSpc>
              <a:buNone/>
            </a:pPr>
            <a:r>
              <a:rPr lang="en-US" sz="1130" b="1" dirty="0">
                <a:solidFill>
                  <a:srgbClr val="0F2A43"/>
                </a:solidFill>
                <a:latin typeface="Montserrat" pitchFamily="34" charset="0"/>
                <a:ea typeface="Montserrat" pitchFamily="34" charset="-122"/>
                <a:cs typeface="Montserrat" pitchFamily="34" charset="-120"/>
              </a:rPr>
              <a:t>Field / claims (NREL, VU Amsterdam)  </a:t>
            </a:r>
            <a:pPr indent="0" marL="0">
              <a:lnSpc>
                <a:spcPct val="110000"/>
              </a:lnSpc>
              <a:buNone/>
            </a:pPr>
            <a:r>
              <a:rPr lang="en-US" sz="1130" dirty="0">
                <a:solidFill>
                  <a:srgbClr val="1B2733"/>
                </a:solidFill>
                <a:latin typeface="Montserrat" pitchFamily="34" charset="0"/>
                <a:ea typeface="Montserrat" pitchFamily="34" charset="-122"/>
                <a:cs typeface="Montserrat" pitchFamily="34" charset="-120"/>
              </a:rPr>
              <a:t>→ validation &amp; caveats only — not refit into v1 curves</a:t>
            </a:r>
            <a:endParaRPr lang="en-US" sz="1130" dirty="0"/>
          </a:p>
        </p:txBody>
      </p:sp>
      <p:sp>
        <p:nvSpPr>
          <p:cNvPr id="26" name="Shape 24"/>
          <p:cNvSpPr/>
          <p:nvPr/>
        </p:nvSpPr>
        <p:spPr>
          <a:xfrm>
            <a:off x="6629400" y="3310128"/>
            <a:ext cx="5010912" cy="2743200"/>
          </a:xfrm>
          <a:prstGeom prst="roundRect">
            <a:avLst>
              <a:gd name="adj" fmla="val 3000"/>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27" name="Text 25"/>
          <p:cNvSpPr/>
          <p:nvPr/>
        </p:nvSpPr>
        <p:spPr>
          <a:xfrm>
            <a:off x="6858000" y="3419856"/>
            <a:ext cx="4572000" cy="292608"/>
          </a:xfrm>
          <a:prstGeom prst="rect">
            <a:avLst/>
          </a:prstGeom>
          <a:noFill/>
          <a:ln/>
        </p:spPr>
        <p:txBody>
          <a:bodyPr wrap="square" lIns="0" tIns="0" rIns="0" bIns="0" rtlCol="0" anchor="ctr"/>
          <a:lstStyle/>
          <a:p>
            <a:pPr indent="0" marL="0">
              <a:buNone/>
            </a:pPr>
            <a:r>
              <a:rPr lang="en-US" sz="1350" b="1" dirty="0">
                <a:solidFill>
                  <a:srgbClr val="0F2A43"/>
                </a:solidFill>
                <a:latin typeface="Montserrat" pitchFamily="34" charset="0"/>
                <a:ea typeface="Montserrat" pitchFamily="34" charset="-122"/>
                <a:cs typeface="Montserrat" pitchFamily="34" charset="-120"/>
              </a:rPr>
              <a:t>The anchors it produces</a:t>
            </a:r>
            <a:endParaRPr lang="en-US" sz="1350" dirty="0"/>
          </a:p>
        </p:txBody>
      </p:sp>
      <p:sp>
        <p:nvSpPr>
          <p:cNvPr id="28" name="Shape 26"/>
          <p:cNvSpPr/>
          <p:nvPr/>
        </p:nvSpPr>
        <p:spPr>
          <a:xfrm>
            <a:off x="6858000" y="3767328"/>
            <a:ext cx="4553712" cy="365760"/>
          </a:xfrm>
          <a:prstGeom prst="rect">
            <a:avLst/>
          </a:prstGeom>
          <a:solidFill>
            <a:srgbClr val="0F2A43"/>
          </a:solidFill>
          <a:ln/>
        </p:spPr>
      </p:sp>
      <p:sp>
        <p:nvSpPr>
          <p:cNvPr id="29" name="Text 27"/>
          <p:cNvSpPr/>
          <p:nvPr/>
        </p:nvSpPr>
        <p:spPr>
          <a:xfrm>
            <a:off x="6967728" y="3767328"/>
            <a:ext cx="2194560"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Archetype</a:t>
            </a:r>
            <a:endParaRPr lang="en-US" sz="1050" dirty="0"/>
          </a:p>
        </p:txBody>
      </p:sp>
      <p:sp>
        <p:nvSpPr>
          <p:cNvPr id="30" name="Text 28"/>
          <p:cNvSpPr/>
          <p:nvPr/>
        </p:nvSpPr>
        <p:spPr>
          <a:xfrm>
            <a:off x="9015984" y="3767328"/>
            <a:ext cx="2331720"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anchors  (mm → DR)</a:t>
            </a:r>
            <a:endParaRPr lang="en-US" sz="1050" dirty="0"/>
          </a:p>
        </p:txBody>
      </p:sp>
      <p:sp>
        <p:nvSpPr>
          <p:cNvPr id="31" name="Shape 29"/>
          <p:cNvSpPr/>
          <p:nvPr/>
        </p:nvSpPr>
        <p:spPr>
          <a:xfrm>
            <a:off x="6858000" y="4133088"/>
            <a:ext cx="4553712" cy="512064"/>
          </a:xfrm>
          <a:prstGeom prst="rect">
            <a:avLst/>
          </a:prstGeom>
          <a:solidFill>
            <a:srgbClr val="F0F5F7"/>
          </a:solidFill>
          <a:ln w="6350">
            <a:solidFill>
              <a:srgbClr val="E2E8F0"/>
            </a:solidFill>
            <a:prstDash val="solid"/>
          </a:ln>
        </p:spPr>
      </p:sp>
      <p:sp>
        <p:nvSpPr>
          <p:cNvPr id="32" name="Text 30"/>
          <p:cNvSpPr/>
          <p:nvPr/>
        </p:nvSpPr>
        <p:spPr>
          <a:xfrm>
            <a:off x="6967728" y="4133088"/>
            <a:ext cx="2103120" cy="512064"/>
          </a:xfrm>
          <a:prstGeom prst="rect">
            <a:avLst/>
          </a:prstGeom>
          <a:noFill/>
          <a:ln/>
        </p:spPr>
        <p:txBody>
          <a:bodyPr wrap="square" lIns="0" tIns="0" rIns="0" bIns="0" rtlCol="0" anchor="ctr"/>
          <a:lstStyle/>
          <a:p>
            <a:pPr indent="0" marL="0">
              <a:buNone/>
            </a:pPr>
            <a:r>
              <a:rPr lang="en-US" sz="1050" b="1" dirty="0">
                <a:solidFill>
                  <a:srgbClr val="14919B"/>
                </a:solidFill>
                <a:latin typeface="Montserrat" pitchFamily="34" charset="0"/>
                <a:ea typeface="Montserrat" pitchFamily="34" charset="-122"/>
                <a:cs typeface="Montserrat" pitchFamily="34" charset="-120"/>
              </a:rPr>
              <a:t>Default 3.2 GBS</a:t>
            </a:r>
            <a:endParaRPr lang="en-US" sz="1050" dirty="0"/>
          </a:p>
        </p:txBody>
      </p:sp>
      <p:sp>
        <p:nvSpPr>
          <p:cNvPr id="33" name="Text 31"/>
          <p:cNvSpPr/>
          <p:nvPr/>
        </p:nvSpPr>
        <p:spPr>
          <a:xfrm>
            <a:off x="9015984" y="4133088"/>
            <a:ext cx="2377440" cy="512064"/>
          </a:xfrm>
          <a:prstGeom prst="rect">
            <a:avLst/>
          </a:prstGeom>
          <a:noFill/>
          <a:ln/>
        </p:spPr>
        <p:txBody>
          <a:bodyPr wrap="square" lIns="0" tIns="0" rIns="0" bIns="0" rtlCol="0" anchor="ctr"/>
          <a:lstStyle/>
          <a:p>
            <a:pPr indent="0" marL="0">
              <a:buNone/>
            </a:pPr>
            <a:r>
              <a:rPr lang="en-US" sz="930" dirty="0">
                <a:solidFill>
                  <a:srgbClr val="1B2733"/>
                </a:solidFill>
                <a:latin typeface="Consolas" pitchFamily="34" charset="0"/>
                <a:ea typeface="Consolas" pitchFamily="34" charset="-122"/>
                <a:cs typeface="Consolas" pitchFamily="34" charset="-120"/>
              </a:rPr>
              <a:t>25→1%  ·  50→39%</a:t>
            </a:r>
            <a:endParaRPr lang="en-US" sz="930" dirty="0"/>
          </a:p>
        </p:txBody>
      </p:sp>
      <p:sp>
        <p:nvSpPr>
          <p:cNvPr id="34" name="Shape 32"/>
          <p:cNvSpPr/>
          <p:nvPr/>
        </p:nvSpPr>
        <p:spPr>
          <a:xfrm>
            <a:off x="6858000" y="4645152"/>
            <a:ext cx="4553712" cy="512064"/>
          </a:xfrm>
          <a:prstGeom prst="rect">
            <a:avLst/>
          </a:prstGeom>
          <a:solidFill>
            <a:srgbClr val="FFFFFF"/>
          </a:solidFill>
          <a:ln w="6350">
            <a:solidFill>
              <a:srgbClr val="E2E8F0"/>
            </a:solidFill>
            <a:prstDash val="solid"/>
          </a:ln>
        </p:spPr>
      </p:sp>
      <p:sp>
        <p:nvSpPr>
          <p:cNvPr id="35" name="Text 33"/>
          <p:cNvSpPr/>
          <p:nvPr/>
        </p:nvSpPr>
        <p:spPr>
          <a:xfrm>
            <a:off x="6967728" y="4645152"/>
            <a:ext cx="2103120" cy="512064"/>
          </a:xfrm>
          <a:prstGeom prst="rect">
            <a:avLst/>
          </a:prstGeom>
          <a:noFill/>
          <a:ln/>
        </p:spPr>
        <p:txBody>
          <a:bodyPr wrap="square" lIns="0" tIns="0" rIns="0" bIns="0" rtlCol="0" anchor="ctr"/>
          <a:lstStyle/>
          <a:p>
            <a:pPr indent="0" marL="0">
              <a:buNone/>
            </a:pPr>
            <a:r>
              <a:rPr lang="en-US" sz="1050" b="1" dirty="0">
                <a:solidFill>
                  <a:srgbClr val="2DB7C3"/>
                </a:solidFill>
                <a:latin typeface="Montserrat" pitchFamily="34" charset="0"/>
                <a:ea typeface="Montserrat" pitchFamily="34" charset="-122"/>
                <a:cs typeface="Montserrat" pitchFamily="34" charset="-120"/>
              </a:rPr>
              <a:t>Fragile glass-glass</a:t>
            </a:r>
            <a:endParaRPr lang="en-US" sz="1050" dirty="0"/>
          </a:p>
        </p:txBody>
      </p:sp>
      <p:sp>
        <p:nvSpPr>
          <p:cNvPr id="36" name="Text 34"/>
          <p:cNvSpPr/>
          <p:nvPr/>
        </p:nvSpPr>
        <p:spPr>
          <a:xfrm>
            <a:off x="9015984" y="4645152"/>
            <a:ext cx="2377440" cy="512064"/>
          </a:xfrm>
          <a:prstGeom prst="rect">
            <a:avLst/>
          </a:prstGeom>
          <a:noFill/>
          <a:ln/>
        </p:spPr>
        <p:txBody>
          <a:bodyPr wrap="square" lIns="0" tIns="0" rIns="0" bIns="0" rtlCol="0" anchor="ctr"/>
          <a:lstStyle/>
          <a:p>
            <a:pPr indent="0" marL="0">
              <a:buNone/>
            </a:pPr>
            <a:r>
              <a:rPr lang="en-US" sz="930" dirty="0">
                <a:solidFill>
                  <a:srgbClr val="1B2733"/>
                </a:solidFill>
                <a:latin typeface="Consolas" pitchFamily="34" charset="0"/>
                <a:ea typeface="Consolas" pitchFamily="34" charset="-122"/>
                <a:cs typeface="Consolas" pitchFamily="34" charset="-120"/>
              </a:rPr>
              <a:t>35→18% · 45→61% · 50→89%</a:t>
            </a:r>
            <a:endParaRPr lang="en-US" sz="930" dirty="0"/>
          </a:p>
        </p:txBody>
      </p:sp>
      <p:sp>
        <p:nvSpPr>
          <p:cNvPr id="37" name="Shape 35"/>
          <p:cNvSpPr/>
          <p:nvPr/>
        </p:nvSpPr>
        <p:spPr>
          <a:xfrm>
            <a:off x="6858000" y="5157216"/>
            <a:ext cx="4553712" cy="512064"/>
          </a:xfrm>
          <a:prstGeom prst="rect">
            <a:avLst/>
          </a:prstGeom>
          <a:solidFill>
            <a:srgbClr val="F0F5F7"/>
          </a:solidFill>
          <a:ln w="6350">
            <a:solidFill>
              <a:srgbClr val="E2E8F0"/>
            </a:solidFill>
            <a:prstDash val="solid"/>
          </a:ln>
        </p:spPr>
      </p:sp>
      <p:sp>
        <p:nvSpPr>
          <p:cNvPr id="38" name="Text 36"/>
          <p:cNvSpPr/>
          <p:nvPr/>
        </p:nvSpPr>
        <p:spPr>
          <a:xfrm>
            <a:off x="6967728" y="5157216"/>
            <a:ext cx="2103120" cy="512064"/>
          </a:xfrm>
          <a:prstGeom prst="rect">
            <a:avLst/>
          </a:prstGeom>
          <a:noFill/>
          <a:ln/>
        </p:spPr>
        <p:txBody>
          <a:bodyPr wrap="square" lIns="0" tIns="0" rIns="0" bIns="0" rtlCol="0" anchor="ctr"/>
          <a:lstStyle/>
          <a:p>
            <a:pPr indent="0" marL="0">
              <a:buNone/>
            </a:pPr>
            <a:r>
              <a:rPr lang="en-US" sz="1050" b="1" dirty="0">
                <a:solidFill>
                  <a:srgbClr val="0F2A43"/>
                </a:solidFill>
                <a:latin typeface="Montserrat" pitchFamily="34" charset="0"/>
                <a:ea typeface="Montserrat" pitchFamily="34" charset="-122"/>
                <a:cs typeface="Montserrat" pitchFamily="34" charset="-120"/>
              </a:rPr>
              <a:t>Hardened thicker</a:t>
            </a:r>
            <a:endParaRPr lang="en-US" sz="1050" dirty="0"/>
          </a:p>
        </p:txBody>
      </p:sp>
      <p:sp>
        <p:nvSpPr>
          <p:cNvPr id="39" name="Text 37"/>
          <p:cNvSpPr/>
          <p:nvPr/>
        </p:nvSpPr>
        <p:spPr>
          <a:xfrm>
            <a:off x="9015984" y="5157216"/>
            <a:ext cx="2377440" cy="512064"/>
          </a:xfrm>
          <a:prstGeom prst="rect">
            <a:avLst/>
          </a:prstGeom>
          <a:noFill/>
          <a:ln/>
        </p:spPr>
        <p:txBody>
          <a:bodyPr wrap="square" lIns="0" tIns="0" rIns="0" bIns="0" rtlCol="0" anchor="ctr"/>
          <a:lstStyle/>
          <a:p>
            <a:pPr indent="0" marL="0">
              <a:buNone/>
            </a:pPr>
            <a:r>
              <a:rPr lang="en-US" sz="930" dirty="0">
                <a:solidFill>
                  <a:srgbClr val="1B2733"/>
                </a:solidFill>
                <a:latin typeface="Consolas" pitchFamily="34" charset="0"/>
                <a:ea typeface="Consolas" pitchFamily="34" charset="-122"/>
                <a:cs typeface="Consolas" pitchFamily="34" charset="-120"/>
              </a:rPr>
              <a:t>25→0.5%  ·  45→7%</a:t>
            </a:r>
            <a:endParaRPr lang="en-US" sz="930" dirty="0"/>
          </a:p>
        </p:txBody>
      </p:sp>
      <p:sp>
        <p:nvSpPr>
          <p:cNvPr id="40" name="Text 38"/>
          <p:cNvSpPr/>
          <p:nvPr/>
        </p:nvSpPr>
        <p:spPr>
          <a:xfrm>
            <a:off x="6967728" y="5742432"/>
            <a:ext cx="4334256" cy="292608"/>
          </a:xfrm>
          <a:prstGeom prst="rect">
            <a:avLst/>
          </a:prstGeom>
          <a:noFill/>
          <a:ln/>
        </p:spPr>
        <p:txBody>
          <a:bodyPr wrap="square" lIns="0" tIns="0" rIns="0" bIns="0" rtlCol="0" anchor="ctr"/>
          <a:lstStyle/>
          <a:p>
            <a:pPr indent="0" marL="0">
              <a:lnSpc>
                <a:spcPct val="100000"/>
              </a:lnSpc>
              <a:buNone/>
            </a:pPr>
            <a:r>
              <a:rPr lang="en-US" sz="920" i="1" dirty="0">
                <a:solidFill>
                  <a:srgbClr val="5B7184"/>
                </a:solidFill>
                <a:latin typeface="Montserrat" pitchFamily="34" charset="0"/>
                <a:ea typeface="Montserrat" pitchFamily="34" charset="-122"/>
                <a:cs typeface="Montserrat" pitchFamily="34" charset="-120"/>
              </a:rPr>
              <a:t>IEC is read as a boundary, not a loss curve: a qualified module shows very low DR near 25 mm — not a literal 0%.</a:t>
            </a:r>
            <a:endParaRPr lang="en-US" sz="920" dirty="0"/>
          </a:p>
        </p:txBody>
      </p:sp>
      <p:sp>
        <p:nvSpPr>
          <p:cNvPr id="41" name="Text 39"/>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42" name="Text 40"/>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hail_solar_curve_derivation_dossier_v1_3.md · 00_curve_curation_walkthrough.ipynb</a:t>
            </a:r>
            <a:endParaRPr lang="en-US" sz="7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14</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14919B"/>
                </a:solidFill>
                <a:latin typeface="Montserrat" pitchFamily="34" charset="0"/>
                <a:ea typeface="Montserrat" pitchFamily="34" charset="-122"/>
                <a:cs typeface="Montserrat" pitchFamily="34" charset="-120"/>
              </a:rPr>
              <a:t>WORKED EXAMPLE · HOW THE CURVE IS ACTUALLY BUILT</a:t>
            </a:r>
            <a:endParaRPr lang="en-US" sz="1250" dirty="0"/>
          </a:p>
        </p:txBody>
      </p:sp>
      <p:sp>
        <p:nvSpPr>
          <p:cNvPr id="4" name="Text 2"/>
          <p:cNvSpPr/>
          <p:nvPr/>
        </p:nvSpPr>
        <p:spPr>
          <a:xfrm>
            <a:off x="566928" y="786384"/>
            <a:ext cx="11338560" cy="914400"/>
          </a:xfrm>
          <a:prstGeom prst="rect">
            <a:avLst/>
          </a:prstGeom>
          <a:noFill/>
          <a:ln/>
        </p:spPr>
        <p:txBody>
          <a:bodyPr wrap="square" lIns="0" tIns="0" rIns="0" bIns="0" rtlCol="0" anchor="t"/>
          <a:lstStyle/>
          <a:p>
            <a:pPr algn="l" indent="0" marL="0">
              <a:lnSpc>
                <a:spcPct val="98000"/>
              </a:lnSpc>
              <a:buNone/>
            </a:pPr>
            <a:r>
              <a:rPr lang="en-US" sz="2500" b="1" dirty="0">
                <a:solidFill>
                  <a:srgbClr val="0F2A43"/>
                </a:solidFill>
                <a:latin typeface="Montserrat" pitchFamily="34" charset="0"/>
                <a:ea typeface="Montserrat" pitchFamily="34" charset="-122"/>
                <a:cs typeface="Montserrat" pitchFamily="34" charset="-120"/>
              </a:rPr>
              <a:t>Hail × solar (2) — fit, select, condition, value</a:t>
            </a:r>
            <a:endParaRPr lang="en-US" sz="2500" dirty="0"/>
          </a:p>
        </p:txBody>
      </p:sp>
      <p:pic>
        <p:nvPicPr>
          <p:cNvPr id="5" name="Image 0" descr="/sessions/sharp-serene-hypatia/mnt/outputs/deck/img/hail_fit.png">    </p:cNvPr>
          <p:cNvPicPr>
            <a:picLocks noChangeAspect="1"/>
          </p:cNvPicPr>
          <p:nvPr/>
        </p:nvPicPr>
        <p:blipFill>
          <a:blip r:embed="rId1"/>
          <a:stretch>
            <a:fillRect/>
          </a:stretch>
        </p:blipFill>
        <p:spPr>
          <a:xfrm>
            <a:off x="566928" y="1591056"/>
            <a:ext cx="6080760" cy="3803904"/>
          </a:xfrm>
          <a:prstGeom prst="rect">
            <a:avLst/>
          </a:prstGeom>
        </p:spPr>
      </p:pic>
      <p:sp>
        <p:nvSpPr>
          <p:cNvPr id="6" name="Text 3"/>
          <p:cNvSpPr/>
          <p:nvPr/>
        </p:nvSpPr>
        <p:spPr>
          <a:xfrm>
            <a:off x="566928" y="5413248"/>
            <a:ext cx="6080760" cy="457200"/>
          </a:xfrm>
          <a:prstGeom prst="rect">
            <a:avLst/>
          </a:prstGeom>
          <a:noFill/>
          <a:ln/>
        </p:spPr>
        <p:txBody>
          <a:bodyPr wrap="square" lIns="0" tIns="0" rIns="0" bIns="0" rtlCol="0" anchor="ctr"/>
          <a:lstStyle/>
          <a:p>
            <a:pPr algn="ctr" indent="0" marL="0">
              <a:lnSpc>
                <a:spcPct val="110000"/>
              </a:lnSpc>
              <a:buNone/>
            </a:pPr>
            <a:r>
              <a:rPr lang="en-US" sz="1050" i="1" dirty="0">
                <a:solidFill>
                  <a:srgbClr val="5B7184"/>
                </a:solidFill>
                <a:latin typeface="Montserrat" pitchFamily="34" charset="0"/>
                <a:ea typeface="Montserrat" pitchFamily="34" charset="-122"/>
                <a:cs typeface="Montserrat" pitchFamily="34" charset="-120"/>
              </a:rPr>
              <a:t>The logistic fit, drawn through the real anchor points — three module archetypes, three curves.</a:t>
            </a:r>
            <a:endParaRPr lang="en-US" sz="1050" dirty="0"/>
          </a:p>
        </p:txBody>
      </p:sp>
      <p:sp>
        <p:nvSpPr>
          <p:cNvPr id="7" name="Shape 4"/>
          <p:cNvSpPr/>
          <p:nvPr/>
        </p:nvSpPr>
        <p:spPr>
          <a:xfrm>
            <a:off x="6812280" y="1517904"/>
            <a:ext cx="4846320" cy="914400"/>
          </a:xfrm>
          <a:prstGeom prst="roundRect">
            <a:avLst>
              <a:gd name="adj" fmla="val 9000"/>
            </a:avLst>
          </a:prstGeom>
          <a:solidFill>
            <a:srgbClr val="FFFFFF"/>
          </a:solidFill>
          <a:ln w="12700">
            <a:solidFill>
              <a:srgbClr val="D7E2E8"/>
            </a:solidFill>
            <a:prstDash val="solid"/>
          </a:ln>
        </p:spPr>
      </p:sp>
      <p:sp>
        <p:nvSpPr>
          <p:cNvPr id="8" name="Shape 5"/>
          <p:cNvSpPr/>
          <p:nvPr/>
        </p:nvSpPr>
        <p:spPr>
          <a:xfrm>
            <a:off x="7013448" y="1700784"/>
            <a:ext cx="1627632" cy="548640"/>
          </a:xfrm>
          <a:prstGeom prst="roundRect">
            <a:avLst>
              <a:gd name="adj" fmla="val 15000"/>
            </a:avLst>
          </a:prstGeom>
          <a:solidFill>
            <a:srgbClr val="14919B"/>
          </a:solidFill>
          <a:ln/>
        </p:spPr>
      </p:sp>
      <p:sp>
        <p:nvSpPr>
          <p:cNvPr id="9" name="Text 6"/>
          <p:cNvSpPr/>
          <p:nvPr/>
        </p:nvSpPr>
        <p:spPr>
          <a:xfrm>
            <a:off x="7013448" y="1700784"/>
            <a:ext cx="162763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FIT</a:t>
            </a:r>
            <a:endParaRPr lang="en-US" sz="1200" dirty="0"/>
          </a:p>
        </p:txBody>
      </p:sp>
      <p:sp>
        <p:nvSpPr>
          <p:cNvPr id="10" name="Text 7"/>
          <p:cNvSpPr/>
          <p:nvPr/>
        </p:nvSpPr>
        <p:spPr>
          <a:xfrm>
            <a:off x="8750808" y="1609344"/>
            <a:ext cx="2788920" cy="749808"/>
          </a:xfrm>
          <a:prstGeom prst="rect">
            <a:avLst/>
          </a:prstGeom>
          <a:noFill/>
          <a:ln/>
        </p:spPr>
        <p:txBody>
          <a:bodyPr wrap="square" lIns="0" tIns="0" rIns="0" bIns="0" rtlCol="0" anchor="ctr"/>
          <a:lstStyle/>
          <a:p>
            <a:pPr indent="0" marL="0">
              <a:lnSpc>
                <a:spcPct val="112000"/>
              </a:lnSpc>
              <a:buNone/>
            </a:pPr>
            <a:r>
              <a:rPr lang="en-US" sz="1060" dirty="0">
                <a:solidFill>
                  <a:srgbClr val="1B2733"/>
                </a:solidFill>
                <a:latin typeface="Montserrat" pitchFamily="34" charset="0"/>
                <a:ea typeface="Montserrat" pitchFamily="34" charset="-122"/>
                <a:cs typeface="Montserrat" pitchFamily="34" charset="-120"/>
              </a:rPr>
              <a:t>Fit a logistic in logit space from the anchors → D50 (half-damage size) and k (steepness) per archetype.</a:t>
            </a:r>
            <a:endParaRPr lang="en-US" sz="1060" dirty="0"/>
          </a:p>
        </p:txBody>
      </p:sp>
      <p:sp>
        <p:nvSpPr>
          <p:cNvPr id="11" name="Shape 8"/>
          <p:cNvSpPr/>
          <p:nvPr/>
        </p:nvSpPr>
        <p:spPr>
          <a:xfrm>
            <a:off x="6812280" y="2487168"/>
            <a:ext cx="4846320" cy="914400"/>
          </a:xfrm>
          <a:prstGeom prst="roundRect">
            <a:avLst>
              <a:gd name="adj" fmla="val 9000"/>
            </a:avLst>
          </a:prstGeom>
          <a:solidFill>
            <a:srgbClr val="FFFFFF"/>
          </a:solidFill>
          <a:ln w="12700">
            <a:solidFill>
              <a:srgbClr val="D7E2E8"/>
            </a:solidFill>
            <a:prstDash val="solid"/>
          </a:ln>
        </p:spPr>
      </p:sp>
      <p:sp>
        <p:nvSpPr>
          <p:cNvPr id="12" name="Shape 9"/>
          <p:cNvSpPr/>
          <p:nvPr/>
        </p:nvSpPr>
        <p:spPr>
          <a:xfrm>
            <a:off x="7013448" y="2670048"/>
            <a:ext cx="1627632" cy="548640"/>
          </a:xfrm>
          <a:prstGeom prst="roundRect">
            <a:avLst>
              <a:gd name="adj" fmla="val 15000"/>
            </a:avLst>
          </a:prstGeom>
          <a:solidFill>
            <a:srgbClr val="14919B"/>
          </a:solidFill>
          <a:ln/>
        </p:spPr>
      </p:sp>
      <p:sp>
        <p:nvSpPr>
          <p:cNvPr id="13" name="Text 10"/>
          <p:cNvSpPr/>
          <p:nvPr/>
        </p:nvSpPr>
        <p:spPr>
          <a:xfrm>
            <a:off x="7013448" y="2670048"/>
            <a:ext cx="162763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SELECT</a:t>
            </a:r>
            <a:endParaRPr lang="en-US" sz="1200" dirty="0"/>
          </a:p>
        </p:txBody>
      </p:sp>
      <p:sp>
        <p:nvSpPr>
          <p:cNvPr id="14" name="Text 11"/>
          <p:cNvSpPr/>
          <p:nvPr/>
        </p:nvSpPr>
        <p:spPr>
          <a:xfrm>
            <a:off x="8750808" y="2578608"/>
            <a:ext cx="2788920" cy="749808"/>
          </a:xfrm>
          <a:prstGeom prst="rect">
            <a:avLst/>
          </a:prstGeom>
          <a:noFill/>
          <a:ln/>
        </p:spPr>
        <p:txBody>
          <a:bodyPr wrap="square" lIns="0" tIns="0" rIns="0" bIns="0" rtlCol="0" anchor="ctr"/>
          <a:lstStyle/>
          <a:p>
            <a:pPr indent="0" marL="0">
              <a:lnSpc>
                <a:spcPct val="112000"/>
              </a:lnSpc>
              <a:buNone/>
            </a:pPr>
            <a:r>
              <a:rPr lang="en-US" sz="1060" dirty="0">
                <a:solidFill>
                  <a:srgbClr val="1B2733"/>
                </a:solidFill>
                <a:latin typeface="Montserrat" pitchFamily="34" charset="0"/>
                <a:ea typeface="Montserrat" pitchFamily="34" charset="-122"/>
                <a:cs typeface="Montserrat" pitchFamily="34" charset="-120"/>
              </a:rPr>
              <a:t>Selector module_archetype picks which curve — fixed asset metadata (glass type, thickness, rating).</a:t>
            </a:r>
            <a:endParaRPr lang="en-US" sz="1060" dirty="0"/>
          </a:p>
        </p:txBody>
      </p:sp>
      <p:sp>
        <p:nvSpPr>
          <p:cNvPr id="15" name="Shape 12"/>
          <p:cNvSpPr/>
          <p:nvPr/>
        </p:nvSpPr>
        <p:spPr>
          <a:xfrm>
            <a:off x="6812280" y="3456432"/>
            <a:ext cx="4846320" cy="1298448"/>
          </a:xfrm>
          <a:prstGeom prst="roundRect">
            <a:avLst>
              <a:gd name="adj" fmla="val 6338"/>
            </a:avLst>
          </a:prstGeom>
          <a:solidFill>
            <a:srgbClr val="FFFFFF"/>
          </a:solidFill>
          <a:ln w="12700">
            <a:solidFill>
              <a:srgbClr val="D7E2E8"/>
            </a:solidFill>
            <a:prstDash val="solid"/>
          </a:ln>
        </p:spPr>
      </p:sp>
      <p:sp>
        <p:nvSpPr>
          <p:cNvPr id="16" name="Shape 13"/>
          <p:cNvSpPr/>
          <p:nvPr/>
        </p:nvSpPr>
        <p:spPr>
          <a:xfrm>
            <a:off x="7013448" y="3831336"/>
            <a:ext cx="1627632" cy="548640"/>
          </a:xfrm>
          <a:prstGeom prst="roundRect">
            <a:avLst>
              <a:gd name="adj" fmla="val 15000"/>
            </a:avLst>
          </a:prstGeom>
          <a:solidFill>
            <a:srgbClr val="E0A458"/>
          </a:solidFill>
          <a:ln/>
        </p:spPr>
      </p:sp>
      <p:sp>
        <p:nvSpPr>
          <p:cNvPr id="17" name="Text 14"/>
          <p:cNvSpPr/>
          <p:nvPr/>
        </p:nvSpPr>
        <p:spPr>
          <a:xfrm>
            <a:off x="7013448" y="3831336"/>
            <a:ext cx="1627632" cy="548640"/>
          </a:xfrm>
          <a:prstGeom prst="rect">
            <a:avLst/>
          </a:prstGeom>
          <a:noFill/>
          <a:ln/>
        </p:spPr>
        <p:txBody>
          <a:bodyPr wrap="square" lIns="0" tIns="0" rIns="0" bIns="0" rtlCol="0" anchor="ctr"/>
          <a:lstStyle/>
          <a:p>
            <a:pPr algn="ctr" indent="0" marL="0">
              <a:buNone/>
            </a:pPr>
            <a:r>
              <a:rPr lang="en-US" sz="1200" b="1" dirty="0">
                <a:solidFill>
                  <a:srgbClr val="0F2A43"/>
                </a:solidFill>
                <a:latin typeface="Montserrat" pitchFamily="34" charset="0"/>
                <a:ea typeface="Montserrat" pitchFamily="34" charset="-122"/>
                <a:cs typeface="Montserrat" pitchFamily="34" charset="-120"/>
              </a:rPr>
              <a:t>CONDITION</a:t>
            </a:r>
            <a:endParaRPr lang="en-US" sz="1200" dirty="0"/>
          </a:p>
        </p:txBody>
      </p:sp>
      <p:sp>
        <p:nvSpPr>
          <p:cNvPr id="18" name="Text 15"/>
          <p:cNvSpPr/>
          <p:nvPr/>
        </p:nvSpPr>
        <p:spPr>
          <a:xfrm>
            <a:off x="8750808" y="3566160"/>
            <a:ext cx="2788920" cy="658368"/>
          </a:xfrm>
          <a:prstGeom prst="rect">
            <a:avLst/>
          </a:prstGeom>
          <a:noFill/>
          <a:ln/>
        </p:spPr>
        <p:txBody>
          <a:bodyPr wrap="square" lIns="0" tIns="0" rIns="0" bIns="0" rtlCol="0" anchor="ctr"/>
          <a:lstStyle/>
          <a:p>
            <a:pPr indent="0" marL="0">
              <a:lnSpc>
                <a:spcPct val="110000"/>
              </a:lnSpc>
              <a:buNone/>
            </a:pPr>
            <a:r>
              <a:rPr lang="en-US" sz="1040" dirty="0">
                <a:solidFill>
                  <a:srgbClr val="1B2733"/>
                </a:solidFill>
                <a:latin typeface="Montserrat" pitchFamily="34" charset="0"/>
                <a:ea typeface="Montserrat" pitchFamily="34" charset="-122"/>
                <a:cs typeface="Montserrat" pitchFamily="34" charset="-120"/>
              </a:rPr>
              <a:t>Conditioner stow_state blends at event time:  DR = P·0.90·logistic(D50+8) + (1−P)·logistic(D50).</a:t>
            </a:r>
            <a:endParaRPr lang="en-US" sz="1040" dirty="0"/>
          </a:p>
        </p:txBody>
      </p:sp>
      <p:sp>
        <p:nvSpPr>
          <p:cNvPr id="19" name="Text 16"/>
          <p:cNvSpPr/>
          <p:nvPr/>
        </p:nvSpPr>
        <p:spPr>
          <a:xfrm>
            <a:off x="8750808" y="4242816"/>
            <a:ext cx="2788920" cy="457200"/>
          </a:xfrm>
          <a:prstGeom prst="rect">
            <a:avLst/>
          </a:prstGeom>
          <a:noFill/>
          <a:ln/>
        </p:spPr>
        <p:txBody>
          <a:bodyPr wrap="square" lIns="0" tIns="0" rIns="0" bIns="0" rtlCol="0" anchor="ctr"/>
          <a:lstStyle/>
          <a:p>
            <a:pPr indent="0" marL="0">
              <a:lnSpc>
                <a:spcPct val="105000"/>
              </a:lnSpc>
              <a:buNone/>
            </a:pPr>
            <a:r>
              <a:rPr lang="en-US" sz="840" i="1" dirty="0">
                <a:solidFill>
                  <a:srgbClr val="9A6B1E"/>
                </a:solidFill>
                <a:latin typeface="Montserrat" pitchFamily="34" charset="0"/>
                <a:ea typeface="Montserrat" pitchFamily="34" charset="-122"/>
                <a:cs typeface="Montserrat" pitchFamily="34" charset="-120"/>
              </a:rPr>
              <a:t>Source: VDE Americas hail-stow memo · DOE/FEMP hail mitigation — direction only; the +8 mm / ×0.90 magnitude is a T4 placeholder.</a:t>
            </a:r>
            <a:endParaRPr lang="en-US" sz="840" dirty="0"/>
          </a:p>
        </p:txBody>
      </p:sp>
      <p:sp>
        <p:nvSpPr>
          <p:cNvPr id="20" name="Shape 17"/>
          <p:cNvSpPr/>
          <p:nvPr/>
        </p:nvSpPr>
        <p:spPr>
          <a:xfrm>
            <a:off x="6812280" y="4809744"/>
            <a:ext cx="4846320" cy="914400"/>
          </a:xfrm>
          <a:prstGeom prst="roundRect">
            <a:avLst>
              <a:gd name="adj" fmla="val 9000"/>
            </a:avLst>
          </a:prstGeom>
          <a:solidFill>
            <a:srgbClr val="FFFFFF"/>
          </a:solidFill>
          <a:ln w="12700">
            <a:solidFill>
              <a:srgbClr val="D7E2E8"/>
            </a:solidFill>
            <a:prstDash val="solid"/>
          </a:ln>
        </p:spPr>
      </p:sp>
      <p:sp>
        <p:nvSpPr>
          <p:cNvPr id="21" name="Shape 18"/>
          <p:cNvSpPr/>
          <p:nvPr/>
        </p:nvSpPr>
        <p:spPr>
          <a:xfrm>
            <a:off x="7013448" y="4992624"/>
            <a:ext cx="1627632" cy="548640"/>
          </a:xfrm>
          <a:prstGeom prst="roundRect">
            <a:avLst>
              <a:gd name="adj" fmla="val 15000"/>
            </a:avLst>
          </a:prstGeom>
          <a:solidFill>
            <a:srgbClr val="14919B"/>
          </a:solidFill>
          <a:ln/>
        </p:spPr>
      </p:sp>
      <p:sp>
        <p:nvSpPr>
          <p:cNvPr id="22" name="Text 19"/>
          <p:cNvSpPr/>
          <p:nvPr/>
        </p:nvSpPr>
        <p:spPr>
          <a:xfrm>
            <a:off x="7013448" y="4992624"/>
            <a:ext cx="162763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VALUE</a:t>
            </a:r>
            <a:endParaRPr lang="en-US" sz="1200" dirty="0"/>
          </a:p>
        </p:txBody>
      </p:sp>
      <p:sp>
        <p:nvSpPr>
          <p:cNvPr id="23" name="Text 20"/>
          <p:cNvSpPr/>
          <p:nvPr/>
        </p:nvSpPr>
        <p:spPr>
          <a:xfrm>
            <a:off x="8750808" y="4901184"/>
            <a:ext cx="2788920" cy="749808"/>
          </a:xfrm>
          <a:prstGeom prst="rect">
            <a:avLst/>
          </a:prstGeom>
          <a:noFill/>
          <a:ln/>
        </p:spPr>
        <p:txBody>
          <a:bodyPr wrap="square" lIns="0" tIns="0" rIns="0" bIns="0" rtlCol="0" anchor="ctr"/>
          <a:lstStyle/>
          <a:p>
            <a:pPr indent="0" marL="0">
              <a:lnSpc>
                <a:spcPct val="112000"/>
              </a:lnSpc>
              <a:buNone/>
            </a:pPr>
            <a:r>
              <a:rPr lang="en-US" sz="1060" dirty="0">
                <a:solidFill>
                  <a:srgbClr val="1B2733"/>
                </a:solidFill>
                <a:latin typeface="Montserrat" pitchFamily="34" charset="0"/>
                <a:ea typeface="Montserrat" pitchFamily="34" charset="-122"/>
                <a:cs typeface="Montserrat" pitchFamily="34" charset="-120"/>
              </a:rPr>
              <a:t>loss = DR × exposure_fraction × module value — never applied to the whole-plant TIV.</a:t>
            </a:r>
            <a:endParaRPr lang="en-US" sz="1060" dirty="0"/>
          </a:p>
        </p:txBody>
      </p:sp>
      <p:sp>
        <p:nvSpPr>
          <p:cNvPr id="24" name="Shape 21"/>
          <p:cNvSpPr/>
          <p:nvPr/>
        </p:nvSpPr>
        <p:spPr>
          <a:xfrm>
            <a:off x="566928" y="5943600"/>
            <a:ext cx="11064240" cy="512064"/>
          </a:xfrm>
          <a:prstGeom prst="roundRect">
            <a:avLst>
              <a:gd name="adj" fmla="val 17857"/>
            </a:avLst>
          </a:prstGeom>
          <a:solidFill>
            <a:srgbClr val="F0F7F8"/>
          </a:solidFill>
          <a:ln/>
        </p:spPr>
      </p:sp>
      <p:sp>
        <p:nvSpPr>
          <p:cNvPr id="25" name="Text 22"/>
          <p:cNvSpPr/>
          <p:nvPr/>
        </p:nvSpPr>
        <p:spPr>
          <a:xfrm>
            <a:off x="841248" y="5943600"/>
            <a:ext cx="10607040" cy="512064"/>
          </a:xfrm>
          <a:prstGeom prst="rect">
            <a:avLst/>
          </a:prstGeom>
          <a:noFill/>
          <a:ln/>
        </p:spPr>
        <p:txBody>
          <a:bodyPr wrap="square" lIns="0" tIns="0" rIns="0" bIns="0" rtlCol="0" anchor="ctr"/>
          <a:lstStyle/>
          <a:p>
            <a:pPr indent="0" marL="0">
              <a:buNone/>
            </a:pPr>
            <a:r>
              <a:rPr lang="en-US" sz="1060" b="1" dirty="0">
                <a:solidFill>
                  <a:srgbClr val="0F2A43"/>
                </a:solidFill>
                <a:latin typeface="Montserrat" pitchFamily="34" charset="0"/>
                <a:ea typeface="Montserrat" pitchFamily="34" charset="-122"/>
                <a:cs typeface="Montserrat" pitchFamily="34" charset="-120"/>
              </a:rPr>
              <a:t>The whole flow:  </a:t>
            </a:r>
            <a:pPr indent="0" marL="0">
              <a:buNone/>
            </a:pPr>
            <a:r>
              <a:rPr lang="en-US" sz="1060" dirty="0">
                <a:solidFill>
                  <a:srgbClr val="1B3B57"/>
                </a:solidFill>
                <a:latin typeface="Montserrat" pitchFamily="34" charset="0"/>
                <a:ea typeface="Montserrat" pitchFamily="34" charset="-122"/>
                <a:cs typeface="Montserrat" pitchFamily="34" charset="-120"/>
              </a:rPr>
              <a:t>define failure unit → axis evidence → standards boundary → lab anchors → field as caveats → fit logistic → selector → stow conditioner → keep value separate → ship JSON</a:t>
            </a:r>
            <a:endParaRPr lang="en-US" sz="1060" dirty="0"/>
          </a:p>
        </p:txBody>
      </p:sp>
      <p:sp>
        <p:nvSpPr>
          <p:cNvPr id="26" name="Text 23"/>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27" name="Text 24"/>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hail_solar__model_v1_0 curve_artifact.json · derivation dossier v1.3</a:t>
            </a:r>
            <a:endParaRPr lang="en-US" sz="7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15</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14919B"/>
                </a:solidFill>
                <a:latin typeface="Montserrat" pitchFamily="34" charset="0"/>
                <a:ea typeface="Montserrat" pitchFamily="34" charset="-122"/>
                <a:cs typeface="Montserrat" pitchFamily="34" charset="-120"/>
              </a:rPr>
              <a:t>WORKED CONTRAST — WHY THE METHOD GENERALISES</a:t>
            </a:r>
            <a:endParaRPr lang="en-US" sz="1250" dirty="0"/>
          </a:p>
        </p:txBody>
      </p:sp>
      <p:sp>
        <p:nvSpPr>
          <p:cNvPr id="4" name="Text 2"/>
          <p:cNvSpPr/>
          <p:nvPr/>
        </p:nvSpPr>
        <p:spPr>
          <a:xfrm>
            <a:off x="566928" y="786384"/>
            <a:ext cx="11155680" cy="914400"/>
          </a:xfrm>
          <a:prstGeom prst="rect">
            <a:avLst/>
          </a:prstGeom>
          <a:noFill/>
          <a:ln/>
        </p:spPr>
        <p:txBody>
          <a:bodyPr wrap="square" lIns="0" tIns="0" rIns="0" bIns="0" rtlCol="0" anchor="t"/>
          <a:lstStyle/>
          <a:p>
            <a:pPr algn="l" indent="0" marL="0">
              <a:lnSpc>
                <a:spcPct val="98000"/>
              </a:lnSpc>
              <a:buNone/>
            </a:pPr>
            <a:r>
              <a:rPr lang="en-US" sz="2500" b="1" dirty="0">
                <a:solidFill>
                  <a:srgbClr val="0F2A43"/>
                </a:solidFill>
                <a:latin typeface="Montserrat" pitchFamily="34" charset="0"/>
                <a:ea typeface="Montserrat" pitchFamily="34" charset="-122"/>
                <a:cs typeface="Montserrat" pitchFamily="34" charset="-120"/>
              </a:rPr>
              <a:t>Flood × solar: many failure-units, a different curve form</a:t>
            </a:r>
            <a:endParaRPr lang="en-US" sz="2500" dirty="0"/>
          </a:p>
        </p:txBody>
      </p:sp>
      <p:pic>
        <p:nvPicPr>
          <p:cNvPr id="5" name="Image 0" descr="/sessions/sharp-serene-hypatia/mnt/outputs/deck/img/flood_state.png">    </p:cNvPr>
          <p:cNvPicPr>
            <a:picLocks noChangeAspect="1"/>
          </p:cNvPicPr>
          <p:nvPr/>
        </p:nvPicPr>
        <p:blipFill>
          <a:blip r:embed="rId1"/>
          <a:stretch>
            <a:fillRect/>
          </a:stretch>
        </p:blipFill>
        <p:spPr>
          <a:xfrm>
            <a:off x="566928" y="1783080"/>
            <a:ext cx="5943600" cy="3410712"/>
          </a:xfrm>
          <a:prstGeom prst="rect">
            <a:avLst/>
          </a:prstGeom>
        </p:spPr>
      </p:pic>
      <p:sp>
        <p:nvSpPr>
          <p:cNvPr id="6" name="Text 3"/>
          <p:cNvSpPr/>
          <p:nvPr/>
        </p:nvSpPr>
        <p:spPr>
          <a:xfrm>
            <a:off x="566928" y="5212080"/>
            <a:ext cx="5943600" cy="640080"/>
          </a:xfrm>
          <a:prstGeom prst="rect">
            <a:avLst/>
          </a:prstGeom>
          <a:noFill/>
          <a:ln/>
        </p:spPr>
        <p:txBody>
          <a:bodyPr wrap="square" lIns="0" tIns="0" rIns="0" bIns="0" rtlCol="0" anchor="ctr"/>
          <a:lstStyle/>
          <a:p>
            <a:pPr indent="0" marL="0">
              <a:lnSpc>
                <a:spcPct val="112000"/>
              </a:lnSpc>
              <a:buNone/>
            </a:pPr>
            <a:r>
              <a:rPr lang="en-US" sz="1150" i="1" dirty="0">
                <a:solidFill>
                  <a:srgbClr val="5B7184"/>
                </a:solidFill>
                <a:latin typeface="Montserrat" pitchFamily="34" charset="0"/>
                <a:ea typeface="Montserrat" pitchFamily="34" charset="-122"/>
                <a:cs typeface="Montserrat" pitchFamily="34" charset="-120"/>
              </a:rPr>
              <a:t>Flood equipment damage is threshold-like, indexed by local depth above each component's critical elevation — so the form is piecewise / state, not logistic.</a:t>
            </a:r>
            <a:endParaRPr lang="en-US" sz="1150" dirty="0"/>
          </a:p>
        </p:txBody>
      </p:sp>
      <p:sp>
        <p:nvSpPr>
          <p:cNvPr id="7" name="Text 4"/>
          <p:cNvSpPr/>
          <p:nvPr/>
        </p:nvSpPr>
        <p:spPr>
          <a:xfrm>
            <a:off x="6675120" y="1783080"/>
            <a:ext cx="5029200" cy="365760"/>
          </a:xfrm>
          <a:prstGeom prst="rect">
            <a:avLst/>
          </a:prstGeom>
          <a:noFill/>
          <a:ln/>
        </p:spPr>
        <p:txBody>
          <a:bodyPr wrap="square" lIns="0" tIns="0" rIns="0" bIns="0" rtlCol="0" anchor="ctr"/>
          <a:lstStyle/>
          <a:p>
            <a:pPr indent="0" marL="0">
              <a:buNone/>
            </a:pPr>
            <a:r>
              <a:rPr lang="en-US" sz="1400" b="1" spc="100" kern="0" dirty="0">
                <a:solidFill>
                  <a:srgbClr val="14919B"/>
                </a:solidFill>
                <a:latin typeface="Montserrat" pitchFamily="34" charset="0"/>
                <a:ea typeface="Montserrat" pitchFamily="34" charset="-122"/>
                <a:cs typeface="Montserrat" pitchFamily="34" charset="-120"/>
              </a:rPr>
              <a:t>What changes vs. hail × solar</a:t>
            </a:r>
            <a:endParaRPr lang="en-US" sz="1400" dirty="0"/>
          </a:p>
        </p:txBody>
      </p:sp>
      <p:sp>
        <p:nvSpPr>
          <p:cNvPr id="8" name="Shape 5"/>
          <p:cNvSpPr/>
          <p:nvPr/>
        </p:nvSpPr>
        <p:spPr>
          <a:xfrm>
            <a:off x="6675120" y="2240280"/>
            <a:ext cx="4983480" cy="841248"/>
          </a:xfrm>
          <a:prstGeom prst="roundRect">
            <a:avLst>
              <a:gd name="adj" fmla="val 9783"/>
            </a:avLst>
          </a:prstGeom>
          <a:solidFill>
            <a:srgbClr val="FFFFFF"/>
          </a:solidFill>
          <a:ln w="12700">
            <a:solidFill>
              <a:srgbClr val="D7E2E8"/>
            </a:solidFill>
            <a:prstDash val="solid"/>
          </a:ln>
        </p:spPr>
      </p:sp>
      <p:sp>
        <p:nvSpPr>
          <p:cNvPr id="9" name="Text 6"/>
          <p:cNvSpPr/>
          <p:nvPr/>
        </p:nvSpPr>
        <p:spPr>
          <a:xfrm>
            <a:off x="6876288" y="2350008"/>
            <a:ext cx="4572000" cy="292608"/>
          </a:xfrm>
          <a:prstGeom prst="rect">
            <a:avLst/>
          </a:prstGeom>
          <a:noFill/>
          <a:ln/>
        </p:spPr>
        <p:txBody>
          <a:bodyPr wrap="square" lIns="0" tIns="0" rIns="0" bIns="0" rtlCol="0" anchor="ctr"/>
          <a:lstStyle/>
          <a:p>
            <a:pPr indent="0" marL="0">
              <a:buNone/>
            </a:pPr>
            <a:r>
              <a:rPr lang="en-US" sz="1300" b="1" dirty="0">
                <a:solidFill>
                  <a:srgbClr val="0F2A43"/>
                </a:solidFill>
                <a:latin typeface="Montserrat" pitchFamily="34" charset="0"/>
                <a:ea typeface="Montserrat" pitchFamily="34" charset="-122"/>
                <a:cs typeface="Montserrat" pitchFamily="34" charset="-120"/>
              </a:rPr>
              <a:t>Grain</a:t>
            </a:r>
            <a:endParaRPr lang="en-US" sz="1300" dirty="0"/>
          </a:p>
        </p:txBody>
      </p:sp>
      <p:sp>
        <p:nvSpPr>
          <p:cNvPr id="10" name="Text 7"/>
          <p:cNvSpPr/>
          <p:nvPr/>
        </p:nvSpPr>
        <p:spPr>
          <a:xfrm>
            <a:off x="6876288" y="2642616"/>
            <a:ext cx="4617720" cy="384048"/>
          </a:xfrm>
          <a:prstGeom prst="rect">
            <a:avLst/>
          </a:prstGeom>
          <a:noFill/>
          <a:ln/>
        </p:spPr>
        <p:txBody>
          <a:bodyPr wrap="square" lIns="0" tIns="0" rIns="0" bIns="0" rtlCol="0" anchor="ctr"/>
          <a:lstStyle/>
          <a:p>
            <a:pPr indent="0" marL="0">
              <a:lnSpc>
                <a:spcPct val="105000"/>
              </a:lnSpc>
              <a:buNone/>
            </a:pPr>
            <a:r>
              <a:rPr lang="en-US" sz="1130" dirty="0">
                <a:solidFill>
                  <a:srgbClr val="1B2733"/>
                </a:solidFill>
                <a:latin typeface="Montserrat" pitchFamily="34" charset="0"/>
                <a:ea typeface="Montserrat" pitchFamily="34" charset="-122"/>
                <a:cs typeface="Montserrat" pitchFamily="34" charset="-120"/>
              </a:rPr>
              <a:t>many primary units — inverter, switchgear, transformer controls, combiner, SCADA</a:t>
            </a:r>
            <a:endParaRPr lang="en-US" sz="1130" dirty="0"/>
          </a:p>
        </p:txBody>
      </p:sp>
      <p:sp>
        <p:nvSpPr>
          <p:cNvPr id="11" name="Shape 8"/>
          <p:cNvSpPr/>
          <p:nvPr/>
        </p:nvSpPr>
        <p:spPr>
          <a:xfrm>
            <a:off x="6675120" y="3154680"/>
            <a:ext cx="4983480" cy="841248"/>
          </a:xfrm>
          <a:prstGeom prst="roundRect">
            <a:avLst>
              <a:gd name="adj" fmla="val 9783"/>
            </a:avLst>
          </a:prstGeom>
          <a:solidFill>
            <a:srgbClr val="FFFFFF"/>
          </a:solidFill>
          <a:ln w="12700">
            <a:solidFill>
              <a:srgbClr val="D7E2E8"/>
            </a:solidFill>
            <a:prstDash val="solid"/>
          </a:ln>
        </p:spPr>
      </p:sp>
      <p:sp>
        <p:nvSpPr>
          <p:cNvPr id="12" name="Text 9"/>
          <p:cNvSpPr/>
          <p:nvPr/>
        </p:nvSpPr>
        <p:spPr>
          <a:xfrm>
            <a:off x="6876288" y="3264408"/>
            <a:ext cx="4572000" cy="292608"/>
          </a:xfrm>
          <a:prstGeom prst="rect">
            <a:avLst/>
          </a:prstGeom>
          <a:noFill/>
          <a:ln/>
        </p:spPr>
        <p:txBody>
          <a:bodyPr wrap="square" lIns="0" tIns="0" rIns="0" bIns="0" rtlCol="0" anchor="ctr"/>
          <a:lstStyle/>
          <a:p>
            <a:pPr indent="0" marL="0">
              <a:buNone/>
            </a:pPr>
            <a:r>
              <a:rPr lang="en-US" sz="1300" b="1" dirty="0">
                <a:solidFill>
                  <a:srgbClr val="0F2A43"/>
                </a:solidFill>
                <a:latin typeface="Montserrat" pitchFamily="34" charset="0"/>
                <a:ea typeface="Montserrat" pitchFamily="34" charset="-122"/>
                <a:cs typeface="Montserrat" pitchFamily="34" charset="-120"/>
              </a:rPr>
              <a:t>Axis</a:t>
            </a:r>
            <a:endParaRPr lang="en-US" sz="1300" dirty="0"/>
          </a:p>
        </p:txBody>
      </p:sp>
      <p:sp>
        <p:nvSpPr>
          <p:cNvPr id="13" name="Text 10"/>
          <p:cNvSpPr/>
          <p:nvPr/>
        </p:nvSpPr>
        <p:spPr>
          <a:xfrm>
            <a:off x="6876288" y="3557016"/>
            <a:ext cx="4617720" cy="384048"/>
          </a:xfrm>
          <a:prstGeom prst="rect">
            <a:avLst/>
          </a:prstGeom>
          <a:noFill/>
          <a:ln/>
        </p:spPr>
        <p:txBody>
          <a:bodyPr wrap="square" lIns="0" tIns="0" rIns="0" bIns="0" rtlCol="0" anchor="ctr"/>
          <a:lstStyle/>
          <a:p>
            <a:pPr indent="0" marL="0">
              <a:lnSpc>
                <a:spcPct val="105000"/>
              </a:lnSpc>
              <a:buNone/>
            </a:pPr>
            <a:r>
              <a:rPr lang="en-US" sz="1130" dirty="0">
                <a:solidFill>
                  <a:srgbClr val="1B2733"/>
                </a:solidFill>
                <a:latin typeface="Montserrat" pitchFamily="34" charset="0"/>
                <a:ea typeface="Montserrat" pitchFamily="34" charset="-122"/>
                <a:cs typeface="Montserrat" pitchFamily="34" charset="-120"/>
              </a:rPr>
              <a:t>local water depth above each component datum (+ a velocity/scour proxy)</a:t>
            </a:r>
            <a:endParaRPr lang="en-US" sz="1130" dirty="0"/>
          </a:p>
        </p:txBody>
      </p:sp>
      <p:sp>
        <p:nvSpPr>
          <p:cNvPr id="14" name="Shape 11"/>
          <p:cNvSpPr/>
          <p:nvPr/>
        </p:nvSpPr>
        <p:spPr>
          <a:xfrm>
            <a:off x="6675120" y="4069080"/>
            <a:ext cx="4983480" cy="841248"/>
          </a:xfrm>
          <a:prstGeom prst="roundRect">
            <a:avLst>
              <a:gd name="adj" fmla="val 9783"/>
            </a:avLst>
          </a:prstGeom>
          <a:solidFill>
            <a:srgbClr val="FFFFFF"/>
          </a:solidFill>
          <a:ln w="12700">
            <a:solidFill>
              <a:srgbClr val="D7E2E8"/>
            </a:solidFill>
            <a:prstDash val="solid"/>
          </a:ln>
        </p:spPr>
      </p:sp>
      <p:sp>
        <p:nvSpPr>
          <p:cNvPr id="15" name="Text 12"/>
          <p:cNvSpPr/>
          <p:nvPr/>
        </p:nvSpPr>
        <p:spPr>
          <a:xfrm>
            <a:off x="6876288" y="4178808"/>
            <a:ext cx="4572000" cy="292608"/>
          </a:xfrm>
          <a:prstGeom prst="rect">
            <a:avLst/>
          </a:prstGeom>
          <a:noFill/>
          <a:ln/>
        </p:spPr>
        <p:txBody>
          <a:bodyPr wrap="square" lIns="0" tIns="0" rIns="0" bIns="0" rtlCol="0" anchor="ctr"/>
          <a:lstStyle/>
          <a:p>
            <a:pPr indent="0" marL="0">
              <a:buNone/>
            </a:pPr>
            <a:r>
              <a:rPr lang="en-US" sz="1300" b="1" dirty="0">
                <a:solidFill>
                  <a:srgbClr val="0F2A43"/>
                </a:solidFill>
                <a:latin typeface="Montserrat" pitchFamily="34" charset="0"/>
                <a:ea typeface="Montserrat" pitchFamily="34" charset="-122"/>
                <a:cs typeface="Montserrat" pitchFamily="34" charset="-120"/>
              </a:rPr>
              <a:t>Form</a:t>
            </a:r>
            <a:endParaRPr lang="en-US" sz="1300" dirty="0"/>
          </a:p>
        </p:txBody>
      </p:sp>
      <p:sp>
        <p:nvSpPr>
          <p:cNvPr id="16" name="Text 13"/>
          <p:cNvSpPr/>
          <p:nvPr/>
        </p:nvSpPr>
        <p:spPr>
          <a:xfrm>
            <a:off x="6876288" y="4471416"/>
            <a:ext cx="4617720" cy="384048"/>
          </a:xfrm>
          <a:prstGeom prst="rect">
            <a:avLst/>
          </a:prstGeom>
          <a:noFill/>
          <a:ln/>
        </p:spPr>
        <p:txBody>
          <a:bodyPr wrap="square" lIns="0" tIns="0" rIns="0" bIns="0" rtlCol="0" anchor="ctr"/>
          <a:lstStyle/>
          <a:p>
            <a:pPr indent="0" marL="0">
              <a:lnSpc>
                <a:spcPct val="105000"/>
              </a:lnSpc>
              <a:buNone/>
            </a:pPr>
            <a:r>
              <a:rPr lang="en-US" sz="1130" dirty="0">
                <a:solidFill>
                  <a:srgbClr val="1B2733"/>
                </a:solidFill>
                <a:latin typeface="Montserrat" pitchFamily="34" charset="0"/>
                <a:ea typeface="Montserrat" pitchFamily="34" charset="-122"/>
                <a:cs typeface="Montserrat" pitchFamily="34" charset="-120"/>
              </a:rPr>
              <a:t>piecewise-linear / state — water is in, or it isn't</a:t>
            </a:r>
            <a:endParaRPr lang="en-US" sz="1130" dirty="0"/>
          </a:p>
        </p:txBody>
      </p:sp>
      <p:sp>
        <p:nvSpPr>
          <p:cNvPr id="17" name="Shape 14"/>
          <p:cNvSpPr/>
          <p:nvPr/>
        </p:nvSpPr>
        <p:spPr>
          <a:xfrm>
            <a:off x="6675120" y="4983480"/>
            <a:ext cx="4983480" cy="841248"/>
          </a:xfrm>
          <a:prstGeom prst="roundRect">
            <a:avLst>
              <a:gd name="adj" fmla="val 9783"/>
            </a:avLst>
          </a:prstGeom>
          <a:solidFill>
            <a:srgbClr val="FFFFFF"/>
          </a:solidFill>
          <a:ln w="12700">
            <a:solidFill>
              <a:srgbClr val="D7E2E8"/>
            </a:solidFill>
            <a:prstDash val="solid"/>
          </a:ln>
        </p:spPr>
      </p:sp>
      <p:sp>
        <p:nvSpPr>
          <p:cNvPr id="18" name="Text 15"/>
          <p:cNvSpPr/>
          <p:nvPr/>
        </p:nvSpPr>
        <p:spPr>
          <a:xfrm>
            <a:off x="6876288" y="5093208"/>
            <a:ext cx="4572000" cy="292608"/>
          </a:xfrm>
          <a:prstGeom prst="rect">
            <a:avLst/>
          </a:prstGeom>
          <a:noFill/>
          <a:ln/>
        </p:spPr>
        <p:txBody>
          <a:bodyPr wrap="square" lIns="0" tIns="0" rIns="0" bIns="0" rtlCol="0" anchor="ctr"/>
          <a:lstStyle/>
          <a:p>
            <a:pPr indent="0" marL="0">
              <a:buNone/>
            </a:pPr>
            <a:r>
              <a:rPr lang="en-US" sz="1300" b="1" dirty="0">
                <a:solidFill>
                  <a:srgbClr val="0F2A43"/>
                </a:solidFill>
                <a:latin typeface="Montserrat" pitchFamily="34" charset="0"/>
                <a:ea typeface="Montserrat" pitchFamily="34" charset="-122"/>
                <a:cs typeface="Montserrat" pitchFamily="34" charset="-120"/>
              </a:rPr>
              <a:t>Exposure f</a:t>
            </a:r>
            <a:endParaRPr lang="en-US" sz="1300" dirty="0"/>
          </a:p>
        </p:txBody>
      </p:sp>
      <p:sp>
        <p:nvSpPr>
          <p:cNvPr id="19" name="Text 16"/>
          <p:cNvSpPr/>
          <p:nvPr/>
        </p:nvSpPr>
        <p:spPr>
          <a:xfrm>
            <a:off x="6876288" y="5385816"/>
            <a:ext cx="4617720" cy="384048"/>
          </a:xfrm>
          <a:prstGeom prst="rect">
            <a:avLst/>
          </a:prstGeom>
          <a:noFill/>
          <a:ln/>
        </p:spPr>
        <p:txBody>
          <a:bodyPr wrap="square" lIns="0" tIns="0" rIns="0" bIns="0" rtlCol="0" anchor="ctr"/>
          <a:lstStyle/>
          <a:p>
            <a:pPr indent="0" marL="0">
              <a:lnSpc>
                <a:spcPct val="105000"/>
              </a:lnSpc>
              <a:buNone/>
            </a:pPr>
            <a:r>
              <a:rPr lang="en-US" sz="1130" dirty="0">
                <a:solidFill>
                  <a:srgbClr val="1B2733"/>
                </a:solidFill>
                <a:latin typeface="Montserrat" pitchFamily="34" charset="0"/>
                <a:ea typeface="Montserrat" pitchFamily="34" charset="-122"/>
                <a:cs typeface="Montserrat" pitchFamily="34" charset="-120"/>
              </a:rPr>
              <a:t>site geometry &amp; elevation, not material / BOM share</a:t>
            </a:r>
            <a:endParaRPr lang="en-US" sz="1130" dirty="0"/>
          </a:p>
        </p:txBody>
      </p:sp>
      <p:sp>
        <p:nvSpPr>
          <p:cNvPr id="20" name="Text 17"/>
          <p:cNvSpPr/>
          <p:nvPr/>
        </p:nvSpPr>
        <p:spPr>
          <a:xfrm>
            <a:off x="6675120" y="5943600"/>
            <a:ext cx="4983480" cy="457200"/>
          </a:xfrm>
          <a:prstGeom prst="rect">
            <a:avLst/>
          </a:prstGeom>
          <a:noFill/>
          <a:ln/>
        </p:spPr>
        <p:txBody>
          <a:bodyPr wrap="square" lIns="0" tIns="0" rIns="0" bIns="0" rtlCol="0" anchor="ctr"/>
          <a:lstStyle/>
          <a:p>
            <a:pPr indent="0" marL="0">
              <a:lnSpc>
                <a:spcPct val="110000"/>
              </a:lnSpc>
              <a:buNone/>
            </a:pPr>
            <a:r>
              <a:rPr lang="en-US" sz="1100" i="1" dirty="0">
                <a:solidFill>
                  <a:srgbClr val="5B7184"/>
                </a:solidFill>
                <a:latin typeface="Montserrat" pitchFamily="34" charset="0"/>
                <a:ea typeface="Montserrat" pitchFamily="34" charset="-122"/>
                <a:cs typeface="Montserrat" pitchFamily="34" charset="-120"/>
              </a:rPr>
              <a:t>Same pipeline, same contract — the grain, axis, and form just resolve differently for the hazard. That portability is the whole point.</a:t>
            </a:r>
            <a:endParaRPr lang="en-US" sz="1100" dirty="0"/>
          </a:p>
        </p:txBody>
      </p:sp>
      <p:sp>
        <p:nvSpPr>
          <p:cNvPr id="21" name="Text 18"/>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22" name="Text 19"/>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01_cells/flood_solar/current (README v1.0)</a:t>
            </a:r>
            <a:endParaRPr lang="en-US" sz="7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16</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14919B"/>
                </a:solidFill>
                <a:latin typeface="Montserrat" pitchFamily="34" charset="0"/>
                <a:ea typeface="Montserrat" pitchFamily="34" charset="-122"/>
                <a:cs typeface="Montserrat" pitchFamily="34" charset="-120"/>
              </a:rPr>
              <a:t>THE HONEST STATE OF THE WORK</a:t>
            </a:r>
            <a:endParaRPr lang="en-US" sz="1250" dirty="0"/>
          </a:p>
        </p:txBody>
      </p:sp>
      <p:sp>
        <p:nvSpPr>
          <p:cNvPr id="4" name="Text 2"/>
          <p:cNvSpPr/>
          <p:nvPr/>
        </p:nvSpPr>
        <p:spPr>
          <a:xfrm>
            <a:off x="566928" y="786384"/>
            <a:ext cx="11155680" cy="914400"/>
          </a:xfrm>
          <a:prstGeom prst="rect">
            <a:avLst/>
          </a:prstGeom>
          <a:noFill/>
          <a:ln/>
        </p:spPr>
        <p:txBody>
          <a:bodyPr wrap="square" lIns="0" tIns="0" rIns="0" bIns="0" rtlCol="0" anchor="t"/>
          <a:lstStyle/>
          <a:p>
            <a:pPr algn="l" indent="0" marL="0">
              <a:lnSpc>
                <a:spcPct val="98000"/>
              </a:lnSpc>
              <a:buNone/>
            </a:pPr>
            <a:r>
              <a:rPr lang="en-US" sz="2600" b="1" dirty="0">
                <a:solidFill>
                  <a:srgbClr val="0F2A43"/>
                </a:solidFill>
                <a:latin typeface="Montserrat" pitchFamily="34" charset="0"/>
                <a:ea typeface="Montserrat" pitchFamily="34" charset="-122"/>
                <a:cs typeface="Montserrat" pitchFamily="34" charset="-120"/>
              </a:rPr>
              <a:t>Method is mature; evidence is young — and that's managed</a:t>
            </a:r>
            <a:endParaRPr lang="en-US" sz="2600" dirty="0"/>
          </a:p>
        </p:txBody>
      </p:sp>
      <p:sp>
        <p:nvSpPr>
          <p:cNvPr id="5" name="Shape 3"/>
          <p:cNvSpPr/>
          <p:nvPr/>
        </p:nvSpPr>
        <p:spPr>
          <a:xfrm>
            <a:off x="566928" y="1920240"/>
            <a:ext cx="3611880" cy="3931920"/>
          </a:xfrm>
          <a:prstGeom prst="roundRect">
            <a:avLst>
              <a:gd name="adj" fmla="val 2278"/>
            </a:avLst>
          </a:prstGeom>
          <a:solidFill>
            <a:srgbClr val="D7EEF1"/>
          </a:solidFill>
          <a:ln w="19050">
            <a:solidFill>
              <a:srgbClr val="14919B"/>
            </a:solidFill>
            <a:prstDash val="solid"/>
          </a:ln>
          <a:effectLst>
            <a:outerShdw sx="100000" sy="100000" kx="0" ky="0" algn="bl" rotWithShape="0" blurRad="114300" dist="38100" dir="5400000">
              <a:srgbClr val="0F2A43">
                <a:alpha val="13000"/>
              </a:srgbClr>
            </a:outerShdw>
          </a:effectLst>
        </p:spPr>
      </p:sp>
      <p:sp>
        <p:nvSpPr>
          <p:cNvPr id="6" name="Text 4"/>
          <p:cNvSpPr/>
          <p:nvPr/>
        </p:nvSpPr>
        <p:spPr>
          <a:xfrm>
            <a:off x="822960" y="2103120"/>
            <a:ext cx="3108960" cy="329184"/>
          </a:xfrm>
          <a:prstGeom prst="rect">
            <a:avLst/>
          </a:prstGeom>
          <a:noFill/>
          <a:ln/>
        </p:spPr>
        <p:txBody>
          <a:bodyPr wrap="square" lIns="0" tIns="0" rIns="0" bIns="0" rtlCol="0" anchor="ctr"/>
          <a:lstStyle/>
          <a:p>
            <a:pPr indent="0" marL="0">
              <a:buNone/>
            </a:pPr>
            <a:r>
              <a:rPr lang="en-US" sz="1400" b="1" dirty="0">
                <a:solidFill>
                  <a:srgbClr val="0F2A43"/>
                </a:solidFill>
                <a:latin typeface="Montserrat" pitchFamily="34" charset="0"/>
                <a:ea typeface="Montserrat" pitchFamily="34" charset="-122"/>
                <a:cs typeface="Montserrat" pitchFamily="34" charset="-120"/>
              </a:rPr>
              <a:t>Method  (new work)</a:t>
            </a:r>
            <a:endParaRPr lang="en-US" sz="1400" dirty="0"/>
          </a:p>
        </p:txBody>
      </p:sp>
      <p:sp>
        <p:nvSpPr>
          <p:cNvPr id="7" name="Text 5"/>
          <p:cNvSpPr/>
          <p:nvPr/>
        </p:nvSpPr>
        <p:spPr>
          <a:xfrm>
            <a:off x="822960" y="2432304"/>
            <a:ext cx="3108960" cy="310896"/>
          </a:xfrm>
          <a:prstGeom prst="rect">
            <a:avLst/>
          </a:prstGeom>
          <a:noFill/>
          <a:ln/>
        </p:spPr>
        <p:txBody>
          <a:bodyPr wrap="square" lIns="0" tIns="0" rIns="0" bIns="0" rtlCol="0" anchor="ctr"/>
          <a:lstStyle/>
          <a:p>
            <a:pPr indent="0" marL="0">
              <a:buNone/>
            </a:pPr>
            <a:r>
              <a:rPr lang="en-US" sz="1150" i="1" dirty="0">
                <a:solidFill>
                  <a:srgbClr val="14919B"/>
                </a:solidFill>
                <a:latin typeface="Montserrat" pitchFamily="34" charset="0"/>
                <a:ea typeface="Montserrat" pitchFamily="34" charset="-122"/>
                <a:cs typeface="Montserrat" pitchFamily="34" charset="-120"/>
              </a:rPr>
              <a:t>Deep &amp; right — keep all of it</a:t>
            </a:r>
            <a:endParaRPr lang="en-US" sz="1150" dirty="0"/>
          </a:p>
        </p:txBody>
      </p:sp>
      <p:sp>
        <p:nvSpPr>
          <p:cNvPr id="8" name="Text 6"/>
          <p:cNvSpPr/>
          <p:nvPr/>
        </p:nvSpPr>
        <p:spPr>
          <a:xfrm>
            <a:off x="822960" y="2880360"/>
            <a:ext cx="3200400" cy="2651760"/>
          </a:xfrm>
          <a:prstGeom prst="rect">
            <a:avLst/>
          </a:prstGeom>
          <a:noFill/>
          <a:ln/>
        </p:spPr>
        <p:txBody>
          <a:bodyPr wrap="square" lIns="0" tIns="0" rIns="0" bIns="0" rtlCol="0" anchor="ctr"/>
          <a:lstStyle/>
          <a:p>
            <a:pPr marL="152400" indent="-152400">
              <a:spcAft>
                <a:spcPts val="700"/>
              </a:spcAft>
              <a:buSzPct val="100000"/>
              <a:buChar char="•"/>
            </a:pPr>
            <a:r>
              <a:rPr lang="en-US" sz="1200" dirty="0">
                <a:solidFill>
                  <a:srgbClr val="1B2733"/>
                </a:solidFill>
                <a:latin typeface="Montserrat" pitchFamily="34" charset="0"/>
                <a:ea typeface="Montserrat" pitchFamily="34" charset="-122"/>
                <a:cs typeface="Montserrat" pitchFamily="34" charset="-120"/>
              </a:rPr>
              <a:t>CELL → failure-unit architecture</a:t>
            </a:r>
            <a:endParaRPr lang="en-US" sz="1200" dirty="0"/>
          </a:p>
          <a:p>
            <a:pPr marL="152400" indent="-152400">
              <a:spcAft>
                <a:spcPts val="700"/>
              </a:spcAft>
              <a:buSzPct val="100000"/>
              <a:buChar char="•"/>
            </a:pPr>
            <a:r>
              <a:rPr lang="en-US" sz="1200" dirty="0">
                <a:solidFill>
                  <a:srgbClr val="1B2733"/>
                </a:solidFill>
                <a:latin typeface="Montserrat" pitchFamily="34" charset="0"/>
                <a:ea typeface="Montserrat" pitchFamily="34" charset="-122"/>
                <a:cs typeface="Montserrat" pitchFamily="34" charset="-120"/>
              </a:rPr>
              <a:t>coverage roles</a:t>
            </a:r>
            <a:endParaRPr lang="en-US" sz="1200" dirty="0"/>
          </a:p>
          <a:p>
            <a:pPr marL="152400" indent="-152400">
              <a:spcAft>
                <a:spcPts val="700"/>
              </a:spcAft>
              <a:buSzPct val="100000"/>
              <a:buChar char="•"/>
            </a:pPr>
            <a:r>
              <a:rPr lang="en-US" sz="1200" dirty="0">
                <a:solidFill>
                  <a:srgbClr val="1B2733"/>
                </a:solidFill>
                <a:latin typeface="Montserrat" pitchFamily="34" charset="0"/>
                <a:ea typeface="Montserrat" pitchFamily="34" charset="-122"/>
                <a:cs typeface="Montserrat" pitchFamily="34" charset="-120"/>
              </a:rPr>
              <a:t>provenance discipline</a:t>
            </a:r>
            <a:endParaRPr lang="en-US" sz="1200" dirty="0"/>
          </a:p>
          <a:p>
            <a:pPr marL="152400" indent="-152400">
              <a:buSzPct val="100000"/>
              <a:buChar char="•"/>
            </a:pPr>
            <a:r>
              <a:rPr lang="en-US" sz="1200" dirty="0">
                <a:solidFill>
                  <a:srgbClr val="1B2733"/>
                </a:solidFill>
                <a:latin typeface="Montserrat" pitchFamily="34" charset="0"/>
                <a:ea typeface="Montserrat" pitchFamily="34" charset="-122"/>
                <a:cs typeface="Montserrat" pitchFamily="34" charset="-120"/>
              </a:rPr>
              <a:t>emit / tail-honesty resolution</a:t>
            </a:r>
            <a:endParaRPr lang="en-US" sz="1200" dirty="0"/>
          </a:p>
        </p:txBody>
      </p:sp>
      <p:sp>
        <p:nvSpPr>
          <p:cNvPr id="9" name="Shape 7"/>
          <p:cNvSpPr/>
          <p:nvPr/>
        </p:nvSpPr>
        <p:spPr>
          <a:xfrm>
            <a:off x="4361688" y="1920240"/>
            <a:ext cx="3611880" cy="3931920"/>
          </a:xfrm>
          <a:prstGeom prst="roundRect">
            <a:avLst>
              <a:gd name="adj" fmla="val 2278"/>
            </a:avLst>
          </a:prstGeom>
          <a:solidFill>
            <a:srgbClr val="FFFFFF"/>
          </a:solidFill>
          <a:ln w="12700">
            <a:solidFill>
              <a:srgbClr val="D7E2E8"/>
            </a:solidFill>
            <a:prstDash val="solid"/>
          </a:ln>
          <a:effectLst>
            <a:outerShdw sx="100000" sy="100000" kx="0" ky="0" algn="bl" rotWithShape="0" blurRad="114300" dist="38100" dir="5400000">
              <a:srgbClr val="0F2A43">
                <a:alpha val="13000"/>
              </a:srgbClr>
            </a:outerShdw>
          </a:effectLst>
        </p:spPr>
      </p:sp>
      <p:sp>
        <p:nvSpPr>
          <p:cNvPr id="10" name="Text 8"/>
          <p:cNvSpPr/>
          <p:nvPr/>
        </p:nvSpPr>
        <p:spPr>
          <a:xfrm>
            <a:off x="4617720" y="2103120"/>
            <a:ext cx="3108960" cy="329184"/>
          </a:xfrm>
          <a:prstGeom prst="rect">
            <a:avLst/>
          </a:prstGeom>
          <a:noFill/>
          <a:ln/>
        </p:spPr>
        <p:txBody>
          <a:bodyPr wrap="square" lIns="0" tIns="0" rIns="0" bIns="0" rtlCol="0" anchor="ctr"/>
          <a:lstStyle/>
          <a:p>
            <a:pPr indent="0" marL="0">
              <a:buNone/>
            </a:pPr>
            <a:r>
              <a:rPr lang="en-US" sz="1400" b="1" dirty="0">
                <a:solidFill>
                  <a:srgbClr val="0F2A43"/>
                </a:solidFill>
                <a:latin typeface="Montserrat" pitchFamily="34" charset="0"/>
                <a:ea typeface="Montserrat" pitchFamily="34" charset="-122"/>
                <a:cs typeface="Montserrat" pitchFamily="34" charset="-120"/>
              </a:rPr>
              <a:t>Evidence  (new work)</a:t>
            </a:r>
            <a:endParaRPr lang="en-US" sz="1400" dirty="0"/>
          </a:p>
        </p:txBody>
      </p:sp>
      <p:sp>
        <p:nvSpPr>
          <p:cNvPr id="11" name="Text 9"/>
          <p:cNvSpPr/>
          <p:nvPr/>
        </p:nvSpPr>
        <p:spPr>
          <a:xfrm>
            <a:off x="4617720" y="2432304"/>
            <a:ext cx="3200400" cy="310896"/>
          </a:xfrm>
          <a:prstGeom prst="rect">
            <a:avLst/>
          </a:prstGeom>
          <a:noFill/>
          <a:ln/>
        </p:spPr>
        <p:txBody>
          <a:bodyPr wrap="square" lIns="0" tIns="0" rIns="0" bIns="0" rtlCol="0" anchor="ctr"/>
          <a:lstStyle/>
          <a:p>
            <a:pPr indent="0" marL="0">
              <a:buNone/>
            </a:pPr>
            <a:r>
              <a:rPr lang="en-US" sz="1150" i="1" dirty="0">
                <a:solidFill>
                  <a:srgbClr val="E0A458"/>
                </a:solidFill>
                <a:latin typeface="Montserrat" pitchFamily="34" charset="0"/>
                <a:ea typeface="Montserrat" pitchFamily="34" charset="-122"/>
                <a:cs typeface="Montserrat" pitchFamily="34" charset="-120"/>
              </a:rPr>
              <a:t>Young — public-derived, not claims-calibrated</a:t>
            </a:r>
            <a:endParaRPr lang="en-US" sz="1150" dirty="0"/>
          </a:p>
        </p:txBody>
      </p:sp>
      <p:sp>
        <p:nvSpPr>
          <p:cNvPr id="12" name="Text 10"/>
          <p:cNvSpPr/>
          <p:nvPr/>
        </p:nvSpPr>
        <p:spPr>
          <a:xfrm>
            <a:off x="4617720" y="2880360"/>
            <a:ext cx="3246120" cy="2651760"/>
          </a:xfrm>
          <a:prstGeom prst="rect">
            <a:avLst/>
          </a:prstGeom>
          <a:noFill/>
          <a:ln/>
        </p:spPr>
        <p:txBody>
          <a:bodyPr wrap="square" lIns="0" tIns="0" rIns="0" bIns="0" rtlCol="0" anchor="ctr"/>
          <a:lstStyle/>
          <a:p>
            <a:pPr marL="152400" indent="-152400">
              <a:spcAft>
                <a:spcPts val="700"/>
              </a:spcAft>
              <a:buSzPct val="100000"/>
              <a:buChar char="•"/>
            </a:pPr>
            <a:r>
              <a:rPr lang="en-US" sz="1200" dirty="0">
                <a:solidFill>
                  <a:srgbClr val="1B2733"/>
                </a:solidFill>
                <a:latin typeface="Montserrat" pitchFamily="34" charset="0"/>
                <a:ea typeface="Montserrat" pitchFamily="34" charset="-122"/>
                <a:cs typeface="Montserrat" pitchFamily="34" charset="-120"/>
              </a:rPr>
              <a:t>all 3 cells public-source-derived</a:t>
            </a:r>
            <a:endParaRPr lang="en-US" sz="1200" dirty="0"/>
          </a:p>
          <a:p>
            <a:pPr marL="152400" indent="-152400">
              <a:spcAft>
                <a:spcPts val="700"/>
              </a:spcAft>
              <a:buSzPct val="100000"/>
              <a:buChar char="•"/>
            </a:pPr>
            <a:r>
              <a:rPr lang="en-US" sz="1200" dirty="0">
                <a:solidFill>
                  <a:srgbClr val="1B2733"/>
                </a:solidFill>
                <a:latin typeface="Montserrat" pitchFamily="34" charset="0"/>
                <a:ea typeface="Montserrat" pitchFamily="34" charset="-122"/>
                <a:cs typeface="Montserrat" pitchFamily="34" charset="-120"/>
              </a:rPr>
              <a:t>load-bearing placeholders</a:t>
            </a:r>
            <a:endParaRPr lang="en-US" sz="1200" dirty="0"/>
          </a:p>
          <a:p>
            <a:pPr lvl="1" marL="304800" indent="-152400">
              <a:spcAft>
                <a:spcPts val="700"/>
              </a:spcAft>
              <a:buSzPct val="100000"/>
              <a:buChar char="•"/>
            </a:pPr>
            <a:r>
              <a:rPr lang="en-US" sz="1200" dirty="0">
                <a:solidFill>
                  <a:srgbClr val="5B7184"/>
                </a:solidFill>
                <a:latin typeface="Montserrat" pitchFamily="34" charset="0"/>
                <a:ea typeface="Montserrat" pitchFamily="34" charset="-122"/>
                <a:cs typeface="Montserrat" pitchFamily="34" charset="-120"/>
              </a:rPr>
              <a:t>hail stow +8 mm (T4)</a:t>
            </a:r>
            <a:endParaRPr lang="en-US" sz="1200" dirty="0"/>
          </a:p>
          <a:p>
            <a:pPr lvl="1" marL="304800" indent="-152400">
              <a:buSzPct val="100000"/>
              <a:buChar char="•"/>
            </a:pPr>
            <a:r>
              <a:rPr lang="en-US" sz="1200" dirty="0">
                <a:solidFill>
                  <a:srgbClr val="5B7184"/>
                </a:solidFill>
                <a:latin typeface="Montserrat" pitchFamily="34" charset="0"/>
                <a:ea typeface="Montserrat" pitchFamily="34" charset="-122"/>
                <a:cs typeface="Montserrat" pitchFamily="34" charset="-120"/>
              </a:rPr>
              <a:t>flood scour proxy; wind D50/k partly one case</a:t>
            </a:r>
            <a:endParaRPr lang="en-US" sz="1200" dirty="0"/>
          </a:p>
        </p:txBody>
      </p:sp>
      <p:sp>
        <p:nvSpPr>
          <p:cNvPr id="13" name="Shape 11"/>
          <p:cNvSpPr/>
          <p:nvPr/>
        </p:nvSpPr>
        <p:spPr>
          <a:xfrm>
            <a:off x="8156448" y="1920240"/>
            <a:ext cx="3474720" cy="3931920"/>
          </a:xfrm>
          <a:prstGeom prst="roundRect">
            <a:avLst>
              <a:gd name="adj" fmla="val 2368"/>
            </a:avLst>
          </a:prstGeom>
          <a:solidFill>
            <a:srgbClr val="0F2A43"/>
          </a:solidFill>
          <a:ln w="12700">
            <a:solidFill>
              <a:srgbClr val="0F2A43"/>
            </a:solidFill>
            <a:prstDash val="solid"/>
          </a:ln>
          <a:effectLst>
            <a:outerShdw sx="100000" sy="100000" kx="0" ky="0" algn="bl" rotWithShape="0" blurRad="114300" dist="38100" dir="5400000">
              <a:srgbClr val="0F2A43">
                <a:alpha val="13000"/>
              </a:srgbClr>
            </a:outerShdw>
          </a:effectLst>
        </p:spPr>
      </p:sp>
      <p:sp>
        <p:nvSpPr>
          <p:cNvPr id="14" name="Text 12"/>
          <p:cNvSpPr/>
          <p:nvPr/>
        </p:nvSpPr>
        <p:spPr>
          <a:xfrm>
            <a:off x="8412480" y="2103120"/>
            <a:ext cx="3017520" cy="329184"/>
          </a:xfrm>
          <a:prstGeom prst="rect">
            <a:avLst/>
          </a:prstGeom>
          <a:noFill/>
          <a:ln/>
        </p:spPr>
        <p:txBody>
          <a:bodyPr wrap="square" lIns="0" tIns="0" rIns="0" bIns="0" rtlCol="0" anchor="ctr"/>
          <a:lstStyle/>
          <a:p>
            <a:pPr indent="0" marL="0">
              <a:buNone/>
            </a:pPr>
            <a:r>
              <a:rPr lang="en-US" sz="1400" b="1" dirty="0">
                <a:solidFill>
                  <a:srgbClr val="E0A458"/>
                </a:solidFill>
                <a:latin typeface="Montserrat" pitchFamily="34" charset="0"/>
                <a:ea typeface="Montserrat" pitchFamily="34" charset="-122"/>
                <a:cs typeface="Montserrat" pitchFamily="34" charset="-120"/>
              </a:rPr>
              <a:t>The bridge</a:t>
            </a:r>
            <a:endParaRPr lang="en-US" sz="1400" dirty="0"/>
          </a:p>
        </p:txBody>
      </p:sp>
      <p:sp>
        <p:nvSpPr>
          <p:cNvPr id="15" name="Text 13"/>
          <p:cNvSpPr/>
          <p:nvPr/>
        </p:nvSpPr>
        <p:spPr>
          <a:xfrm>
            <a:off x="8412480" y="2432304"/>
            <a:ext cx="3017520" cy="310896"/>
          </a:xfrm>
          <a:prstGeom prst="rect">
            <a:avLst/>
          </a:prstGeom>
          <a:noFill/>
          <a:ln/>
        </p:spPr>
        <p:txBody>
          <a:bodyPr wrap="square" lIns="0" tIns="0" rIns="0" bIns="0" rtlCol="0" anchor="ctr"/>
          <a:lstStyle/>
          <a:p>
            <a:pPr indent="0" marL="0">
              <a:buNone/>
            </a:pPr>
            <a:r>
              <a:rPr lang="en-US" sz="1150" i="1" dirty="0">
                <a:solidFill>
                  <a:srgbClr val="2DB7C3"/>
                </a:solidFill>
                <a:latin typeface="Montserrat" pitchFamily="34" charset="0"/>
                <a:ea typeface="Montserrat" pitchFamily="34" charset="-122"/>
                <a:cs typeface="Montserrat" pitchFamily="34" charset="-120"/>
              </a:rPr>
              <a:t>Standard 16 — reference ingestion</a:t>
            </a:r>
            <a:endParaRPr lang="en-US" sz="1150" dirty="0"/>
          </a:p>
        </p:txBody>
      </p:sp>
      <p:sp>
        <p:nvSpPr>
          <p:cNvPr id="16" name="Text 14"/>
          <p:cNvSpPr/>
          <p:nvPr/>
        </p:nvSpPr>
        <p:spPr>
          <a:xfrm>
            <a:off x="8412480" y="2880360"/>
            <a:ext cx="3017520" cy="1554480"/>
          </a:xfrm>
          <a:prstGeom prst="rect">
            <a:avLst/>
          </a:prstGeom>
          <a:noFill/>
          <a:ln/>
        </p:spPr>
        <p:txBody>
          <a:bodyPr wrap="square" lIns="0" tIns="0" rIns="0" bIns="0" rtlCol="0" anchor="ctr"/>
          <a:lstStyle/>
          <a:p>
            <a:pPr indent="0" marL="0">
              <a:lnSpc>
                <a:spcPct val="118000"/>
              </a:lnSpc>
              <a:buNone/>
            </a:pPr>
            <a:r>
              <a:rPr lang="en-US" sz="1200" dirty="0">
                <a:solidFill>
                  <a:srgbClr val="D7EEF1"/>
                </a:solidFill>
                <a:latin typeface="Montserrat" pitchFamily="34" charset="0"/>
                <a:ea typeface="Montserrat" pitchFamily="34" charset="-122"/>
                <a:cs typeface="Montserrat" pitchFamily="34" charset="-120"/>
              </a:rPr>
              <a:t>Absorb the old repo's strong evidence the right way: intake → triage → axis-compatibility → source-to-parameter map → impact → version bump.</a:t>
            </a:r>
            <a:endParaRPr lang="en-US" sz="1200" dirty="0"/>
          </a:p>
        </p:txBody>
      </p:sp>
      <p:sp>
        <p:nvSpPr>
          <p:cNvPr id="17" name="Text 15"/>
          <p:cNvSpPr/>
          <p:nvPr/>
        </p:nvSpPr>
        <p:spPr>
          <a:xfrm>
            <a:off x="8412480" y="4617720"/>
            <a:ext cx="3017520" cy="1097280"/>
          </a:xfrm>
          <a:prstGeom prst="rect">
            <a:avLst/>
          </a:prstGeom>
          <a:noFill/>
          <a:ln/>
        </p:spPr>
        <p:txBody>
          <a:bodyPr wrap="square" lIns="0" tIns="0" rIns="0" bIns="0" rtlCol="0" anchor="ctr"/>
          <a:lstStyle/>
          <a:p>
            <a:pPr indent="0" marL="0">
              <a:lnSpc>
                <a:spcPct val="118000"/>
              </a:lnSpc>
              <a:buNone/>
            </a:pPr>
            <a:r>
              <a:rPr lang="en-US" sz="1200" b="1" dirty="0">
                <a:solidFill>
                  <a:srgbClr val="D7EEF1"/>
                </a:solidFill>
                <a:latin typeface="Montserrat" pitchFamily="34" charset="0"/>
                <a:ea typeface="Montserrat" pitchFamily="34" charset="-122"/>
                <a:cs typeface="Montserrat" pitchFamily="34" charset="-120"/>
              </a:rPr>
              <a:t>Method from the new work; evidence from the old. A maturity badge travels with every runtime curve.</a:t>
            </a:r>
            <a:endParaRPr lang="en-US" sz="1200" dirty="0"/>
          </a:p>
        </p:txBody>
      </p:sp>
      <p:sp>
        <p:nvSpPr>
          <p:cNvPr id="18" name="Text 16"/>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19" name="Text 17"/>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docs/damage_curves/SCOPE_AND_STORY.md §7 · standard 16</a:t>
            </a:r>
            <a:endParaRPr lang="en-US" sz="7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A43"/>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8FA6B5"/>
                </a:solidFill>
                <a:latin typeface="Montserrat" pitchFamily="34" charset="0"/>
                <a:ea typeface="Montserrat" pitchFamily="34" charset="-122"/>
                <a:cs typeface="Montserrat" pitchFamily="34" charset="-120"/>
              </a:rPr>
              <a:t>17</a:t>
            </a:r>
            <a:endParaRPr lang="en-US" sz="950" dirty="0"/>
          </a:p>
        </p:txBody>
      </p:sp>
      <p:sp>
        <p:nvSpPr>
          <p:cNvPr id="3" name="Shape 1"/>
          <p:cNvSpPr/>
          <p:nvPr/>
        </p:nvSpPr>
        <p:spPr>
          <a:xfrm>
            <a:off x="-1645920" y="3657600"/>
            <a:ext cx="5029200" cy="5029200"/>
          </a:xfrm>
          <a:prstGeom prst="ellipse">
            <a:avLst/>
          </a:prstGeom>
          <a:solidFill>
            <a:srgbClr val="1B3B57"/>
          </a:solidFill>
          <a:ln/>
        </p:spPr>
      </p:sp>
      <p:sp>
        <p:nvSpPr>
          <p:cNvPr id="4" name="Text 2"/>
          <p:cNvSpPr/>
          <p:nvPr/>
        </p:nvSpPr>
        <p:spPr>
          <a:xfrm>
            <a:off x="566928" y="640080"/>
            <a:ext cx="7315200" cy="292608"/>
          </a:xfrm>
          <a:prstGeom prst="rect">
            <a:avLst/>
          </a:prstGeom>
          <a:noFill/>
          <a:ln/>
        </p:spPr>
        <p:txBody>
          <a:bodyPr wrap="square" lIns="0" tIns="0" rIns="0" bIns="0" rtlCol="0" anchor="ctr"/>
          <a:lstStyle/>
          <a:p>
            <a:pPr algn="l" indent="0" marL="0">
              <a:buNone/>
            </a:pPr>
            <a:r>
              <a:rPr lang="en-US" sz="1250" b="1" spc="300" kern="0" dirty="0">
                <a:solidFill>
                  <a:srgbClr val="2DB7C3"/>
                </a:solidFill>
                <a:latin typeface="Montserrat" pitchFamily="34" charset="0"/>
                <a:ea typeface="Montserrat" pitchFamily="34" charset="-122"/>
                <a:cs typeface="Montserrat" pitchFamily="34" charset="-120"/>
              </a:rPr>
              <a:t>THE FIVE THINGS TO HOLD ONTO</a:t>
            </a:r>
            <a:endParaRPr lang="en-US" sz="1250" dirty="0"/>
          </a:p>
        </p:txBody>
      </p:sp>
      <p:sp>
        <p:nvSpPr>
          <p:cNvPr id="5" name="Text 3"/>
          <p:cNvSpPr/>
          <p:nvPr/>
        </p:nvSpPr>
        <p:spPr>
          <a:xfrm>
            <a:off x="566928" y="969264"/>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If you remember nothing else</a:t>
            </a:r>
            <a:endParaRPr lang="en-US" sz="3000" dirty="0"/>
          </a:p>
        </p:txBody>
      </p:sp>
      <p:sp>
        <p:nvSpPr>
          <p:cNvPr id="6" name="Shape 4"/>
          <p:cNvSpPr/>
          <p:nvPr/>
        </p:nvSpPr>
        <p:spPr>
          <a:xfrm>
            <a:off x="566928" y="2011680"/>
            <a:ext cx="457200" cy="457200"/>
          </a:xfrm>
          <a:prstGeom prst="ellipse">
            <a:avLst/>
          </a:prstGeom>
          <a:solidFill>
            <a:srgbClr val="14919B"/>
          </a:solidFill>
          <a:ln/>
        </p:spPr>
      </p:sp>
      <p:sp>
        <p:nvSpPr>
          <p:cNvPr id="7" name="Text 5"/>
          <p:cNvSpPr/>
          <p:nvPr/>
        </p:nvSpPr>
        <p:spPr>
          <a:xfrm>
            <a:off x="566928" y="2011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8" name="Text 6"/>
          <p:cNvSpPr/>
          <p:nvPr/>
        </p:nvSpPr>
        <p:spPr>
          <a:xfrm>
            <a:off x="1252728" y="1984248"/>
            <a:ext cx="10607040" cy="512064"/>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Montserrat" pitchFamily="34" charset="0"/>
                <a:ea typeface="Montserrat" pitchFamily="34" charset="-122"/>
                <a:cs typeface="Montserrat" pitchFamily="34" charset="-120"/>
              </a:rPr>
              <a:t>A curve is a callable, not a chart  </a:t>
            </a:r>
            <a:pPr indent="0" marL="0">
              <a:lnSpc>
                <a:spcPct val="105000"/>
              </a:lnSpc>
              <a:buNone/>
            </a:pPr>
            <a:r>
              <a:rPr lang="en-US" sz="1500" dirty="0">
                <a:solidFill>
                  <a:srgbClr val="C7D6E0"/>
                </a:solidFill>
                <a:latin typeface="Montserrat" pitchFamily="34" charset="0"/>
                <a:ea typeface="Montserrat" pitchFamily="34" charset="-122"/>
                <a:cs typeface="Montserrat" pitchFamily="34" charset="-120"/>
              </a:rPr>
              <a:t>— parameterized, provenance-carried, with a capability declaration.</a:t>
            </a:r>
            <a:endParaRPr lang="en-US" sz="1500" dirty="0"/>
          </a:p>
        </p:txBody>
      </p:sp>
      <p:sp>
        <p:nvSpPr>
          <p:cNvPr id="9" name="Shape 7"/>
          <p:cNvSpPr/>
          <p:nvPr/>
        </p:nvSpPr>
        <p:spPr>
          <a:xfrm>
            <a:off x="566928" y="2852928"/>
            <a:ext cx="457200" cy="457200"/>
          </a:xfrm>
          <a:prstGeom prst="ellipse">
            <a:avLst/>
          </a:prstGeom>
          <a:solidFill>
            <a:srgbClr val="14919B"/>
          </a:solidFill>
          <a:ln/>
        </p:spPr>
      </p:sp>
      <p:sp>
        <p:nvSpPr>
          <p:cNvPr id="10" name="Text 8"/>
          <p:cNvSpPr/>
          <p:nvPr/>
        </p:nvSpPr>
        <p:spPr>
          <a:xfrm>
            <a:off x="566928" y="2852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1" name="Text 9"/>
          <p:cNvSpPr/>
          <p:nvPr/>
        </p:nvSpPr>
        <p:spPr>
          <a:xfrm>
            <a:off x="1252728" y="2825496"/>
            <a:ext cx="10607040" cy="512064"/>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Montserrat" pitchFamily="34" charset="0"/>
                <a:ea typeface="Montserrat" pitchFamily="34" charset="-122"/>
                <a:cs typeface="Montserrat" pitchFamily="34" charset="-120"/>
              </a:rPr>
              <a:t>We model at the failure-unit  </a:t>
            </a:r>
            <a:pPr indent="0" marL="0">
              <a:lnSpc>
                <a:spcPct val="105000"/>
              </a:lnSpc>
              <a:buNone/>
            </a:pPr>
            <a:r>
              <a:rPr lang="en-US" sz="1500" dirty="0">
                <a:solidFill>
                  <a:srgbClr val="C7D6E0"/>
                </a:solidFill>
                <a:latin typeface="Montserrat" pitchFamily="34" charset="0"/>
                <a:ea typeface="Montserrat" pitchFamily="34" charset="-122"/>
                <a:cs typeface="Montserrat" pitchFamily="34" charset="-120"/>
              </a:rPr>
              <a:t>— then assemble by capex-weighted summation — sum, don't group.</a:t>
            </a:r>
            <a:endParaRPr lang="en-US" sz="1500" dirty="0"/>
          </a:p>
        </p:txBody>
      </p:sp>
      <p:sp>
        <p:nvSpPr>
          <p:cNvPr id="12" name="Shape 10"/>
          <p:cNvSpPr/>
          <p:nvPr/>
        </p:nvSpPr>
        <p:spPr>
          <a:xfrm>
            <a:off x="566928" y="3694176"/>
            <a:ext cx="457200" cy="457200"/>
          </a:xfrm>
          <a:prstGeom prst="ellipse">
            <a:avLst/>
          </a:prstGeom>
          <a:solidFill>
            <a:srgbClr val="14919B"/>
          </a:solidFill>
          <a:ln/>
        </p:spPr>
      </p:sp>
      <p:sp>
        <p:nvSpPr>
          <p:cNvPr id="13" name="Text 11"/>
          <p:cNvSpPr/>
          <p:nvPr/>
        </p:nvSpPr>
        <p:spPr>
          <a:xfrm>
            <a:off x="566928" y="36941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14" name="Text 12"/>
          <p:cNvSpPr/>
          <p:nvPr/>
        </p:nvSpPr>
        <p:spPr>
          <a:xfrm>
            <a:off x="1252728" y="3666744"/>
            <a:ext cx="10607040" cy="512064"/>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Montserrat" pitchFamily="34" charset="0"/>
                <a:ea typeface="Montserrat" pitchFamily="34" charset="-122"/>
                <a:cs typeface="Montserrat" pitchFamily="34" charset="-120"/>
              </a:rPr>
              <a:t>Build in strict order  </a:t>
            </a:r>
            <a:pPr indent="0" marL="0">
              <a:lnSpc>
                <a:spcPct val="105000"/>
              </a:lnSpc>
              <a:buNone/>
            </a:pPr>
            <a:r>
              <a:rPr lang="en-US" sz="1500" dirty="0">
                <a:solidFill>
                  <a:srgbClr val="C7D6E0"/>
                </a:solidFill>
                <a:latin typeface="Montserrat" pitchFamily="34" charset="0"/>
                <a:ea typeface="Montserrat" pitchFamily="34" charset="-122"/>
                <a:cs typeface="Montserrat" pitchFamily="34" charset="-120"/>
              </a:rPr>
              <a:t>— EVIDENCE → GRAIN → AXIS → FORM → ADJUSTMENTS → EMIT → SHIP.</a:t>
            </a:r>
            <a:endParaRPr lang="en-US" sz="1500" dirty="0"/>
          </a:p>
        </p:txBody>
      </p:sp>
      <p:sp>
        <p:nvSpPr>
          <p:cNvPr id="15" name="Shape 13"/>
          <p:cNvSpPr/>
          <p:nvPr/>
        </p:nvSpPr>
        <p:spPr>
          <a:xfrm>
            <a:off x="566928" y="4535424"/>
            <a:ext cx="457200" cy="457200"/>
          </a:xfrm>
          <a:prstGeom prst="ellipse">
            <a:avLst/>
          </a:prstGeom>
          <a:solidFill>
            <a:srgbClr val="14919B"/>
          </a:solidFill>
          <a:ln/>
        </p:spPr>
      </p:sp>
      <p:sp>
        <p:nvSpPr>
          <p:cNvPr id="16" name="Text 14"/>
          <p:cNvSpPr/>
          <p:nvPr/>
        </p:nvSpPr>
        <p:spPr>
          <a:xfrm>
            <a:off x="566928" y="45354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17" name="Text 15"/>
          <p:cNvSpPr/>
          <p:nvPr/>
        </p:nvSpPr>
        <p:spPr>
          <a:xfrm>
            <a:off x="1252728" y="4507992"/>
            <a:ext cx="10607040" cy="512064"/>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Montserrat" pitchFamily="34" charset="0"/>
                <a:ea typeface="Montserrat" pitchFamily="34" charset="-122"/>
                <a:cs typeface="Montserrat" pitchFamily="34" charset="-120"/>
              </a:rPr>
              <a:t>We declare; the consumer computes  </a:t>
            </a:r>
            <a:pPr indent="0" marL="0">
              <a:lnSpc>
                <a:spcPct val="105000"/>
              </a:lnSpc>
              <a:buNone/>
            </a:pPr>
            <a:r>
              <a:rPr lang="en-US" sz="1500" dirty="0">
                <a:solidFill>
                  <a:srgbClr val="C7D6E0"/>
                </a:solidFill>
                <a:latin typeface="Montserrat" pitchFamily="34" charset="0"/>
                <a:ea typeface="Montserrat" pitchFamily="34" charset="-122"/>
                <a:cs typeface="Montserrat" pitchFamily="34" charset="-120"/>
              </a:rPr>
              <a:t>— damage owns DR + capability; hazard owns EAL / PML / portfolio.</a:t>
            </a:r>
            <a:endParaRPr lang="en-US" sz="1500" dirty="0"/>
          </a:p>
        </p:txBody>
      </p:sp>
      <p:sp>
        <p:nvSpPr>
          <p:cNvPr id="18" name="Shape 16"/>
          <p:cNvSpPr/>
          <p:nvPr/>
        </p:nvSpPr>
        <p:spPr>
          <a:xfrm>
            <a:off x="566928" y="5376672"/>
            <a:ext cx="457200" cy="457200"/>
          </a:xfrm>
          <a:prstGeom prst="ellipse">
            <a:avLst/>
          </a:prstGeom>
          <a:solidFill>
            <a:srgbClr val="14919B"/>
          </a:solidFill>
          <a:ln/>
        </p:spPr>
      </p:sp>
      <p:sp>
        <p:nvSpPr>
          <p:cNvPr id="19" name="Text 17"/>
          <p:cNvSpPr/>
          <p:nvPr/>
        </p:nvSpPr>
        <p:spPr>
          <a:xfrm>
            <a:off x="566928" y="53766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20" name="Text 18"/>
          <p:cNvSpPr/>
          <p:nvPr/>
        </p:nvSpPr>
        <p:spPr>
          <a:xfrm>
            <a:off x="1252728" y="5349240"/>
            <a:ext cx="10607040" cy="512064"/>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Montserrat" pitchFamily="34" charset="0"/>
                <a:ea typeface="Montserrat" pitchFamily="34" charset="-122"/>
                <a:cs typeface="Montserrat" pitchFamily="34" charset="-120"/>
              </a:rPr>
              <a:t>Honesty is the feature  </a:t>
            </a:r>
            <a:pPr indent="0" marL="0">
              <a:lnSpc>
                <a:spcPct val="105000"/>
              </a:lnSpc>
              <a:buNone/>
            </a:pPr>
            <a:r>
              <a:rPr lang="en-US" sz="1500" dirty="0">
                <a:solidFill>
                  <a:srgbClr val="C7D6E0"/>
                </a:solidFill>
                <a:latin typeface="Montserrat" pitchFamily="34" charset="0"/>
                <a:ea typeface="Montserrat" pitchFamily="34" charset="-122"/>
                <a:cs typeface="Montserrat" pitchFamily="34" charset="-120"/>
              </a:rPr>
              <a:t>— weakest tier gates metrics; withhold, don't caveat; flag every open seam.</a:t>
            </a:r>
            <a:endParaRPr lang="en-US" sz="1500" dirty="0"/>
          </a:p>
        </p:txBody>
      </p:sp>
      <p:sp>
        <p:nvSpPr>
          <p:cNvPr id="21" name="Text 19"/>
          <p:cNvSpPr/>
          <p:nvPr/>
        </p:nvSpPr>
        <p:spPr>
          <a:xfrm>
            <a:off x="566928" y="6355080"/>
            <a:ext cx="10972800" cy="310896"/>
          </a:xfrm>
          <a:prstGeom prst="rect">
            <a:avLst/>
          </a:prstGeom>
          <a:noFill/>
          <a:ln/>
        </p:spPr>
        <p:txBody>
          <a:bodyPr wrap="square" lIns="0" tIns="0" rIns="0" bIns="0" rtlCol="0" anchor="ctr"/>
          <a:lstStyle/>
          <a:p>
            <a:pPr indent="0" marL="0">
              <a:buNone/>
            </a:pPr>
            <a:r>
              <a:rPr lang="en-US" sz="1050" i="1" dirty="0">
                <a:solidFill>
                  <a:srgbClr val="8FA6B5"/>
                </a:solidFill>
                <a:latin typeface="Consolas" pitchFamily="34" charset="0"/>
                <a:ea typeface="Consolas" pitchFamily="34" charset="-122"/>
                <a:cs typeface="Consolas" pitchFamily="34" charset="-120"/>
              </a:rPr>
              <a:t>Read next:  SCOPE_AND_STORY.md  ·  the build methodology doc  ·  the notebooks (hail/solar, flood/solar)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18</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E0A458"/>
                </a:solidFill>
                <a:latin typeface="Montserrat" pitchFamily="34" charset="0"/>
                <a:ea typeface="Montserrat" pitchFamily="34" charset="-122"/>
                <a:cs typeface="Montserrat" pitchFamily="34" charset="-120"/>
              </a:rPr>
              <a:t>APPENDIX A</a:t>
            </a:r>
            <a:endParaRPr lang="en-US" sz="1250" dirty="0"/>
          </a:p>
        </p:txBody>
      </p:sp>
      <p:sp>
        <p:nvSpPr>
          <p:cNvPr id="4" name="Text 2"/>
          <p:cNvSpPr/>
          <p:nvPr/>
        </p:nvSpPr>
        <p:spPr>
          <a:xfrm>
            <a:off x="566928" y="786384"/>
            <a:ext cx="11155680" cy="914400"/>
          </a:xfrm>
          <a:prstGeom prst="rect">
            <a:avLst/>
          </a:prstGeom>
          <a:noFill/>
          <a:ln/>
        </p:spPr>
        <p:txBody>
          <a:bodyPr wrap="square" lIns="0" tIns="0" rIns="0" bIns="0" rtlCol="0" anchor="t"/>
          <a:lstStyle/>
          <a:p>
            <a:pPr algn="l" indent="0" marL="0">
              <a:lnSpc>
                <a:spcPct val="98000"/>
              </a:lnSpc>
              <a:buNone/>
            </a:pPr>
            <a:r>
              <a:rPr lang="en-US" sz="2400" b="1" dirty="0">
                <a:solidFill>
                  <a:srgbClr val="0F2A43"/>
                </a:solidFill>
                <a:latin typeface="Montserrat" pitchFamily="34" charset="0"/>
                <a:ea typeface="Montserrat" pitchFamily="34" charset="-122"/>
                <a:cs typeface="Montserrat" pitchFamily="34" charset="-120"/>
              </a:rPr>
              <a:t>Evidence tiers — graded per claim, weakest gates the metric</a:t>
            </a:r>
            <a:endParaRPr lang="en-US" sz="2400" dirty="0"/>
          </a:p>
        </p:txBody>
      </p:sp>
      <p:sp>
        <p:nvSpPr>
          <p:cNvPr id="5" name="Shape 3"/>
          <p:cNvSpPr/>
          <p:nvPr/>
        </p:nvSpPr>
        <p:spPr>
          <a:xfrm>
            <a:off x="566928" y="1828800"/>
            <a:ext cx="11064240" cy="457200"/>
          </a:xfrm>
          <a:prstGeom prst="rect">
            <a:avLst/>
          </a:prstGeom>
          <a:solidFill>
            <a:srgbClr val="0F2A43"/>
          </a:solidFill>
          <a:ln/>
        </p:spPr>
      </p:sp>
      <p:sp>
        <p:nvSpPr>
          <p:cNvPr id="6" name="Text 4"/>
          <p:cNvSpPr/>
          <p:nvPr/>
        </p:nvSpPr>
        <p:spPr>
          <a:xfrm>
            <a:off x="694944" y="1828800"/>
            <a:ext cx="548640" cy="45720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Tier</a:t>
            </a:r>
            <a:endParaRPr lang="en-US" sz="1200" dirty="0"/>
          </a:p>
        </p:txBody>
      </p:sp>
      <p:sp>
        <p:nvSpPr>
          <p:cNvPr id="7" name="Text 5"/>
          <p:cNvSpPr/>
          <p:nvPr/>
        </p:nvSpPr>
        <p:spPr>
          <a:xfrm>
            <a:off x="1426464" y="1828800"/>
            <a:ext cx="1965960" cy="45720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Name</a:t>
            </a:r>
            <a:endParaRPr lang="en-US" sz="1200" dirty="0"/>
          </a:p>
        </p:txBody>
      </p:sp>
      <p:sp>
        <p:nvSpPr>
          <p:cNvPr id="8" name="Text 6"/>
          <p:cNvSpPr/>
          <p:nvPr/>
        </p:nvSpPr>
        <p:spPr>
          <a:xfrm>
            <a:off x="3575304" y="1828800"/>
            <a:ext cx="4434840" cy="45720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What it means</a:t>
            </a:r>
            <a:endParaRPr lang="en-US" sz="1200" dirty="0"/>
          </a:p>
        </p:txBody>
      </p:sp>
      <p:sp>
        <p:nvSpPr>
          <p:cNvPr id="9" name="Text 7"/>
          <p:cNvSpPr/>
          <p:nvPr/>
        </p:nvSpPr>
        <p:spPr>
          <a:xfrm>
            <a:off x="8193024" y="1828800"/>
            <a:ext cx="3383280" cy="45720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Examples</a:t>
            </a:r>
            <a:endParaRPr lang="en-US" sz="1200" dirty="0"/>
          </a:p>
        </p:txBody>
      </p:sp>
      <p:sp>
        <p:nvSpPr>
          <p:cNvPr id="10" name="Shape 8"/>
          <p:cNvSpPr/>
          <p:nvPr/>
        </p:nvSpPr>
        <p:spPr>
          <a:xfrm>
            <a:off x="566928" y="2286000"/>
            <a:ext cx="11064240" cy="804672"/>
          </a:xfrm>
          <a:prstGeom prst="rect">
            <a:avLst/>
          </a:prstGeom>
          <a:solidFill>
            <a:srgbClr val="F0F5F7"/>
          </a:solidFill>
          <a:ln w="6350">
            <a:solidFill>
              <a:srgbClr val="E2E8F0"/>
            </a:solidFill>
            <a:prstDash val="solid"/>
          </a:ln>
        </p:spPr>
      </p:sp>
      <p:sp>
        <p:nvSpPr>
          <p:cNvPr id="11" name="Text 9"/>
          <p:cNvSpPr/>
          <p:nvPr/>
        </p:nvSpPr>
        <p:spPr>
          <a:xfrm>
            <a:off x="566928" y="2286000"/>
            <a:ext cx="731520" cy="804672"/>
          </a:xfrm>
          <a:prstGeom prst="rect">
            <a:avLst/>
          </a:prstGeom>
          <a:noFill/>
          <a:ln/>
        </p:spPr>
        <p:txBody>
          <a:bodyPr wrap="square" lIns="0" tIns="0" rIns="0" bIns="0" rtlCol="0" anchor="ctr"/>
          <a:lstStyle/>
          <a:p>
            <a:pPr algn="ctr" indent="0" marL="0">
              <a:buNone/>
            </a:pPr>
            <a:r>
              <a:rPr lang="en-US" sz="1600" b="1" dirty="0">
                <a:solidFill>
                  <a:srgbClr val="0F2A43"/>
                </a:solidFill>
                <a:latin typeface="Montserrat" pitchFamily="34" charset="0"/>
                <a:ea typeface="Montserrat" pitchFamily="34" charset="-122"/>
                <a:cs typeface="Montserrat" pitchFamily="34" charset="-120"/>
              </a:rPr>
              <a:t>T1</a:t>
            </a:r>
            <a:endParaRPr lang="en-US" sz="1600" dirty="0"/>
          </a:p>
        </p:txBody>
      </p:sp>
      <p:sp>
        <p:nvSpPr>
          <p:cNvPr id="12" name="Text 10"/>
          <p:cNvSpPr/>
          <p:nvPr/>
        </p:nvSpPr>
        <p:spPr>
          <a:xfrm>
            <a:off x="1426464" y="2286000"/>
            <a:ext cx="1929384" cy="804672"/>
          </a:xfrm>
          <a:prstGeom prst="rect">
            <a:avLst/>
          </a:prstGeom>
          <a:noFill/>
          <a:ln/>
        </p:spPr>
        <p:txBody>
          <a:bodyPr wrap="square" lIns="0" tIns="0" rIns="0" bIns="0" rtlCol="0" anchor="ctr"/>
          <a:lstStyle/>
          <a:p>
            <a:pPr indent="0" marL="0">
              <a:lnSpc>
                <a:spcPct val="100000"/>
              </a:lnSpc>
              <a:buNone/>
            </a:pPr>
            <a:r>
              <a:rPr lang="en-US" sz="1250" b="1" dirty="0">
                <a:solidFill>
                  <a:srgbClr val="0F2A43"/>
                </a:solidFill>
                <a:latin typeface="Montserrat" pitchFamily="34" charset="0"/>
                <a:ea typeface="Montserrat" pitchFamily="34" charset="-122"/>
                <a:cs typeface="Montserrat" pitchFamily="34" charset="-120"/>
              </a:rPr>
              <a:t>Direct empirical</a:t>
            </a:r>
            <a:endParaRPr lang="en-US" sz="1250" dirty="0"/>
          </a:p>
        </p:txBody>
      </p:sp>
      <p:sp>
        <p:nvSpPr>
          <p:cNvPr id="13" name="Text 11"/>
          <p:cNvSpPr/>
          <p:nvPr/>
        </p:nvSpPr>
        <p:spPr>
          <a:xfrm>
            <a:off x="3575304" y="2286000"/>
            <a:ext cx="4379976" cy="804672"/>
          </a:xfrm>
          <a:prstGeom prst="rect">
            <a:avLst/>
          </a:prstGeom>
          <a:noFill/>
          <a:ln/>
        </p:spPr>
        <p:txBody>
          <a:bodyPr wrap="square" lIns="0" tIns="0" rIns="0" bIns="0" rtlCol="0" anchor="ctr"/>
          <a:lstStyle/>
          <a:p>
            <a:pPr indent="0" marL="0">
              <a:lnSpc>
                <a:spcPct val="108000"/>
              </a:lnSpc>
              <a:buNone/>
            </a:pPr>
            <a:r>
              <a:rPr lang="en-US" sz="1150" dirty="0">
                <a:solidFill>
                  <a:srgbClr val="1B2733"/>
                </a:solidFill>
                <a:latin typeface="Montserrat" pitchFamily="34" charset="0"/>
                <a:ea typeface="Montserrat" pitchFamily="34" charset="-122"/>
                <a:cs typeface="Montserrat" pitchFamily="34" charset="-120"/>
              </a:rPr>
              <a:t>Loss observed on the actual asset × hazard with intensity recorded</a:t>
            </a:r>
            <a:endParaRPr lang="en-US" sz="1150" dirty="0"/>
          </a:p>
        </p:txBody>
      </p:sp>
      <p:sp>
        <p:nvSpPr>
          <p:cNvPr id="14" name="Text 12"/>
          <p:cNvSpPr/>
          <p:nvPr/>
        </p:nvSpPr>
        <p:spPr>
          <a:xfrm>
            <a:off x="8193024" y="2286000"/>
            <a:ext cx="3328416" cy="804672"/>
          </a:xfrm>
          <a:prstGeom prst="rect">
            <a:avLst/>
          </a:prstGeom>
          <a:noFill/>
          <a:ln/>
        </p:spPr>
        <p:txBody>
          <a:bodyPr wrap="square" lIns="0" tIns="0" rIns="0" bIns="0" rtlCol="0" anchor="ctr"/>
          <a:lstStyle/>
          <a:p>
            <a:pPr indent="0" marL="0">
              <a:lnSpc>
                <a:spcPct val="108000"/>
              </a:lnSpc>
              <a:buNone/>
            </a:pPr>
            <a:r>
              <a:rPr lang="en-US" sz="1080" i="1" dirty="0">
                <a:solidFill>
                  <a:srgbClr val="5B7184"/>
                </a:solidFill>
                <a:latin typeface="Montserrat" pitchFamily="34" charset="0"/>
                <a:ea typeface="Montserrat" pitchFamily="34" charset="-122"/>
                <a:cs typeface="Montserrat" pitchFamily="34" charset="-120"/>
              </a:rPr>
              <a:t>attributed claims, field campaigns, realistic test stands</a:t>
            </a:r>
            <a:endParaRPr lang="en-US" sz="1080" dirty="0"/>
          </a:p>
        </p:txBody>
      </p:sp>
      <p:sp>
        <p:nvSpPr>
          <p:cNvPr id="15" name="Shape 13"/>
          <p:cNvSpPr/>
          <p:nvPr/>
        </p:nvSpPr>
        <p:spPr>
          <a:xfrm>
            <a:off x="566928" y="3090672"/>
            <a:ext cx="11064240" cy="804672"/>
          </a:xfrm>
          <a:prstGeom prst="rect">
            <a:avLst/>
          </a:prstGeom>
          <a:solidFill>
            <a:srgbClr val="FFFFFF"/>
          </a:solidFill>
          <a:ln w="6350">
            <a:solidFill>
              <a:srgbClr val="E2E8F0"/>
            </a:solidFill>
            <a:prstDash val="solid"/>
          </a:ln>
        </p:spPr>
      </p:sp>
      <p:sp>
        <p:nvSpPr>
          <p:cNvPr id="16" name="Text 14"/>
          <p:cNvSpPr/>
          <p:nvPr/>
        </p:nvSpPr>
        <p:spPr>
          <a:xfrm>
            <a:off x="566928" y="3090672"/>
            <a:ext cx="731520" cy="804672"/>
          </a:xfrm>
          <a:prstGeom prst="rect">
            <a:avLst/>
          </a:prstGeom>
          <a:noFill/>
          <a:ln/>
        </p:spPr>
        <p:txBody>
          <a:bodyPr wrap="square" lIns="0" tIns="0" rIns="0" bIns="0" rtlCol="0" anchor="ctr"/>
          <a:lstStyle/>
          <a:p>
            <a:pPr algn="ctr" indent="0" marL="0">
              <a:buNone/>
            </a:pPr>
            <a:r>
              <a:rPr lang="en-US" sz="1600" b="1" dirty="0">
                <a:solidFill>
                  <a:srgbClr val="14919B"/>
                </a:solidFill>
                <a:latin typeface="Montserrat" pitchFamily="34" charset="0"/>
                <a:ea typeface="Montserrat" pitchFamily="34" charset="-122"/>
                <a:cs typeface="Montserrat" pitchFamily="34" charset="-120"/>
              </a:rPr>
              <a:t>T2</a:t>
            </a:r>
            <a:endParaRPr lang="en-US" sz="1600" dirty="0"/>
          </a:p>
        </p:txBody>
      </p:sp>
      <p:sp>
        <p:nvSpPr>
          <p:cNvPr id="17" name="Text 15"/>
          <p:cNvSpPr/>
          <p:nvPr/>
        </p:nvSpPr>
        <p:spPr>
          <a:xfrm>
            <a:off x="1426464" y="3090672"/>
            <a:ext cx="1929384" cy="804672"/>
          </a:xfrm>
          <a:prstGeom prst="rect">
            <a:avLst/>
          </a:prstGeom>
          <a:noFill/>
          <a:ln/>
        </p:spPr>
        <p:txBody>
          <a:bodyPr wrap="square" lIns="0" tIns="0" rIns="0" bIns="0" rtlCol="0" anchor="ctr"/>
          <a:lstStyle/>
          <a:p>
            <a:pPr indent="0" marL="0">
              <a:lnSpc>
                <a:spcPct val="100000"/>
              </a:lnSpc>
              <a:buNone/>
            </a:pPr>
            <a:r>
              <a:rPr lang="en-US" sz="1250" b="1" dirty="0">
                <a:solidFill>
                  <a:srgbClr val="0F2A43"/>
                </a:solidFill>
                <a:latin typeface="Montserrat" pitchFamily="34" charset="0"/>
                <a:ea typeface="Montserrat" pitchFamily="34" charset="-122"/>
                <a:cs typeface="Montserrat" pitchFamily="34" charset="-120"/>
              </a:rPr>
              <a:t>Engineering standards</a:t>
            </a:r>
            <a:endParaRPr lang="en-US" sz="1250" dirty="0"/>
          </a:p>
        </p:txBody>
      </p:sp>
      <p:sp>
        <p:nvSpPr>
          <p:cNvPr id="18" name="Text 16"/>
          <p:cNvSpPr/>
          <p:nvPr/>
        </p:nvSpPr>
        <p:spPr>
          <a:xfrm>
            <a:off x="3575304" y="3090672"/>
            <a:ext cx="4379976" cy="804672"/>
          </a:xfrm>
          <a:prstGeom prst="rect">
            <a:avLst/>
          </a:prstGeom>
          <a:noFill/>
          <a:ln/>
        </p:spPr>
        <p:txBody>
          <a:bodyPr wrap="square" lIns="0" tIns="0" rIns="0" bIns="0" rtlCol="0" anchor="ctr"/>
          <a:lstStyle/>
          <a:p>
            <a:pPr indent="0" marL="0">
              <a:lnSpc>
                <a:spcPct val="108000"/>
              </a:lnSpc>
              <a:buNone/>
            </a:pPr>
            <a:r>
              <a:rPr lang="en-US" sz="1150" dirty="0">
                <a:solidFill>
                  <a:srgbClr val="1B2733"/>
                </a:solidFill>
                <a:latin typeface="Montserrat" pitchFamily="34" charset="0"/>
                <a:ea typeface="Montserrat" pitchFamily="34" charset="-122"/>
                <a:cs typeface="Montserrat" pitchFamily="34" charset="-120"/>
              </a:rPr>
              <a:t>Consensus standards and lab tests</a:t>
            </a:r>
            <a:endParaRPr lang="en-US" sz="1150" dirty="0"/>
          </a:p>
        </p:txBody>
      </p:sp>
      <p:sp>
        <p:nvSpPr>
          <p:cNvPr id="19" name="Text 17"/>
          <p:cNvSpPr/>
          <p:nvPr/>
        </p:nvSpPr>
        <p:spPr>
          <a:xfrm>
            <a:off x="8193024" y="3090672"/>
            <a:ext cx="3328416" cy="804672"/>
          </a:xfrm>
          <a:prstGeom prst="rect">
            <a:avLst/>
          </a:prstGeom>
          <a:noFill/>
          <a:ln/>
        </p:spPr>
        <p:txBody>
          <a:bodyPr wrap="square" lIns="0" tIns="0" rIns="0" bIns="0" rtlCol="0" anchor="ctr"/>
          <a:lstStyle/>
          <a:p>
            <a:pPr indent="0" marL="0">
              <a:lnSpc>
                <a:spcPct val="108000"/>
              </a:lnSpc>
              <a:buNone/>
            </a:pPr>
            <a:r>
              <a:rPr lang="en-US" sz="1080" i="1" dirty="0">
                <a:solidFill>
                  <a:srgbClr val="5B7184"/>
                </a:solidFill>
                <a:latin typeface="Montserrat" pitchFamily="34" charset="0"/>
                <a:ea typeface="Montserrat" pitchFamily="34" charset="-122"/>
                <a:cs typeface="Montserrat" pitchFamily="34" charset="-120"/>
              </a:rPr>
              <a:t>IEC, IBHS, ASCE, HAZUS</a:t>
            </a:r>
            <a:endParaRPr lang="en-US" sz="1080" dirty="0"/>
          </a:p>
        </p:txBody>
      </p:sp>
      <p:sp>
        <p:nvSpPr>
          <p:cNvPr id="20" name="Shape 18"/>
          <p:cNvSpPr/>
          <p:nvPr/>
        </p:nvSpPr>
        <p:spPr>
          <a:xfrm>
            <a:off x="566928" y="3895344"/>
            <a:ext cx="11064240" cy="804672"/>
          </a:xfrm>
          <a:prstGeom prst="rect">
            <a:avLst/>
          </a:prstGeom>
          <a:solidFill>
            <a:srgbClr val="F0F5F7"/>
          </a:solidFill>
          <a:ln w="6350">
            <a:solidFill>
              <a:srgbClr val="E2E8F0"/>
            </a:solidFill>
            <a:prstDash val="solid"/>
          </a:ln>
        </p:spPr>
      </p:sp>
      <p:sp>
        <p:nvSpPr>
          <p:cNvPr id="21" name="Text 19"/>
          <p:cNvSpPr/>
          <p:nvPr/>
        </p:nvSpPr>
        <p:spPr>
          <a:xfrm>
            <a:off x="566928" y="3895344"/>
            <a:ext cx="731520" cy="804672"/>
          </a:xfrm>
          <a:prstGeom prst="rect">
            <a:avLst/>
          </a:prstGeom>
          <a:noFill/>
          <a:ln/>
        </p:spPr>
        <p:txBody>
          <a:bodyPr wrap="square" lIns="0" tIns="0" rIns="0" bIns="0" rtlCol="0" anchor="ctr"/>
          <a:lstStyle/>
          <a:p>
            <a:pPr algn="ctr" indent="0" marL="0">
              <a:buNone/>
            </a:pPr>
            <a:r>
              <a:rPr lang="en-US" sz="1600" b="1" dirty="0">
                <a:solidFill>
                  <a:srgbClr val="2DB7C3"/>
                </a:solidFill>
                <a:latin typeface="Montserrat" pitchFamily="34" charset="0"/>
                <a:ea typeface="Montserrat" pitchFamily="34" charset="-122"/>
                <a:cs typeface="Montserrat" pitchFamily="34" charset="-120"/>
              </a:rPr>
              <a:t>T3</a:t>
            </a:r>
            <a:endParaRPr lang="en-US" sz="1600" dirty="0"/>
          </a:p>
        </p:txBody>
      </p:sp>
      <p:sp>
        <p:nvSpPr>
          <p:cNvPr id="22" name="Text 20"/>
          <p:cNvSpPr/>
          <p:nvPr/>
        </p:nvSpPr>
        <p:spPr>
          <a:xfrm>
            <a:off x="1426464" y="3895344"/>
            <a:ext cx="1929384" cy="804672"/>
          </a:xfrm>
          <a:prstGeom prst="rect">
            <a:avLst/>
          </a:prstGeom>
          <a:noFill/>
          <a:ln/>
        </p:spPr>
        <p:txBody>
          <a:bodyPr wrap="square" lIns="0" tIns="0" rIns="0" bIns="0" rtlCol="0" anchor="ctr"/>
          <a:lstStyle/>
          <a:p>
            <a:pPr indent="0" marL="0">
              <a:lnSpc>
                <a:spcPct val="100000"/>
              </a:lnSpc>
              <a:buNone/>
            </a:pPr>
            <a:r>
              <a:rPr lang="en-US" sz="1250" b="1" dirty="0">
                <a:solidFill>
                  <a:srgbClr val="0F2A43"/>
                </a:solidFill>
                <a:latin typeface="Montserrat" pitchFamily="34" charset="0"/>
                <a:ea typeface="Montserrat" pitchFamily="34" charset="-122"/>
                <a:cs typeface="Montserrat" pitchFamily="34" charset="-120"/>
              </a:rPr>
              <a:t>Inferred / proxy</a:t>
            </a:r>
            <a:endParaRPr lang="en-US" sz="1250" dirty="0"/>
          </a:p>
        </p:txBody>
      </p:sp>
      <p:sp>
        <p:nvSpPr>
          <p:cNvPr id="23" name="Text 21"/>
          <p:cNvSpPr/>
          <p:nvPr/>
        </p:nvSpPr>
        <p:spPr>
          <a:xfrm>
            <a:off x="3575304" y="3895344"/>
            <a:ext cx="4379976" cy="804672"/>
          </a:xfrm>
          <a:prstGeom prst="rect">
            <a:avLst/>
          </a:prstGeom>
          <a:noFill/>
          <a:ln/>
        </p:spPr>
        <p:txBody>
          <a:bodyPr wrap="square" lIns="0" tIns="0" rIns="0" bIns="0" rtlCol="0" anchor="ctr"/>
          <a:lstStyle/>
          <a:p>
            <a:pPr indent="0" marL="0">
              <a:lnSpc>
                <a:spcPct val="108000"/>
              </a:lnSpc>
              <a:buNone/>
            </a:pPr>
            <a:r>
              <a:rPr lang="en-US" sz="1150" dirty="0">
                <a:solidFill>
                  <a:srgbClr val="1B2733"/>
                </a:solidFill>
                <a:latin typeface="Montserrat" pitchFamily="34" charset="0"/>
                <a:ea typeface="Montserrat" pitchFamily="34" charset="-122"/>
                <a:cs typeface="Montserrat" pitchFamily="34" charset="-120"/>
              </a:rPr>
              <a:t>A related-but-not-identical asset, hazard, or scale</a:t>
            </a:r>
            <a:endParaRPr lang="en-US" sz="1150" dirty="0"/>
          </a:p>
        </p:txBody>
      </p:sp>
      <p:sp>
        <p:nvSpPr>
          <p:cNvPr id="24" name="Text 22"/>
          <p:cNvSpPr/>
          <p:nvPr/>
        </p:nvSpPr>
        <p:spPr>
          <a:xfrm>
            <a:off x="8193024" y="3895344"/>
            <a:ext cx="3328416" cy="804672"/>
          </a:xfrm>
          <a:prstGeom prst="rect">
            <a:avLst/>
          </a:prstGeom>
          <a:noFill/>
          <a:ln/>
        </p:spPr>
        <p:txBody>
          <a:bodyPr wrap="square" lIns="0" tIns="0" rIns="0" bIns="0" rtlCol="0" anchor="ctr"/>
          <a:lstStyle/>
          <a:p>
            <a:pPr indent="0" marL="0">
              <a:lnSpc>
                <a:spcPct val="108000"/>
              </a:lnSpc>
              <a:buNone/>
            </a:pPr>
            <a:r>
              <a:rPr lang="en-US" sz="1080" i="1" dirty="0">
                <a:solidFill>
                  <a:srgbClr val="5B7184"/>
                </a:solidFill>
                <a:latin typeface="Montserrat" pitchFamily="34" charset="0"/>
                <a:ea typeface="Montserrat" pitchFamily="34" charset="-122"/>
                <a:cs typeface="Montserrat" pitchFamily="34" charset="-120"/>
              </a:rPr>
              <a:t>coupon tests, cross-event transfer</a:t>
            </a:r>
            <a:endParaRPr lang="en-US" sz="1080" dirty="0"/>
          </a:p>
        </p:txBody>
      </p:sp>
      <p:sp>
        <p:nvSpPr>
          <p:cNvPr id="25" name="Shape 23"/>
          <p:cNvSpPr/>
          <p:nvPr/>
        </p:nvSpPr>
        <p:spPr>
          <a:xfrm>
            <a:off x="566928" y="4700016"/>
            <a:ext cx="11064240" cy="804672"/>
          </a:xfrm>
          <a:prstGeom prst="rect">
            <a:avLst/>
          </a:prstGeom>
          <a:solidFill>
            <a:srgbClr val="FFFFFF"/>
          </a:solidFill>
          <a:ln w="6350">
            <a:solidFill>
              <a:srgbClr val="E2E8F0"/>
            </a:solidFill>
            <a:prstDash val="solid"/>
          </a:ln>
        </p:spPr>
      </p:sp>
      <p:sp>
        <p:nvSpPr>
          <p:cNvPr id="26" name="Text 24"/>
          <p:cNvSpPr/>
          <p:nvPr/>
        </p:nvSpPr>
        <p:spPr>
          <a:xfrm>
            <a:off x="566928" y="4700016"/>
            <a:ext cx="731520" cy="804672"/>
          </a:xfrm>
          <a:prstGeom prst="rect">
            <a:avLst/>
          </a:prstGeom>
          <a:noFill/>
          <a:ln/>
        </p:spPr>
        <p:txBody>
          <a:bodyPr wrap="square" lIns="0" tIns="0" rIns="0" bIns="0" rtlCol="0" anchor="ctr"/>
          <a:lstStyle/>
          <a:p>
            <a:pPr algn="ctr" indent="0" marL="0">
              <a:buNone/>
            </a:pPr>
            <a:r>
              <a:rPr lang="en-US" sz="1600" b="1" dirty="0">
                <a:solidFill>
                  <a:srgbClr val="E0A458"/>
                </a:solidFill>
                <a:latin typeface="Montserrat" pitchFamily="34" charset="0"/>
                <a:ea typeface="Montserrat" pitchFamily="34" charset="-122"/>
                <a:cs typeface="Montserrat" pitchFamily="34" charset="-120"/>
              </a:rPr>
              <a:t>T4</a:t>
            </a:r>
            <a:endParaRPr lang="en-US" sz="1600" dirty="0"/>
          </a:p>
        </p:txBody>
      </p:sp>
      <p:sp>
        <p:nvSpPr>
          <p:cNvPr id="27" name="Text 25"/>
          <p:cNvSpPr/>
          <p:nvPr/>
        </p:nvSpPr>
        <p:spPr>
          <a:xfrm>
            <a:off x="1426464" y="4700016"/>
            <a:ext cx="1929384" cy="804672"/>
          </a:xfrm>
          <a:prstGeom prst="rect">
            <a:avLst/>
          </a:prstGeom>
          <a:noFill/>
          <a:ln/>
        </p:spPr>
        <p:txBody>
          <a:bodyPr wrap="square" lIns="0" tIns="0" rIns="0" bIns="0" rtlCol="0" anchor="ctr"/>
          <a:lstStyle/>
          <a:p>
            <a:pPr indent="0" marL="0">
              <a:lnSpc>
                <a:spcPct val="100000"/>
              </a:lnSpc>
              <a:buNone/>
            </a:pPr>
            <a:r>
              <a:rPr lang="en-US" sz="1250" b="1" dirty="0">
                <a:solidFill>
                  <a:srgbClr val="0F2A43"/>
                </a:solidFill>
                <a:latin typeface="Montserrat" pitchFamily="34" charset="0"/>
                <a:ea typeface="Montserrat" pitchFamily="34" charset="-122"/>
                <a:cs typeface="Montserrat" pitchFamily="34" charset="-120"/>
              </a:rPr>
              <a:t>Expert judgment</a:t>
            </a:r>
            <a:endParaRPr lang="en-US" sz="1250" dirty="0"/>
          </a:p>
        </p:txBody>
      </p:sp>
      <p:sp>
        <p:nvSpPr>
          <p:cNvPr id="28" name="Text 26"/>
          <p:cNvSpPr/>
          <p:nvPr/>
        </p:nvSpPr>
        <p:spPr>
          <a:xfrm>
            <a:off x="3575304" y="4700016"/>
            <a:ext cx="4379976" cy="804672"/>
          </a:xfrm>
          <a:prstGeom prst="rect">
            <a:avLst/>
          </a:prstGeom>
          <a:noFill/>
          <a:ln/>
        </p:spPr>
        <p:txBody>
          <a:bodyPr wrap="square" lIns="0" tIns="0" rIns="0" bIns="0" rtlCol="0" anchor="ctr"/>
          <a:lstStyle/>
          <a:p>
            <a:pPr indent="0" marL="0">
              <a:lnSpc>
                <a:spcPct val="108000"/>
              </a:lnSpc>
              <a:buNone/>
            </a:pPr>
            <a:r>
              <a:rPr lang="en-US" sz="1150" dirty="0">
                <a:solidFill>
                  <a:srgbClr val="1B2733"/>
                </a:solidFill>
                <a:latin typeface="Montserrat" pitchFamily="34" charset="0"/>
                <a:ea typeface="Montserrat" pitchFamily="34" charset="-122"/>
                <a:cs typeface="Montserrat" pitchFamily="34" charset="-120"/>
              </a:rPr>
              <a:t>Documented credentialed opinion or OEM notes that aren't test reports</a:t>
            </a:r>
            <a:endParaRPr lang="en-US" sz="1150" dirty="0"/>
          </a:p>
        </p:txBody>
      </p:sp>
      <p:sp>
        <p:nvSpPr>
          <p:cNvPr id="29" name="Text 27"/>
          <p:cNvSpPr/>
          <p:nvPr/>
        </p:nvSpPr>
        <p:spPr>
          <a:xfrm>
            <a:off x="8193024" y="4700016"/>
            <a:ext cx="3328416" cy="804672"/>
          </a:xfrm>
          <a:prstGeom prst="rect">
            <a:avLst/>
          </a:prstGeom>
          <a:noFill/>
          <a:ln/>
        </p:spPr>
        <p:txBody>
          <a:bodyPr wrap="square" lIns="0" tIns="0" rIns="0" bIns="0" rtlCol="0" anchor="ctr"/>
          <a:lstStyle/>
          <a:p>
            <a:pPr indent="0" marL="0">
              <a:lnSpc>
                <a:spcPct val="108000"/>
              </a:lnSpc>
              <a:buNone/>
            </a:pPr>
            <a:r>
              <a:rPr lang="en-US" sz="1080" i="1" dirty="0">
                <a:solidFill>
                  <a:srgbClr val="5B7184"/>
                </a:solidFill>
                <a:latin typeface="Montserrat" pitchFamily="34" charset="0"/>
                <a:ea typeface="Montserrat" pitchFamily="34" charset="-122"/>
                <a:cs typeface="Montserrat" pitchFamily="34" charset="-120"/>
              </a:rPr>
              <a:t>vendor engineering notes</a:t>
            </a:r>
            <a:endParaRPr lang="en-US" sz="1080" dirty="0"/>
          </a:p>
        </p:txBody>
      </p:sp>
      <p:sp>
        <p:nvSpPr>
          <p:cNvPr id="30" name="Text 28"/>
          <p:cNvSpPr/>
          <p:nvPr/>
        </p:nvSpPr>
        <p:spPr>
          <a:xfrm>
            <a:off x="566928" y="5614416"/>
            <a:ext cx="11064240" cy="384048"/>
          </a:xfrm>
          <a:prstGeom prst="rect">
            <a:avLst/>
          </a:prstGeom>
          <a:noFill/>
          <a:ln/>
        </p:spPr>
        <p:txBody>
          <a:bodyPr wrap="square" lIns="0" tIns="0" rIns="0" bIns="0" rtlCol="0" anchor="ctr"/>
          <a:lstStyle/>
          <a:p>
            <a:pPr indent="0" marL="0">
              <a:lnSpc>
                <a:spcPct val="105000"/>
              </a:lnSpc>
              <a:buNone/>
            </a:pPr>
            <a:r>
              <a:rPr lang="en-US" sz="1120" i="1" dirty="0">
                <a:solidFill>
                  <a:srgbClr val="5B7184"/>
                </a:solidFill>
                <a:latin typeface="Montserrat" pitchFamily="34" charset="0"/>
                <a:ea typeface="Montserrat" pitchFamily="34" charset="-122"/>
                <a:cs typeface="Montserrat" pitchFamily="34" charset="-120"/>
              </a:rPr>
              <a:t>A tier grades an artifact for the specific claim being made — not in the abstract. The same paper can be T1 for its own specimen and T3 transferred to another asset.</a:t>
            </a:r>
            <a:endParaRPr lang="en-US" sz="1120" dirty="0"/>
          </a:p>
        </p:txBody>
      </p:sp>
      <p:sp>
        <p:nvSpPr>
          <p:cNvPr id="31" name="Text 29"/>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32" name="Text 30"/>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damage_curve_evidence_reference.docx · §2.2 of build methodology</a:t>
            </a:r>
            <a:endParaRPr lang="en-US" sz="7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11323015" y="6437376"/>
            <a:ext cx="502920" cy="274320"/>
          </a:xfrm>
          <a:prstGeom prst="rect">
            <a:avLst/>
          </a:prstGeom>
          <a:noFill/>
          <a:ln/>
        </p:spPr>
        <p:txBody>
          <a:bodyPr wrap="square" lIns="0" tIns="0" rIns="0" bIns="0" rtlCol="0" anchor="ctr"/>
          <a:lstStyle/>
          <a:p>
            <a:pPr algn="r" indent="0" marL="0">
              <a:buNone/>
            </a:pPr>
            <a:r>
              <a:rPr lang="en-US" sz="950" dirty="0">
                <a:solidFill>
                  <a:srgbClr val="5B7184"/>
                </a:solidFill>
                <a:latin typeface="Montserrat" pitchFamily="34" charset="0"/>
                <a:ea typeface="Montserrat" pitchFamily="34" charset="-122"/>
                <a:cs typeface="Montserrat" pitchFamily="34" charset="-120"/>
              </a:rPr>
              <a:t>19</a:t>
            </a:r>
            <a:endParaRPr lang="en-US" sz="950" dirty="0"/>
          </a:p>
        </p:txBody>
      </p:sp>
      <p:sp>
        <p:nvSpPr>
          <p:cNvPr id="3" name="Text 1"/>
          <p:cNvSpPr/>
          <p:nvPr/>
        </p:nvSpPr>
        <p:spPr>
          <a:xfrm>
            <a:off x="566928" y="457200"/>
            <a:ext cx="7315200" cy="292608"/>
          </a:xfrm>
          <a:prstGeom prst="rect">
            <a:avLst/>
          </a:prstGeom>
          <a:noFill/>
          <a:ln/>
        </p:spPr>
        <p:txBody>
          <a:bodyPr wrap="square" lIns="0" tIns="0" rIns="0" bIns="0" rtlCol="0" anchor="ctr"/>
          <a:lstStyle/>
          <a:p>
            <a:pPr algn="l" indent="0" marL="0">
              <a:buNone/>
            </a:pPr>
            <a:r>
              <a:rPr lang="en-US" sz="1250" b="1" spc="300" kern="0" dirty="0">
                <a:solidFill>
                  <a:srgbClr val="E0A458"/>
                </a:solidFill>
                <a:latin typeface="Montserrat" pitchFamily="34" charset="0"/>
                <a:ea typeface="Montserrat" pitchFamily="34" charset="-122"/>
                <a:cs typeface="Montserrat" pitchFamily="34" charset="-120"/>
              </a:rPr>
              <a:t>APPENDIX C</a:t>
            </a:r>
            <a:endParaRPr lang="en-US" sz="1250" dirty="0"/>
          </a:p>
        </p:txBody>
      </p:sp>
      <p:sp>
        <p:nvSpPr>
          <p:cNvPr id="4" name="Text 2"/>
          <p:cNvSpPr/>
          <p:nvPr/>
        </p:nvSpPr>
        <p:spPr>
          <a:xfrm>
            <a:off x="566928" y="786384"/>
            <a:ext cx="11155680" cy="914400"/>
          </a:xfrm>
          <a:prstGeom prst="rect">
            <a:avLst/>
          </a:prstGeom>
          <a:noFill/>
          <a:ln/>
        </p:spPr>
        <p:txBody>
          <a:bodyPr wrap="square" lIns="0" tIns="0" rIns="0" bIns="0" rtlCol="0" anchor="t"/>
          <a:lstStyle/>
          <a:p>
            <a:pPr algn="l" indent="0" marL="0">
              <a:lnSpc>
                <a:spcPct val="98000"/>
              </a:lnSpc>
              <a:buNone/>
            </a:pPr>
            <a:r>
              <a:rPr lang="en-US" sz="2600" b="1" dirty="0">
                <a:solidFill>
                  <a:srgbClr val="0F2A43"/>
                </a:solidFill>
                <a:latin typeface="Montserrat" pitchFamily="34" charset="0"/>
                <a:ea typeface="Montserrat" pitchFamily="34" charset="-122"/>
                <a:cs typeface="Montserrat" pitchFamily="34" charset="-120"/>
              </a:rPr>
              <a:t>Glossary — the words this deck assumes</a:t>
            </a:r>
            <a:endParaRPr lang="en-US" sz="2600" dirty="0"/>
          </a:p>
        </p:txBody>
      </p:sp>
      <p:sp>
        <p:nvSpPr>
          <p:cNvPr id="5" name="Text 3"/>
          <p:cNvSpPr/>
          <p:nvPr/>
        </p:nvSpPr>
        <p:spPr>
          <a:xfrm>
            <a:off x="566928" y="182880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Damage curve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A callable: a parameterized function + capability declaration. Not a chart.</a:t>
            </a:r>
            <a:endParaRPr lang="en-US" sz="1200" dirty="0"/>
          </a:p>
        </p:txBody>
      </p:sp>
      <p:sp>
        <p:nvSpPr>
          <p:cNvPr id="6" name="Text 4"/>
          <p:cNvSpPr/>
          <p:nvPr/>
        </p:nvSpPr>
        <p:spPr>
          <a:xfrm>
            <a:off x="566928" y="265176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Failure-unit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The level a curve is written at — the damage-code atom (e.g. panel glass).</a:t>
            </a:r>
            <a:endParaRPr lang="en-US" sz="1200" dirty="0"/>
          </a:p>
        </p:txBody>
      </p:sp>
      <p:sp>
        <p:nvSpPr>
          <p:cNvPr id="7" name="Text 5"/>
          <p:cNvSpPr/>
          <p:nvPr/>
        </p:nvSpPr>
        <p:spPr>
          <a:xfrm>
            <a:off x="566928" y="347472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Cell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A (hazard × asset) pair; ships a family of curves, one per failure-unit.</a:t>
            </a:r>
            <a:endParaRPr lang="en-US" sz="1200" dirty="0"/>
          </a:p>
        </p:txBody>
      </p:sp>
      <p:sp>
        <p:nvSpPr>
          <p:cNvPr id="8" name="Text 6"/>
          <p:cNvSpPr/>
          <p:nvPr/>
        </p:nvSpPr>
        <p:spPr>
          <a:xfrm>
            <a:off x="566928" y="429768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Selector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Fixed asset attribute that picks a curve variant (bind-time).</a:t>
            </a:r>
            <a:endParaRPr lang="en-US" sz="1200" dirty="0"/>
          </a:p>
        </p:txBody>
      </p:sp>
      <p:sp>
        <p:nvSpPr>
          <p:cNvPr id="9" name="Text 7"/>
          <p:cNvSpPr/>
          <p:nvPr/>
        </p:nvSpPr>
        <p:spPr>
          <a:xfrm>
            <a:off x="566928" y="512064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Conditioner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Event-time state that adjusts parameters (e.g. stow angle).</a:t>
            </a:r>
            <a:endParaRPr lang="en-US" sz="1200" dirty="0"/>
          </a:p>
        </p:txBody>
      </p:sp>
      <p:sp>
        <p:nvSpPr>
          <p:cNvPr id="10" name="Text 8"/>
          <p:cNvSpPr/>
          <p:nvPr/>
        </p:nvSpPr>
        <p:spPr>
          <a:xfrm>
            <a:off x="6281928" y="182880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Exposure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The value-share a failure-unit touches; scales DR into dollars.</a:t>
            </a:r>
            <a:endParaRPr lang="en-US" sz="1200" dirty="0"/>
          </a:p>
        </p:txBody>
      </p:sp>
      <p:sp>
        <p:nvSpPr>
          <p:cNvPr id="11" name="Text 9"/>
          <p:cNvSpPr/>
          <p:nvPr/>
        </p:nvSpPr>
        <p:spPr>
          <a:xfrm>
            <a:off x="6281928" y="265176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Emit object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What the curve returns per event: scalar, mean+spread, state, or distribution.</a:t>
            </a:r>
            <a:endParaRPr lang="en-US" sz="1200" dirty="0"/>
          </a:p>
        </p:txBody>
      </p:sp>
      <p:sp>
        <p:nvSpPr>
          <p:cNvPr id="12" name="Text 10"/>
          <p:cNvSpPr/>
          <p:nvPr/>
        </p:nvSpPr>
        <p:spPr>
          <a:xfrm>
            <a:off x="6281928" y="347472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Capability declaration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Metadata saying which downstream metrics the curve honestly supports.</a:t>
            </a:r>
            <a:endParaRPr lang="en-US" sz="1200" dirty="0"/>
          </a:p>
        </p:txBody>
      </p:sp>
      <p:sp>
        <p:nvSpPr>
          <p:cNvPr id="13" name="Text 11"/>
          <p:cNvSpPr/>
          <p:nvPr/>
        </p:nvSpPr>
        <p:spPr>
          <a:xfrm>
            <a:off x="6281928" y="429768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Damage ratio (DR)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Repair cost ÷ replacement value, in [0, 1] — physical destruction only.</a:t>
            </a:r>
            <a:endParaRPr lang="en-US" sz="1200" dirty="0"/>
          </a:p>
        </p:txBody>
      </p:sp>
      <p:sp>
        <p:nvSpPr>
          <p:cNvPr id="14" name="Text 12"/>
          <p:cNvSpPr/>
          <p:nvPr/>
        </p:nvSpPr>
        <p:spPr>
          <a:xfrm>
            <a:off x="6281928" y="5120640"/>
            <a:ext cx="5349240" cy="786384"/>
          </a:xfrm>
          <a:prstGeom prst="rect">
            <a:avLst/>
          </a:prstGeom>
          <a:noFill/>
          <a:ln/>
        </p:spPr>
        <p:txBody>
          <a:bodyPr wrap="square" lIns="0" tIns="0" rIns="0" bIns="0" rtlCol="0" anchor="t"/>
          <a:lstStyle/>
          <a:p>
            <a:pPr indent="0" marL="0">
              <a:lnSpc>
                <a:spcPct val="108000"/>
              </a:lnSpc>
              <a:buNone/>
            </a:pPr>
            <a:r>
              <a:rPr lang="en-US" sz="1200" b="1" dirty="0">
                <a:solidFill>
                  <a:srgbClr val="0F2A43"/>
                </a:solidFill>
                <a:latin typeface="Montserrat" pitchFamily="34" charset="0"/>
                <a:ea typeface="Montserrat" pitchFamily="34" charset="-122"/>
                <a:cs typeface="Montserrat" pitchFamily="34" charset="-120"/>
              </a:rPr>
              <a:t>Cap-binding preflight
</a:t>
            </a:r>
            <a:endParaRPr lang="en-US" sz="1200" dirty="0"/>
          </a:p>
          <a:p>
            <a:pPr indent="0" marL="0">
              <a:lnSpc>
                <a:spcPct val="108000"/>
              </a:lnSpc>
              <a:buNone/>
            </a:pPr>
            <a:r>
              <a:rPr lang="en-US" sz="1200" dirty="0">
                <a:solidFill>
                  <a:srgbClr val="1B2733"/>
                </a:solidFill>
                <a:latin typeface="Montserrat" pitchFamily="34" charset="0"/>
                <a:ea typeface="Montserrat" pitchFamily="34" charset="-122"/>
                <a:cs typeface="Montserrat" pitchFamily="34" charset="-120"/>
              </a:rPr>
              <a:t>The check that gates a scalar EAL: confirms the cap rarely binds.</a:t>
            </a:r>
            <a:endParaRPr lang="en-US" sz="1200" dirty="0"/>
          </a:p>
        </p:txBody>
      </p:sp>
      <p:sp>
        <p:nvSpPr>
          <p:cNvPr id="15" name="Text 13"/>
          <p:cNvSpPr/>
          <p:nvPr/>
        </p:nvSpPr>
        <p:spPr>
          <a:xfrm>
            <a:off x="566928" y="6437376"/>
            <a:ext cx="8686800" cy="274320"/>
          </a:xfrm>
          <a:prstGeom prst="rect">
            <a:avLst/>
          </a:prstGeom>
          <a:noFill/>
          <a:ln/>
        </p:spPr>
        <p:txBody>
          <a:bodyPr wrap="square" lIns="0" tIns="0" rIns="0" bIns="0" rtlCol="0" anchor="ctr"/>
          <a:lstStyle/>
          <a:p>
            <a:pPr algn="l" indent="0" marL="0">
              <a:buNone/>
            </a:pPr>
            <a:r>
              <a:rPr lang="en-US" sz="850" b="1" dirty="0">
                <a:solidFill>
                  <a:srgbClr val="14919B"/>
                </a:solidFill>
                <a:latin typeface="Montserrat" pitchFamily="34" charset="0"/>
                <a:ea typeface="Montserrat" pitchFamily="34" charset="-122"/>
                <a:cs typeface="Montserrat" pitchFamily="34" charset="-120"/>
              </a:rPr>
              <a:t>InfraSure</a:t>
            </a:r>
            <a:pPr algn="l" indent="0" marL="0">
              <a:buNone/>
            </a:pPr>
            <a:r>
              <a:rPr lang="en-US" sz="850" dirty="0">
                <a:solidFill>
                  <a:srgbClr val="5B7184"/>
                </a:solidFill>
                <a:latin typeface="Montserrat" pitchFamily="34" charset="0"/>
                <a:ea typeface="Montserrat" pitchFamily="34" charset="-122"/>
                <a:cs typeface="Montserrat" pitchFamily="34" charset="-120"/>
              </a:rPr>
              <a:t>  ·  Damage Modeling — From the Basics  ·  Internal</a:t>
            </a:r>
            <a:endParaRPr lang="en-US" sz="850" dirty="0"/>
          </a:p>
        </p:txBody>
      </p:sp>
      <p:sp>
        <p:nvSpPr>
          <p:cNvPr id="16" name="Text 14"/>
          <p:cNvSpPr/>
          <p:nvPr/>
        </p:nvSpPr>
        <p:spPr>
          <a:xfrm>
            <a:off x="566928" y="6611112"/>
            <a:ext cx="10058400" cy="201168"/>
          </a:xfrm>
          <a:prstGeom prst="rect">
            <a:avLst/>
          </a:prstGeom>
          <a:noFill/>
          <a:ln/>
        </p:spPr>
        <p:txBody>
          <a:bodyPr wrap="square" lIns="0" tIns="0" rIns="0" bIns="0" rtlCol="0" anchor="ctr"/>
          <a:lstStyle/>
          <a:p>
            <a:pPr algn="l" indent="0" marL="0">
              <a:buNone/>
            </a:pPr>
            <a:r>
              <a:rPr lang="en-US" sz="720" i="1" dirty="0">
                <a:solidFill>
                  <a:srgbClr val="5B7184"/>
                </a:solidFill>
                <a:latin typeface="Consolas" pitchFamily="34" charset="0"/>
                <a:ea typeface="Consolas" pitchFamily="34" charset="-122"/>
                <a:cs typeface="Consolas" pitchFamily="34" charset="-120"/>
              </a:rPr>
              <a:t>damage_modeling_terminology.docx</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Damage Modeling — From the Basics</dc:title>
  <dc:subject>PptxGenJS Presentation</dc:subject>
  <dc:creator>InfraSure</dc:creator>
  <cp:lastModifiedBy>InfraSure</cp:lastModifiedBy>
  <cp:revision>1</cp:revision>
  <dcterms:created xsi:type="dcterms:W3CDTF">2026-06-25T12:00:36Z</dcterms:created>
  <dcterms:modified xsi:type="dcterms:W3CDTF">2026-06-25T12:00:36Z</dcterms:modified>
</cp:coreProperties>
</file>