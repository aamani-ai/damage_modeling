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301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FA6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9326880" y="-1920240"/>
            <a:ext cx="5852160" cy="5852160"/>
          </a:xfrm>
          <a:prstGeom prst="ellipse">
            <a:avLst/>
          </a:prstGeom>
          <a:solidFill>
            <a:srgbClr val="1B3B57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3291840"/>
            <a:ext cx="4206240" cy="4206240"/>
          </a:xfrm>
          <a:prstGeom prst="ellipse">
            <a:avLst/>
          </a:prstGeom>
          <a:solidFill>
            <a:srgbClr val="15324B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515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B7C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· RISK PLATFORM · VALIDATION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1572768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Validate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66928" y="276148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B7C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 and results — two questions, and how we answer each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" y="361188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C7D6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 the method sound, and are the numbers right? How we validate across the platform — hazard and damage, the CONUS grid and per-asset dollars — including range validation where no competitor number exists.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66928" y="5120640"/>
            <a:ext cx="1236269" cy="420624"/>
          </a:xfrm>
          <a:prstGeom prst="roundRect">
            <a:avLst>
              <a:gd name="adj" fmla="val 50000"/>
            </a:avLst>
          </a:prstGeom>
          <a:solidFill>
            <a:srgbClr val="15324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5120640"/>
            <a:ext cx="12362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E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04365" y="5120640"/>
            <a:ext cx="899770" cy="420624"/>
          </a:xfrm>
          <a:prstGeom prst="roundRect">
            <a:avLst>
              <a:gd name="adj" fmla="val 50000"/>
            </a:avLst>
          </a:prstGeom>
          <a:solidFill>
            <a:srgbClr val="15324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04365" y="5120640"/>
            <a:ext cx="8997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E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5302" y="5120640"/>
            <a:ext cx="1236269" cy="420624"/>
          </a:xfrm>
          <a:prstGeom prst="roundRect">
            <a:avLst>
              <a:gd name="adj" fmla="val 50000"/>
            </a:avLst>
          </a:prstGeom>
          <a:solidFill>
            <a:srgbClr val="15324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5302" y="5120640"/>
            <a:ext cx="12362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E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hazard grid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42739" y="5120640"/>
            <a:ext cx="1236269" cy="420624"/>
          </a:xfrm>
          <a:prstGeom prst="roundRect">
            <a:avLst>
              <a:gd name="adj" fmla="val 50000"/>
            </a:avLst>
          </a:prstGeom>
          <a:solidFill>
            <a:srgbClr val="15324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2739" y="5120640"/>
            <a:ext cx="123626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E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per-asset $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0176" y="5120640"/>
            <a:ext cx="1656893" cy="420624"/>
          </a:xfrm>
          <a:prstGeom prst="roundRect">
            <a:avLst>
              <a:gd name="adj" fmla="val 50000"/>
            </a:avLst>
          </a:prstGeom>
          <a:solidFill>
            <a:srgbClr val="15324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0176" y="5120640"/>
            <a:ext cx="16568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E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range validation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6172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Internal — modeling &amp; leadership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301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VALIDATION, AT THE TOP LEVEL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questions — and they need different answers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5532120" cy="3840480"/>
          </a:xfrm>
          <a:prstGeom prst="roundRect">
            <a:avLst>
              <a:gd name="adj" fmla="val 2143"/>
            </a:avLst>
          </a:prstGeom>
          <a:solidFill>
            <a:srgbClr val="D7EEF1"/>
          </a:solidFill>
          <a:ln w="19050">
            <a:solidFill>
              <a:srgbClr val="14919B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231136"/>
            <a:ext cx="603504" cy="603504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2311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64208" y="22860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 THE METHOD SOUND?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7824" y="30632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 validation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77824" y="3657600"/>
            <a:ext cx="49103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 the approach itself defensible — the grain, the axis, the curve shape, the reasoning — and is every decision backed by a source? Answered per hazard × asset pair, in writing.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18504" y="1920240"/>
            <a:ext cx="5532120" cy="38404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29400" y="2231136"/>
            <a:ext cx="603504" cy="603504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2311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15784" y="22860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ARE THE NUMBERS RIGHT?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29400" y="30632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 validation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629400" y="3657600"/>
            <a:ext cx="49103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the actual outputs hold up — the hazard grid and the per-asset dollars? Checked against independent data, competitor outputs, and credible reference ranges. This is the heavier half.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</a:t>
            </a:r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How We Validate  ·  Internal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6928" y="66111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 taxonomy · data &amp; modeling framework sync 2026-06-25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301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WHOLE PICTURE ON ONE SLIDE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validation map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branches; results split by our two product outputs. This is the map for the rest of the deck.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5486400" cy="658368"/>
          </a:xfrm>
          <a:prstGeom prst="roundRect">
            <a:avLst>
              <a:gd name="adj" fmla="val 12500"/>
            </a:avLst>
          </a:prstGeom>
          <a:solidFill>
            <a:srgbClr val="D7EEF1"/>
          </a:solidFill>
          <a:ln w="17780">
            <a:solidFill>
              <a:srgbClr val="1491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01168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 VALIDATION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53912" y="2011680"/>
            <a:ext cx="5486400" cy="658368"/>
          </a:xfrm>
          <a:prstGeom prst="roundRect">
            <a:avLst>
              <a:gd name="adj" fmla="val 125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53912" y="201168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 VALIDATION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697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 the method sound?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53912" y="2697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are the numbers right?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108960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32369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Hazard methodology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5570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do per hazard × asset pair — 3 hazards built E2E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590288" y="3374136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E4F3EC"/>
          </a:solidFill>
          <a:ln/>
        </p:spPr>
      </p:sp>
      <p:sp>
        <p:nvSpPr>
          <p:cNvPr id="16" name="Text 14"/>
          <p:cNvSpPr/>
          <p:nvPr/>
        </p:nvSpPr>
        <p:spPr>
          <a:xfrm>
            <a:off x="4590288" y="3374136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E7D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built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66928" y="4041648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41696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Damage methodology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5528" y="44897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worked-reference docs — hail · flood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4590288" y="4306824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E4F3EC"/>
          </a:solidFill>
          <a:ln/>
        </p:spPr>
      </p:sp>
      <p:sp>
        <p:nvSpPr>
          <p:cNvPr id="21" name="Text 19"/>
          <p:cNvSpPr/>
          <p:nvPr/>
        </p:nvSpPr>
        <p:spPr>
          <a:xfrm>
            <a:off x="4590288" y="430682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E7D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built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66928" y="4974336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51023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Adaptation &amp; Resiliency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5528" y="542239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Phase-3 arc, within damage — turning the curve's knobs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590288" y="5239512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26" name="Text 24"/>
          <p:cNvSpPr/>
          <p:nvPr/>
        </p:nvSpPr>
        <p:spPr>
          <a:xfrm>
            <a:off x="4590288" y="523951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E0A4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coming soon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6153912" y="3108960"/>
            <a:ext cx="548640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14919B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82512" y="32552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Hazard results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82512" y="36301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CONUS corners-level grid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82512" y="3986784"/>
            <a:ext cx="5029200" cy="310896"/>
          </a:xfrm>
          <a:prstGeom prst="roundRect">
            <a:avLst>
              <a:gd name="adj" fmla="val 29412"/>
            </a:avLst>
          </a:prstGeom>
          <a:solidFill>
            <a:srgbClr val="F0F7F8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39867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QC + vs open-source &amp; competitor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53912" y="4572000"/>
            <a:ext cx="5486400" cy="131673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B5476B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82512" y="47183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results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82512" y="50932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per-asset dollars = hazard × damage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382512" y="5449824"/>
            <a:ext cx="5029200" cy="310896"/>
          </a:xfrm>
          <a:prstGeom prst="roundRect">
            <a:avLst>
              <a:gd name="adj" fmla="val 29412"/>
            </a:avLst>
          </a:prstGeom>
          <a:solidFill>
            <a:srgbClr val="F0F7F8"/>
          </a:solidFill>
          <a:ln/>
        </p:spPr>
      </p:sp>
      <p:sp>
        <p:nvSpPr>
          <p:cNvPr id="36" name="Text 34"/>
          <p:cNvSpPr/>
          <p:nvPr/>
        </p:nvSpPr>
        <p:spPr>
          <a:xfrm>
            <a:off x="6382512" y="54498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competitor, else range validation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6928" y="599846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 validation is the heavier half — and where range validation earns its place.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</a:t>
            </a:r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How We Validate  ·  Internal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66928" y="66111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 taxonomy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301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ARE VALIDATING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the two outputs come from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targets the two things we ship. Both are built from the same pipeline — hazard coupled with the damage curve.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33832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HAZARD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670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M0 → M1 → M2 → M3 → M4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68496" y="2697480"/>
            <a:ext cx="329184" cy="0"/>
          </a:xfrm>
          <a:prstGeom prst="line">
            <a:avLst/>
          </a:prstGeom>
          <a:noFill/>
          <a:ln w="31750">
            <a:solidFill>
              <a:srgbClr val="E0A45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34256" y="2148840"/>
            <a:ext cx="33832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17136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DB7C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DAMAGE CURVE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17136" y="2670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intensity → damage ratio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35824" y="2697480"/>
            <a:ext cx="329184" cy="0"/>
          </a:xfrm>
          <a:prstGeom prst="line">
            <a:avLst/>
          </a:prstGeom>
          <a:noFill/>
          <a:ln w="31750">
            <a:solidFill>
              <a:srgbClr val="E0A45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01584" y="2148840"/>
            <a:ext cx="3383280" cy="1097280"/>
          </a:xfrm>
          <a:prstGeom prst="roundRect">
            <a:avLst>
              <a:gd name="adj" fmla="val 75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84464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ASSET LOSS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84464" y="2670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E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per-asset loss distribution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3310128"/>
            <a:ext cx="0" cy="365760"/>
          </a:xfrm>
          <a:prstGeom prst="line">
            <a:avLst/>
          </a:prstGeom>
          <a:noFill/>
          <a:ln w="25400">
            <a:solidFill>
              <a:srgbClr val="5B718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3675888"/>
            <a:ext cx="6217920" cy="0"/>
          </a:xfrm>
          <a:prstGeom prst="line">
            <a:avLst/>
          </a:prstGeom>
          <a:noFill/>
          <a:ln w="25400">
            <a:solidFill>
              <a:srgbClr val="5B718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3675888"/>
            <a:ext cx="0" cy="256032"/>
          </a:xfrm>
          <a:prstGeom prst="line">
            <a:avLst/>
          </a:prstGeom>
          <a:noFill/>
          <a:ln w="25400">
            <a:solidFill>
              <a:srgbClr val="5B718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18320" y="3675888"/>
            <a:ext cx="0" cy="256032"/>
          </a:xfrm>
          <a:prstGeom prst="line">
            <a:avLst/>
          </a:prstGeom>
          <a:noFill/>
          <a:ln w="25400">
            <a:solidFill>
              <a:srgbClr val="5B718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66928" y="3977640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D7EEF1"/>
          </a:solidFill>
          <a:ln w="17780">
            <a:solidFill>
              <a:srgbClr val="14919B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1248" y="41330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 1 · Hazard grid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45262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3B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CONUS corners-level grid data — hazard intensity &amp; risk metrics per grid cell, nationwide.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" y="5349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validated as a grid product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53912" y="3977640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7780">
            <a:solidFill>
              <a:srgbClr val="B5476B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28232" y="41330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 2 · Per-asset financials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28232" y="45262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Per-asset detailed financial numbers — EAL / PML / return-period loss for a specific project.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28232" y="5349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547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validated as a dollar figure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</a:t>
            </a:r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How We Validate  ·  Internal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66928" y="66111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Hazard_modeling M0→M4 · damage_modeling damage_code()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301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BRANCH 1 · METHODOLOGY VALIDATION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layers: the generic method, then its implementation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 validation isn't one thing. There's the generic method — defined once, a pre-step done anyway — and the implementation: the actual step-by-step we run for a specific hazard × asset pair.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377440"/>
            <a:ext cx="50749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 1 · Generic methodology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9443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pre-step — defined once, applies to every pair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3346704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high-level M0 → M4 hazard framework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generic damage build method (the 7 stages)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general approach &amp; principles — not pair-specific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necessary, and done anyway — but not sufficient on its own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3931920"/>
            <a:ext cx="566928" cy="0"/>
          </a:xfrm>
          <a:prstGeom prst="line">
            <a:avLst/>
          </a:prstGeom>
          <a:noFill/>
          <a:ln w="38100">
            <a:solidFill>
              <a:srgbClr val="E0A45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532120" y="36118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applied to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55080" y="2377440"/>
            <a:ext cx="5285232" cy="3200400"/>
          </a:xfrm>
          <a:prstGeom prst="roundRect">
            <a:avLst>
              <a:gd name="adj" fmla="val 2571"/>
            </a:avLst>
          </a:prstGeom>
          <a:solidFill>
            <a:srgbClr val="D7EEF1"/>
          </a:solidFill>
          <a:ln w="19050">
            <a:solidFill>
              <a:srgbClr val="14919B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 2 · Implementation methodology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29443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 hazard × asset pair — the actual step-by-step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3346704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exactly what we do for THIS pair: grain, axis, form, params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decision mapped to a source / evidence link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is what the worked-reference documents ARE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the method is really validated &amp; made auditable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Generic methodology is the pre-step we do before any pair; implementation methodology is the per-pair record this deck's worked-reference docs deliver.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</a:t>
            </a:r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How We Validate  ·  Internal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6928" y="66111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generic vs implementation methodology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301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BRANCH 1 · IMPLEMENTATION METHODOLOGY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coverage — per hazard × asset pair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worked-reference build per domain. Hazard and damage are in place; adaptation &amp; resiliency is next.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3529584" cy="3611880"/>
          </a:xfrm>
          <a:prstGeom prst="roundRect">
            <a:avLst>
              <a:gd name="adj" fmla="val 2332"/>
            </a:avLst>
          </a:prstGeom>
          <a:solidFill>
            <a:srgbClr val="D7EEF1"/>
          </a:solidFill>
          <a:ln w="17780">
            <a:solidFill>
              <a:srgbClr val="14919B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340864"/>
            <a:ext cx="3072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spc="100" kern="0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HAZARD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31012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4F3EC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101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built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858768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M0 → M4 per pair, 3 hazards built end-to-end (hail · wildfire · convective wind); catalog, coupling, intensity and metric choices — sourced.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34256" y="2148840"/>
            <a:ext cx="3529584" cy="3611880"/>
          </a:xfrm>
          <a:prstGeom prst="roundRect">
            <a:avLst>
              <a:gd name="adj" fmla="val 2332"/>
            </a:avLst>
          </a:prstGeom>
          <a:solidFill>
            <a:srgbClr val="E4F3EC"/>
          </a:solidFill>
          <a:ln w="17780">
            <a:solidFill>
              <a:srgbClr val="2E7D5B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90288" y="2340864"/>
            <a:ext cx="3072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spc="100" kern="0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DAMAGE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90288" y="265176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90288" y="331012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4F3EC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33101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built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90288" y="3858768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7-stage worked docs (hail · flood); every decision + the curve-shape choice referenced; caveats &amp; placeholders flagged with update triggers.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01584" y="2148840"/>
            <a:ext cx="3529584" cy="361188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57616" y="2340864"/>
            <a:ext cx="3072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spc="100" kern="0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ADAPTATION &amp; RESILIENCY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357616" y="290779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57616" y="331012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57616" y="33101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4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coming soon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57616" y="3858768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Within the damage arc (Phase 3): turning the curve's exposed knobs — stow, feather, hardening, elevation — and pricing the trade-off.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58704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Adaptation &amp; Resiliency sits within the damage methodology (it adjusts the curve rather than adding a new engine).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</a:t>
            </a:r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How We Validate  ·  Internal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6928" y="66111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Hail_Solar / Flood_Solar Worked Reference · Hazard_modeling notebooks · A&amp;R (Phase 3)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301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BRANCH 2 · RESULT VALIDATION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outputs, two kinds of validation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grid and the dollar figure fail in different ways, so they are checked differently.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057400"/>
            <a:ext cx="5486400" cy="3703320"/>
          </a:xfrm>
          <a:prstGeom prst="roundRect">
            <a:avLst>
              <a:gd name="adj" fmla="val 2222"/>
            </a:avLst>
          </a:prstGeom>
          <a:solidFill>
            <a:srgbClr val="D7EEF1"/>
          </a:solidFill>
          <a:ln w="17780">
            <a:solidFill>
              <a:srgbClr val="14919B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2311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1 · Hazard results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261518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CONUS grid — a hazard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3054096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quality-control + statistical checks on the grid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 spatial pattern vs open-source climatology / source products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 vs competitor hazard outputs where available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raw hazard layer — before dollars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53912" y="2057400"/>
            <a:ext cx="548640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7780">
            <a:solidFill>
              <a:srgbClr val="B5476B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22311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2 · Financial results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28232" y="26151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547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Per-asset dollars — hazard × damage combined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28232" y="3054096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number that actually matters to a client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 to a competitor number IF one exists at this granularity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usually none is available per-asset → range validation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combines both engines, so it validates them jointly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</a:t>
            </a:r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How We Validate  ·  Internal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66111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validation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301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1 · HAZARD RESULTS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Validating the grid — QC, then competitor comparison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moves: the grid must be internally sound (quality control), then it is compared to independent products on standard metrics.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5486400" cy="297180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286000"/>
            <a:ext cx="457200" cy="457200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35608" y="23042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Quality control &amp; statistical checks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29260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grid-join integrity — events/pixels hit the right cell</a:t>
            </a:r>
            <a:endParaRPr lang="en-US" sz="118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coverage — no-data is never treated as zero risk</a:t>
            </a:r>
            <a:endParaRPr lang="en-US" sz="118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plausibility vs climatology (external anchor)</a:t>
            </a:r>
            <a:endParaRPr lang="en-US" sz="118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point-vs-cell consistency with deep asset runs</a:t>
            </a:r>
            <a:endParaRPr lang="en-US" sz="1180" dirty="0"/>
          </a:p>
          <a:p>
            <a:pPr marL="152400" indent="-152400"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metric identity + tail caveats on sparse cells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841248" y="47365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six QC families → Appendix 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53912" y="2103120"/>
            <a:ext cx="5486400" cy="2971800"/>
          </a:xfrm>
          <a:prstGeom prst="roundRect">
            <a:avLst>
              <a:gd name="adj" fmla="val 2769"/>
            </a:avLst>
          </a:prstGeom>
          <a:solidFill>
            <a:srgbClr val="D7EEF1"/>
          </a:solidFill>
          <a:ln w="17780">
            <a:solidFill>
              <a:srgbClr val="14919B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2286000"/>
            <a:ext cx="457200" cy="45720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22592" y="23042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Competitor / similar-product comparison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28232" y="28895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3B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 the grid to open-source climatology and competitor hazard layers using standard metrics: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28232" y="3456432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spatial correlation vs source product</a:t>
            </a:r>
            <a:endParaRPr lang="en-US" sz="118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mean bias &amp; RMSE against independent estimates</a:t>
            </a:r>
            <a:endParaRPr lang="en-US" sz="118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 / FAR — hit rate &amp; false-alarm for event detection</a:t>
            </a:r>
            <a:endParaRPr lang="en-US" sz="1180" dirty="0"/>
          </a:p>
          <a:p>
            <a:pPr marL="152400" indent="-152400"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return-period / quantile agreement (1-in-T)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566928" y="52578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BF0DC"/>
          </a:solidFill>
          <a:ln w="19050">
            <a:solidFill>
              <a:srgbClr val="E0A458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86968" y="5257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A6B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PLACEHOLDER — Track 1 deep-dive coming.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6B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track will get its own detailed slides — per-hazard QC metrics, competitor-comparison plots, and standard-metric tables — to document Track 1 at the same depth as Track 2 (which follows). Held here intentionally so the structure is visible now.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</a:t>
            </a:r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How We Validate  ·  Internal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66111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Hazard_modeling docs/plans/hazard_conus_grid/common/validation.md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301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2 · FINANCIAL RESULTS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competitor number? Validate the range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per-asset dollar figure is the hard case: at this granularity a comparable competitor number rarely exists.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6510">
            <a:solidFill>
              <a:srgbClr val="0F2A43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95528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per-asset $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2697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EAL · PML · return-period loss for a specific project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" y="3566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3B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 there a competitor number at THIS granularity?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0" y="3200400"/>
            <a:ext cx="548640" cy="0"/>
          </a:xfrm>
          <a:prstGeom prst="line">
            <a:avLst/>
          </a:prstGeom>
          <a:noFill/>
          <a:ln w="31750">
            <a:solidFill>
              <a:srgbClr val="14919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09160" y="2651760"/>
            <a:ext cx="3108960" cy="1234440"/>
          </a:xfrm>
          <a:prstGeom prst="roundRect">
            <a:avLst>
              <a:gd name="adj" fmla="val 6667"/>
            </a:avLst>
          </a:prstGeom>
          <a:solidFill>
            <a:srgbClr val="D7EEF1"/>
          </a:solidFill>
          <a:ln w="15240">
            <a:solidFill>
              <a:srgbClr val="14919B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27980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YES — compare directly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B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rare per-asset; use it when it exists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4297680"/>
            <a:ext cx="548640" cy="0"/>
          </a:xfrm>
          <a:prstGeom prst="line">
            <a:avLst/>
          </a:prstGeom>
          <a:noFill/>
          <a:ln w="31750">
            <a:solidFill>
              <a:srgbClr val="B547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09160" y="411480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B5476B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42611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7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— range validation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46634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 the number lands inside a credible envelope of reference values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01000" y="4800600"/>
            <a:ext cx="457200" cy="0"/>
          </a:xfrm>
          <a:prstGeom prst="line">
            <a:avLst/>
          </a:prstGeom>
          <a:noFill/>
          <a:ln w="31750">
            <a:solidFill>
              <a:srgbClr val="B547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49640" y="2651760"/>
            <a:ext cx="3063240" cy="2834640"/>
          </a:xfrm>
          <a:prstGeom prst="roundRect">
            <a:avLst>
              <a:gd name="adj" fmla="val 2903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78240" y="2816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B7C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range, not a point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778240" y="324612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EE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there is no single “true” loss number for one asset-year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7EE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 numbers are gross/net- and basis-inconsistent</a:t>
            </a:r>
            <a:endParaRPr lang="en-US" sz="11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D7EE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defensible band is honest; a false-precision match is not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</a:t>
            </a:r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How We Validate  ·  Internal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66111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renewable_loss_benchmark_source_library v0.2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301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2 · THE METHOD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Range validation — a credible envelope, not a target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assemble renewable-specific reference numbers into an envelope, then check our output falls inside it. A renewable-first evidence hierarchy keeps generic property data from leading.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19456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340864"/>
            <a:ext cx="786384" cy="365760"/>
          </a:xfrm>
          <a:prstGeom prst="roundRect">
            <a:avLst>
              <a:gd name="adj" fmla="val 20000"/>
            </a:avLst>
          </a:prstGeom>
          <a:solidFill>
            <a:srgbClr val="0F2A43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340864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09928" y="219456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Renewable claims / loss databases with actual $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73568" y="21945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kWh, AXIS, GCube, Marsh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92608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072384"/>
            <a:ext cx="786384" cy="365760"/>
          </a:xfrm>
          <a:prstGeom prst="roundRect">
            <a:avLst>
              <a:gd name="adj" fmla="val 20000"/>
            </a:avLst>
          </a:prstGeom>
          <a:solidFill>
            <a:srgbClr val="14919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072384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09928" y="29260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Renewable-specific engineered PML / AAL / cat-model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73568" y="292608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VDE, Renew Risk, Moody's RMS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65760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803904"/>
            <a:ext cx="786384" cy="365760"/>
          </a:xfrm>
          <a:prstGeom prst="roundRect">
            <a:avLst>
              <a:gd name="adj" fmla="val 20000"/>
            </a:avLst>
          </a:prstGeom>
          <a:solidFill>
            <a:srgbClr val="2DB7C3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803904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09928" y="365760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Renewable event case studies &amp; forensic reports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973568" y="365760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Midway, Fighting Jays, J.S. Held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38912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4535424"/>
            <a:ext cx="786384" cy="365760"/>
          </a:xfrm>
          <a:prstGeom prst="roundRect">
            <a:avLst>
              <a:gd name="adj" fmla="val 20000"/>
            </a:avLst>
          </a:prstGeom>
          <a:solidFill>
            <a:srgbClr val="E0A458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535424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09928" y="438912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Renewable engineering studies w/ financial implications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973568" y="438912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DOE/FEMP, PVEL/Kiwa, RETC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512064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1F1F1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5266944"/>
            <a:ext cx="786384" cy="365760"/>
          </a:xfrm>
          <a:prstGeom prst="roundRect">
            <a:avLst>
              <a:gd name="adj" fmla="val 20000"/>
            </a:avLst>
          </a:prstGeom>
          <a:solidFill>
            <a:srgbClr val="5B7184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5266944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709928" y="512064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Generic public hazard/loss data — secondary context only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973568" y="51206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NOAA, FEMA NRI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Renewable-first: generic real-estate loss data never leads the benchmark unless no renewable path exists — and then the limit is stated.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</a:t>
            </a:r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How We Validate  ·  Internal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66928" y="66111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renewable_loss_reference_source_pathways.md §2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301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2 · BUILDING THE RANGE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one hands you a range — we reverse-engineer one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source publishes “US solar-hail loss is $X–$Y.” Reports give losses for a specific asset or asset type. We turn those into a comparable envelope using our own per-asset financial breakdowns.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94560"/>
            <a:ext cx="672084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432304"/>
            <a:ext cx="402336" cy="402336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432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16736" y="2304288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Collect what reports actually give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16736" y="2624328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per-asset / per-type event losses — $/MW, $/claim, event totals — never a national range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66928" y="3127248"/>
            <a:ext cx="672084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3364992"/>
            <a:ext cx="402336" cy="402336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16736" y="3236976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Classify the loss basis — orange to orange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16736" y="3557016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does “loss” mean here: physical damage, overall, or business interruption? strip to a like-for-like basis before comparing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66928" y="4059936"/>
            <a:ext cx="672084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4297680"/>
            <a:ext cx="402336" cy="402336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16736" y="4169664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Recast to a common denominator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16736" y="4489704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our per-asset financial breakdown (component × $ + capacity) → %TIV, % module value, implied DR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566928" y="4992624"/>
            <a:ext cx="672084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" y="5230368"/>
            <a:ext cx="402336" cy="402336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5230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16736" y="5102352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Assemble the envelope &amp; check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16736" y="5422392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normalized anchors define a credible band; confirm our per-asset output lands inside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7452360" y="2194560"/>
            <a:ext cx="4187952" cy="3712464"/>
          </a:xfrm>
          <a:prstGeom prst="roundRect">
            <a:avLst>
              <a:gd name="adj" fmla="val 2217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699248" y="23774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DB7C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engine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99248" y="26974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Per-asset financial breakdown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699248" y="3072384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6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7EE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every U.S. solar asset: capacity (MW) + a component-level dollar breakdown</a:t>
            </a:r>
            <a:endParaRPr lang="en-US" sz="1100" dirty="0"/>
          </a:p>
          <a:p>
            <a:pPr marL="152400" indent="-152400">
              <a:lnSpc>
                <a:spcPct val="116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7EE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yields value buckets: TIV · physical · module · module + fieldwork</a:t>
            </a:r>
            <a:endParaRPr lang="en-US" sz="1100" dirty="0"/>
          </a:p>
          <a:p>
            <a:pPr marL="152400" indent="-152400">
              <a:lnSpc>
                <a:spcPct val="116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D7EE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converts any raw $ number into %TIV and an implied damage ratio</a:t>
            </a:r>
            <a:endParaRPr lang="en-US" sz="1100" dirty="0"/>
          </a:p>
          <a:p>
            <a:pPr marL="152400" indent="-152400">
              <a:lnSpc>
                <a:spcPct val="116000"/>
              </a:lnSpc>
              <a:buSzPct val="100000"/>
              <a:buChar char="•"/>
            </a:pPr>
            <a:r>
              <a:rPr lang="en-US" sz="1100" dirty="0">
                <a:solidFill>
                  <a:srgbClr val="D7EE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breakdown that drives our output — so both sides share a denominator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</a:t>
            </a:r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How We Validate  ·  Internal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66928" y="66111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solar_hail_value_damage_crosswalk.md · per-asset value ledger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301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2 · WORKED EXAMPLE — SOLAR × HAIL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Does our number land in the credible range?</a:t>
            </a:r>
            <a:endParaRPr lang="en-US" sz="2600" dirty="0"/>
          </a:p>
        </p:txBody>
      </p:sp>
      <p:pic>
        <p:nvPicPr>
          <p:cNvPr id="5" name="Image 0" descr="/sessions/sharp-serene-hypatia/mnt/outputs/deck/img/range_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7315200" cy="297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617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Illustrative: a fixed-tilt, no-stow per-asset severity (≈27% of installed TIV) sits inside the envelope from AXIS's 5-yr claims. Normalizing to %TIV — not raw $ — is what makes it a like-for-like check.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92440" y="16459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Corroborating anchors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092440" y="2103120"/>
            <a:ext cx="3520440" cy="713232"/>
          </a:xfrm>
          <a:prstGeom prst="roundRect">
            <a:avLst>
              <a:gd name="adj" fmla="val 11538"/>
            </a:avLst>
          </a:prstGeom>
          <a:solidFill>
            <a:srgbClr val="F0F7F8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57032" y="210312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73%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464040" y="210312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hail = share of solar loss $ (kWh SRA 2025)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8092440" y="2889504"/>
            <a:ext cx="3520440" cy="713232"/>
          </a:xfrm>
          <a:prstGeom prst="roundRect">
            <a:avLst>
              <a:gd name="adj" fmla="val 11538"/>
            </a:avLst>
          </a:prstGeom>
          <a:solidFill>
            <a:srgbClr val="F0F7F8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57032" y="2889504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$58.4M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464040" y="2889504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hail claim; 54% of hail loss cost (GCube)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8092440" y="3675888"/>
            <a:ext cx="3520440" cy="713232"/>
          </a:xfrm>
          <a:prstGeom prst="roundRect">
            <a:avLst>
              <a:gd name="adj" fmla="val 11538"/>
            </a:avLst>
          </a:prstGeom>
          <a:solidFill>
            <a:srgbClr val="F0F7F8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57032" y="3675888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$70–80M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464040" y="3675888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Midway Solar event (178 MW, 2019)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8092440" y="4462272"/>
            <a:ext cx="3520440" cy="713232"/>
          </a:xfrm>
          <a:prstGeom prst="roundRect">
            <a:avLst>
              <a:gd name="adj" fmla="val 11538"/>
            </a:avLst>
          </a:prstGeom>
          <a:solidFill>
            <a:srgbClr val="F0F7F8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57032" y="4462272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$50M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464040" y="4462272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Fighting Jays hail sublimit (2024)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8092440" y="5248656"/>
            <a:ext cx="3520440" cy="713232"/>
          </a:xfrm>
          <a:prstGeom prst="roundRect">
            <a:avLst>
              <a:gd name="adj" fmla="val 11538"/>
            </a:avLst>
          </a:prstGeom>
          <a:solidFill>
            <a:srgbClr val="F0F7F8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57032" y="5248656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PML / AAL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464040" y="5248656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VDE engineered hail loss, per site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</a:t>
            </a:r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How We Validate  ·  Internal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66928" y="66111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benchmark_number_matrix_solar_hail · AXIS/GCube/kWh/VDE (see appendix)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301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2 · MAKING NUMBERS COMPARABLE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value / damage crosswalk — normalize before you compare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recast both sides onto our value buckets (from the per-asset breakdown), so a raw $/MW becomes a comparable %TIV and maps to the grain our curve actually damages.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539496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30428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value buckets  ($/MWdc · % TIV)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" y="2779776"/>
            <a:ext cx="4846320" cy="548640"/>
          </a:xfrm>
          <a:prstGeom prst="rect">
            <a:avLst/>
          </a:prstGeom>
          <a:solidFill>
            <a:srgbClr val="F0F5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77977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Installed TIV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3721608" y="2779776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$1.12M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81728" y="277977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" y="3328416"/>
            <a:ext cx="4846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32841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Physical replaceable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3721608" y="3328416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$878k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81728" y="33284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78%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" y="3877056"/>
            <a:ext cx="4846320" cy="548640"/>
          </a:xfrm>
          <a:prstGeom prst="rect">
            <a:avLst/>
          </a:prstGeom>
          <a:solidFill>
            <a:srgbClr val="F0F5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387705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hardware (M3 unit)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3721608" y="3877056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$291k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81728" y="38770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B7C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248" y="4425696"/>
            <a:ext cx="4846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442569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+ fieldwork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3721608" y="4425696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$398k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81728" y="442569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50657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hardware is the grain our M3 hail curve actually damages.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53912" y="2148840"/>
            <a:ext cx="5486400" cy="3657600"/>
          </a:xfrm>
          <a:prstGeom prst="roundRect">
            <a:avLst>
              <a:gd name="adj" fmla="val 2250"/>
            </a:avLst>
          </a:prstGeom>
          <a:solidFill>
            <a:srgbClr val="D7EEF1"/>
          </a:solidFill>
          <a:ln w="16510">
            <a:solidFill>
              <a:srgbClr val="14919B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28232" y="230428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AXIS severity, recast onto our buckets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28232" y="2779776"/>
            <a:ext cx="4937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277977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Successful stow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8211312" y="277977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$150k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079992" y="277977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13% TIV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10131552" y="277977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fits module bucket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6428232" y="3328416"/>
            <a:ext cx="4937760" cy="548640"/>
          </a:xfrm>
          <a:prstGeom prst="rect">
            <a:avLst/>
          </a:prstGeom>
          <a:solidFill>
            <a:srgbClr val="E7F4F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332841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Fixed-tilt</a:t>
            </a:r>
            <a:endParaRPr lang="en-US" sz="1130" dirty="0"/>
          </a:p>
        </p:txBody>
      </p:sp>
      <p:sp>
        <p:nvSpPr>
          <p:cNvPr id="34" name="Text 32"/>
          <p:cNvSpPr/>
          <p:nvPr/>
        </p:nvSpPr>
        <p:spPr>
          <a:xfrm>
            <a:off x="8211312" y="33284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$340k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079992" y="33284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30% TIV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10131552" y="33284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needs fieldwork / claim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6428232" y="3877056"/>
            <a:ext cx="4937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387705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Failed stow</a:t>
            </a:r>
            <a:endParaRPr lang="en-US" sz="1130" dirty="0"/>
          </a:p>
        </p:txBody>
      </p:sp>
      <p:sp>
        <p:nvSpPr>
          <p:cNvPr id="39" name="Text 37"/>
          <p:cNvSpPr/>
          <p:nvPr/>
        </p:nvSpPr>
        <p:spPr>
          <a:xfrm>
            <a:off x="8211312" y="387705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$380k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079992" y="387705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34% TIV</a:t>
            </a:r>
            <a:endParaRPr lang="en-US" sz="1130" dirty="0"/>
          </a:p>
        </p:txBody>
      </p:sp>
      <p:sp>
        <p:nvSpPr>
          <p:cNvPr id="41" name="Text 39"/>
          <p:cNvSpPr/>
          <p:nvPr/>
        </p:nvSpPr>
        <p:spPr>
          <a:xfrm>
            <a:off x="10131552" y="387705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needs fieldwork / claim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6428232" y="4572000"/>
            <a:ext cx="4937760" cy="841248"/>
          </a:xfrm>
          <a:prstGeom prst="roundRect">
            <a:avLst>
              <a:gd name="adj" fmla="val 10870"/>
            </a:avLst>
          </a:prstGeom>
          <a:solidFill>
            <a:srgbClr val="FBF0DC"/>
          </a:solidFill>
          <a:ln/>
        </p:spPr>
      </p:sp>
      <p:sp>
        <p:nvSpPr>
          <p:cNvPr id="43" name="Text 41"/>
          <p:cNvSpPr/>
          <p:nvPr/>
        </p:nvSpPr>
        <p:spPr>
          <a:xfrm>
            <a:off x="6565392" y="4572000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A6B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Gross claim $ above module value is not a curve error —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A6B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usually includes fieldwork / claim costs. Classify the loss basis first.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</a:t>
            </a:r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How We Validate  ·  Internal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66928" y="66111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02_crosswalks/solar_hail_value_damage_crosswalk.md §2–3</a:t>
            </a:r>
            <a:endParaRPr lang="en-US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301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2 · HONEST FRAMING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range validation is — and is not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486400" cy="3840480"/>
          </a:xfrm>
          <a:prstGeom prst="roundRect">
            <a:avLst>
              <a:gd name="adj" fmla="val 2143"/>
            </a:avLst>
          </a:prstGeom>
          <a:solidFill>
            <a:srgbClr val="D7EEF1"/>
          </a:solidFill>
          <a:ln w="16510">
            <a:solidFill>
              <a:srgbClr val="14919B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1396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578608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plausibility envelope — does the number sit where credible evidence says it should?</a:t>
            </a:r>
            <a:endParaRPr lang="en-US" sz="1300" dirty="0"/>
          </a:p>
          <a:p>
            <a:pPr marL="152400" indent="-1524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defense against silent 10× errors</a:t>
            </a:r>
            <a:endParaRPr lang="en-US" sz="1300" dirty="0"/>
          </a:p>
          <a:p>
            <a:pPr marL="152400" indent="-1524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basis-aware — normalized before comparison</a:t>
            </a:r>
            <a:endParaRPr lang="en-US" sz="130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honest about gross vs net, BI inclusion, portfolio bias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53912" y="1965960"/>
            <a:ext cx="5486400" cy="38404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28232" y="21396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47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is NOT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28232" y="2578608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calibration — it does not fit parameters to the references</a:t>
            </a:r>
            <a:endParaRPr lang="en-US" sz="1300" dirty="0"/>
          </a:p>
          <a:p>
            <a:pPr marL="152400" indent="-1524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pass/fail on a single “true” number</a:t>
            </a:r>
            <a:endParaRPr lang="en-US" sz="1300" dirty="0"/>
          </a:p>
          <a:p>
            <a:pPr marL="152400" indent="-1524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claim that competitor / commercial numbers are ground truth (most are gated &amp; portfolio-biased)</a:t>
            </a:r>
            <a:endParaRPr lang="en-US" sz="130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substitute for claims calibration once real loss data arrives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</a:t>
            </a:r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How We Validate  ·  Internal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6928" y="66111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renewable_loss_reference_source_pathways.md §0</a:t>
            </a:r>
            <a:endParaRPr lang="en-US" sz="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301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EACH PIECE STANDS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status &amp; roadmap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0116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Hazard methodology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315968" y="201168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per pair; 3 hazards built E2E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36608" y="2185416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4F3EC"/>
          </a:solidFill>
          <a:ln/>
        </p:spPr>
      </p:sp>
      <p:sp>
        <p:nvSpPr>
          <p:cNvPr id="9" name="Text 7"/>
          <p:cNvSpPr/>
          <p:nvPr/>
        </p:nvSpPr>
        <p:spPr>
          <a:xfrm>
            <a:off x="9436608" y="21854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74320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7432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Damage methodology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315968" y="27432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Worked-reference docs, hail &amp; flood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436608" y="2916936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4F3EC"/>
          </a:solidFill>
          <a:ln/>
        </p:spPr>
      </p:sp>
      <p:sp>
        <p:nvSpPr>
          <p:cNvPr id="14" name="Text 12"/>
          <p:cNvSpPr/>
          <p:nvPr/>
        </p:nvSpPr>
        <p:spPr>
          <a:xfrm>
            <a:off x="9436608" y="29169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47472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4747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Adaptation &amp; Resiliency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315968" y="347472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Within damage (Phase 3) — knobs &amp; trade-off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36608" y="3648456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19" name="Text 17"/>
          <p:cNvSpPr/>
          <p:nvPr/>
        </p:nvSpPr>
        <p:spPr>
          <a:xfrm>
            <a:off x="9436608" y="36484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A4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coming soon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420624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2062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Hazard results (Track 1)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315968" y="42062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QC in place; competitor-metric slides to add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36608" y="4379976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D7EEF1"/>
          </a:solidFill>
          <a:ln/>
        </p:spPr>
      </p:sp>
      <p:sp>
        <p:nvSpPr>
          <p:cNvPr id="24" name="Text 22"/>
          <p:cNvSpPr/>
          <p:nvPr/>
        </p:nvSpPr>
        <p:spPr>
          <a:xfrm>
            <a:off x="9436608" y="43799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place · deepening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" y="493776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9377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— range validation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315968" y="493776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library v0.2 built for solar × hail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436608" y="5111496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D7EEF1"/>
          </a:solidFill>
          <a:ln/>
        </p:spPr>
      </p:sp>
      <p:sp>
        <p:nvSpPr>
          <p:cNvPr id="29" name="Text 27"/>
          <p:cNvSpPr/>
          <p:nvPr/>
        </p:nvSpPr>
        <p:spPr>
          <a:xfrm>
            <a:off x="9436608" y="51114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v0.2 · expanding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6928" y="566928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56692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pairs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315968" y="566928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flood, strong wind, wildfire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436608" y="5843016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34" name="Text 32"/>
          <p:cNvSpPr/>
          <p:nvPr/>
        </p:nvSpPr>
        <p:spPr>
          <a:xfrm>
            <a:off x="9436608" y="58430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A4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queued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</a:t>
            </a:r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How We Validate  ·  Internal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66928" y="66111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 status · 2026</a:t>
            </a:r>
            <a:endParaRPr lang="en-US" sz="7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301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FA6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-1645920" y="3657600"/>
            <a:ext cx="5029200" cy="5029200"/>
          </a:xfrm>
          <a:prstGeom prst="ellipse">
            <a:avLst/>
          </a:prstGeom>
          <a:solidFill>
            <a:srgbClr val="1B3B57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400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B7C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TO HOLD ONTO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things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457200" cy="457200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52728" y="198424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questions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D6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is the method sound (methodology) and are the numbers right (results).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852928"/>
            <a:ext cx="457200" cy="457200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52728" y="2825496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split by output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D6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the CONUS hazard grid and the per-asset dollar figure are validated differently.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3694176"/>
            <a:ext cx="457200" cy="457200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52728" y="3666744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Hazard grid → comparison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D6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QC + climatology + competitor outputs, via six validation families.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4535424"/>
            <a:ext cx="457200" cy="457200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52728" y="4507992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→ range validation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D6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no per-asset competitor number, so we check a credible reference envelope.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5376672"/>
            <a:ext cx="457200" cy="457200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52728" y="5349240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Honesty is the point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D6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a defensible band beats false precision; every basis and caveat is named.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6928" y="63550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next:  the hail &amp; flood worked-reference docs  ·  hazard_conus_grid/validation.md  ·  renewable_loss_benchmark_source_library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301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A4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APPENDIX 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Hazard grid validation families — detail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1064240" cy="45720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Family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346704" y="1828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it checks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833104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Applies 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286000"/>
            <a:ext cx="11064240" cy="530352"/>
          </a:xfrm>
          <a:prstGeom prst="rect">
            <a:avLst/>
          </a:prstGeom>
          <a:solidFill>
            <a:srgbClr val="F0F5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28600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Grid join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46704" y="2286000"/>
            <a:ext cx="5266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pixels/events attach to the intended cell_id; no key drift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33104" y="22860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hazards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816352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8163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Coverage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46704" y="2816352"/>
            <a:ext cx="5266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no-data is not treated as zero risk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33104" y="281635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hazards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346704"/>
            <a:ext cx="11064240" cy="530352"/>
          </a:xfrm>
          <a:prstGeom prst="rect">
            <a:avLst/>
          </a:prstGeom>
          <a:solidFill>
            <a:srgbClr val="F0F5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334670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External anchor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46704" y="3346704"/>
            <a:ext cx="5266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broad spatial pattern agrees with independent climatology / source product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33104" y="334670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hazards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3877056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387705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Point-vs-cell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46704" y="3877056"/>
            <a:ext cx="5266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known assets/cells behave consistently with deep asset notebooks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33104" y="387705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hazards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407408"/>
            <a:ext cx="11064240" cy="530352"/>
          </a:xfrm>
          <a:prstGeom prst="rect">
            <a:avLst/>
          </a:prstGeom>
          <a:solidFill>
            <a:srgbClr val="F0F5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440740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Metric identity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46704" y="4407408"/>
            <a:ext cx="5266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PML_T = VaR_(1−1/T); AEP / OEP frames do not mix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33104" y="440740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layer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4937760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49377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Tail caveat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46704" y="4937760"/>
            <a:ext cx="5266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sparse / short-record cells and bootstrap-limited tails are flagged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33104" y="49377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layer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563270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Hail first-checks: MRMS severe-hail-day counts plausible; MESH marked radar-estimated (not ground truth); Storm Events agrees directionally; sparse cells flagged before fitting tails.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</a:t>
            </a:r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How We Validate  ·  Internal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6928" y="66111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Hazard_modeling docs/plans/hazard_conus_grid/common/validation.md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301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A4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APPENDIX B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Range-validation source tags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reference source is tagged so its role is explicit and it is never over-claimed.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3566160" cy="37947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2121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260604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HAS_OPEN_NUMBERS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" y="286207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usable public values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6384" y="335584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HAS_GATED_NUMBERS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6384" y="36118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behind report/API/paywall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6384" y="4105656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HAS_PATHWAY_ONLY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6384" y="436168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owner exists; needs outreach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6384" y="485546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GENERIC_ONLY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6384" y="5111496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renewable-specific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15968" y="1965960"/>
            <a:ext cx="3566160" cy="37947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35424" y="2121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Metric type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35424" y="260604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CLAIM_SEVERITY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35424" y="286207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$/claim or $/MW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35424" y="335584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PERCENT_TIV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35424" y="36118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 of insured/asset value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35424" y="4105656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AAL / PML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35424" y="436168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annual avg / return-period loss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35424" y="485546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EVENT_LOSS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35424" y="5111496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named-event amount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65008" y="1965960"/>
            <a:ext cx="3566160" cy="37947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sx="100000" sy="100000" kx="0" ky="0" algn="bl" rotWithShape="0" blurRad="114300" dist="38100" dir="5400000">
              <a:srgbClr val="0F2A43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84464" y="2121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Caveat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84464" y="260604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GROSS_VS_NET_UNKNOWN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84464" y="286207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loss basis unclear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84464" y="335584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BI_INCLUDED_UNKNOWN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84464" y="36118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downtime in/out?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84464" y="4105656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TIV_BASIS_UNKNOWN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84464" y="436168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which denominator?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84464" y="485546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PORTFOLIO_BIAS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84464" y="5111496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insurer's book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Evidence-use tags (PRIMARY_BENCHMARK_CANDIDATE · SECONDARY_BENCHMARK · CASE_STUDY_ONLY · MECHANISM_ONLY · DENOMINATOR_ONLY) decide whether a source can anchor a range or only support one.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</a:t>
            </a:r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How We Validate  ·  Internal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6928" y="66111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renewable_loss_reference_source_pathways.md §1</a:t>
            </a:r>
            <a:endParaRPr lang="en-US" sz="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301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A4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APPENDIX C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Solar × hail benchmark anchors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1064240" cy="45720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38144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Number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35824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564624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286000"/>
            <a:ext cx="11064240" cy="603504"/>
          </a:xfrm>
          <a:prstGeom prst="rect">
            <a:avLst/>
          </a:prstGeom>
          <a:solidFill>
            <a:srgbClr val="F0F5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28600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kWh SRA 2025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38144" y="2286000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hail = 73% of solar loss $ (6% of incidents)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735824" y="228600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CLAIM_SHARE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564624" y="228600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2889504"/>
            <a:ext cx="11064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88950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AXIS 2025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38144" y="2889504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55% of gross NatCat $; $150/340/380k/MW by stow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735824" y="288950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CLAIM_SEVERITY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564624" y="288950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493008"/>
            <a:ext cx="11064240" cy="603504"/>
          </a:xfrm>
          <a:prstGeom prst="rect">
            <a:avLst/>
          </a:prstGeom>
          <a:solidFill>
            <a:srgbClr val="F0F5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3493008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GCube (Hail No!)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38144" y="3493008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~$58.4M avg hail claim; 54% of hail cost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7735824" y="349300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CLAIM_SEVERITY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564624" y="349300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096512"/>
            <a:ext cx="11064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409651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Midway Solar 2019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438144" y="4096512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$70–80M event; ~400k modules; 178 MW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7735824" y="4096512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EVENT_LOSS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564624" y="409651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4700016"/>
            <a:ext cx="11064240" cy="603504"/>
          </a:xfrm>
          <a:prstGeom prst="rect">
            <a:avLst/>
          </a:prstGeom>
          <a:solidFill>
            <a:srgbClr val="F0F5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" y="4700016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Fighting Jays 2024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438144" y="4700016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$50M hail sublimit exceeded (350 MW)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7735824" y="4700016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DEDUCTIBLE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564624" y="470001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5303520"/>
            <a:ext cx="11064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" y="53035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VDE Hail Risk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438144" y="5303520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engineered PML / AAL, per site &amp; return period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7735824" y="530352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PML / AAL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564624" y="530352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" y="607161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source registry, links, and the benchmark-number matrix live in renewable_loss_benchmark_source_library_v0_2 (data/ + 01_pairs/solar_hail).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91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</a:t>
            </a:r>
            <a:pPr indent="0" marL="0">
              <a:buNone/>
            </a:pPr>
            <a:r>
              <a:rPr lang="en-US" sz="850" dirty="0">
                <a:solidFill>
                  <a:srgbClr val="5B718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How We Validate  ·  Internal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66928" y="66111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5B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01_pairs/solar_hail · source_registry_solar_hail.json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We Validate — Methodology &amp; Results</dc:title>
  <dc:subject>PptxGenJS Presentation</dc:subject>
  <dc:creator>InfraSure</dc:creator>
  <cp:lastModifiedBy>InfraSure</cp:lastModifiedBy>
  <cp:revision>1</cp:revision>
  <dcterms:created xsi:type="dcterms:W3CDTF">2026-07-02T12:07:24Z</dcterms:created>
  <dcterms:modified xsi:type="dcterms:W3CDTF">2026-07-02T12:07:24Z</dcterms:modified>
</cp:coreProperties>
</file>